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92"/>
    <p:restoredTop sz="94684"/>
  </p:normalViewPr>
  <p:slideViewPr>
    <p:cSldViewPr snapToGrid="0">
      <p:cViewPr>
        <p:scale>
          <a:sx n="128" d="100"/>
          <a:sy n="128" d="100"/>
        </p:scale>
        <p:origin x="14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ja-JP" b="1"/>
              <a:t>RGB画像ではなく、匿名化された姿勢座標だけを入力にする。</a:t>
            </a:r>
            <a:br>
              <a:rPr lang="ja-JP" altLang="ja-JP"/>
            </a:br>
            <a:r>
              <a:rPr lang="ja-JP" altLang="ja-JP"/>
              <a:t>Instead of RGB images, only anonymized pose coordinates are used as input.</a:t>
            </a:r>
            <a:endParaRPr lang="en-US" altLang="ja-JP" dirty="0"/>
          </a:p>
          <a:p>
            <a:r>
              <a:rPr lang="ja-JP" altLang="ja-JP" b="1"/>
              <a:t>通常行動と異常行動を早く見分けることが価値になる。</a:t>
            </a:r>
            <a:br>
              <a:rPr lang="ja-JP" altLang="ja-JP"/>
            </a:br>
            <a:r>
              <a:rPr lang="ja-JP" altLang="ja-JP"/>
              <a:t>Quickly distinguishing normal and abnormal behaviors can provide practical value.</a:t>
            </a:r>
            <a:endParaRPr lang="en-US" altLang="ja-JP" dirty="0"/>
          </a:p>
          <a:p>
            <a:r>
              <a:rPr lang="ja-JP" altLang="ja-JP" b="1"/>
              <a:t>学習にいない被験者でも動くモデルが必要。</a:t>
            </a:r>
            <a:br>
              <a:rPr lang="ja-JP" altLang="ja-JP"/>
            </a:br>
            <a:r>
              <a:rPr lang="ja-JP" altLang="ja-JP"/>
              <a:t>A model that works for subjects not included in training is required.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46" name="円/楕円 45">
            <a:extLst>
              <a:ext uri="{FF2B5EF4-FFF2-40B4-BE49-F238E27FC236}">
                <a16:creationId xmlns:a16="http://schemas.microsoft.com/office/drawing/2014/main" id="{6D78FB81-0862-4F0B-A6BE-94504EAD8197}"/>
              </a:ext>
            </a:extLst>
          </p:cNvPr>
          <p:cNvSpPr>
            <a:spLocks noGrp="1"/>
          </p:cNvSpPr>
          <p:nvPr/>
        </p:nvSpPr>
        <p:spPr>
          <a:xfrm>
            <a:off x="8096250" y="-762000"/>
            <a:ext cx="4381500" cy="4381500"/>
          </a:xfrm>
          <a:prstGeom prst="ellipse">
            <a:avLst/>
          </a:prstGeom>
          <a:solidFill>
            <a:srgbClr val="0E7490"/>
          </a:solidFill>
          <a:ln w="0">
            <a:noFill/>
            <a:prstDash val="solid"/>
          </a:ln>
        </p:spPr>
        <p:txBody>
          <a:bodyPr/>
          <a:lstStyle/>
          <a:p>
            <a:endParaRPr lang="ja-JP" altLang="en-US"/>
          </a:p>
        </p:txBody>
      </p:sp>
      <p:sp>
        <p:nvSpPr>
          <p:cNvPr id="2" name="円/楕円 1">
            <a:extLst>
              <a:ext uri="{FF2B5EF4-FFF2-40B4-BE49-F238E27FC236}">
                <a16:creationId xmlns:a16="http://schemas.microsoft.com/office/drawing/2014/main" id="{8B7C259A-0AD3-4559-97A6-C31259EF23A2}"/>
              </a:ext>
            </a:extLst>
          </p:cNvPr>
          <p:cNvSpPr>
            <a:spLocks noGrp="1"/>
          </p:cNvSpPr>
          <p:nvPr/>
        </p:nvSpPr>
        <p:spPr>
          <a:xfrm>
            <a:off x="8667750" y="2000250"/>
            <a:ext cx="2952750" cy="2952750"/>
          </a:xfrm>
          <a:prstGeom prst="ellipse">
            <a:avLst/>
          </a:prstGeom>
          <a:solidFill>
            <a:srgbClr val="7C2D12"/>
          </a:solidFill>
          <a:ln w="0">
            <a:noFill/>
            <a:prstDash val="solid"/>
          </a:ln>
        </p:spPr>
        <p:txBody>
          <a:bodyPr/>
          <a:lstStyle/>
          <a:p>
            <a:endParaRPr lang="ja-JP" altLang="en-US"/>
          </a:p>
        </p:txBody>
      </p:sp>
      <p:sp>
        <p:nvSpPr>
          <p:cNvPr id="3" name="正方形/長方形 2">
            <a:extLst>
              <a:ext uri="{FF2B5EF4-FFF2-40B4-BE49-F238E27FC236}">
                <a16:creationId xmlns:a16="http://schemas.microsoft.com/office/drawing/2014/main" id="{21C56AB7-5290-47CC-80E8-412F37DD1042}"/>
              </a:ext>
            </a:extLst>
          </p:cNvPr>
          <p:cNvSpPr>
            <a:spLocks noGrp="1"/>
          </p:cNvSpPr>
          <p:nvPr/>
        </p:nvSpPr>
        <p:spPr>
          <a:xfrm>
            <a:off x="609600" y="552450"/>
            <a:ext cx="4000500" cy="266700"/>
          </a:xfrm>
          <a:prstGeom prst="rect">
            <a:avLst/>
          </a:prstGeom>
          <a:noFill/>
          <a:ln w="0">
            <a:noFill/>
            <a:prstDash val="solid"/>
          </a:ln>
        </p:spPr>
        <p:txBody>
          <a:bodyPr/>
          <a:lstStyle/>
          <a:p>
            <a:pPr algn="l">
              <a:defRPr sz="975" b="1">
                <a:solidFill>
                  <a:srgbClr val="38BDF8"/>
                </a:solidFill>
                <a:latin typeface="Yu Gothic"/>
                <a:ea typeface="Yu Gothic"/>
                <a:cs typeface="Yu Gothic"/>
              </a:defRPr>
            </a:pPr>
            <a:r>
              <a:rPr sz="975" b="1">
                <a:solidFill>
                  <a:srgbClr val="38BDF8"/>
                </a:solidFill>
                <a:latin typeface="Yu Gothic"/>
                <a:ea typeface="Yu Gothic"/>
                <a:cs typeface="Yu Gothic"/>
              </a:rPr>
              <a:t>POSE-KEYPOINT RESEARCH</a:t>
            </a:r>
          </a:p>
        </p:txBody>
      </p:sp>
      <p:sp>
        <p:nvSpPr>
          <p:cNvPr id="4" name="正方形/長方形 3">
            <a:extLst>
              <a:ext uri="{FF2B5EF4-FFF2-40B4-BE49-F238E27FC236}">
                <a16:creationId xmlns:a16="http://schemas.microsoft.com/office/drawing/2014/main" id="{00ACE371-7B95-4DC8-B42A-BC91E473C276}"/>
              </a:ext>
            </a:extLst>
          </p:cNvPr>
          <p:cNvSpPr>
            <a:spLocks noGrp="1"/>
          </p:cNvSpPr>
          <p:nvPr/>
        </p:nvSpPr>
        <p:spPr>
          <a:xfrm>
            <a:off x="609600" y="1257300"/>
            <a:ext cx="7239000" cy="1409700"/>
          </a:xfrm>
          <a:prstGeom prst="rect">
            <a:avLst/>
          </a:prstGeom>
          <a:noFill/>
          <a:ln w="0">
            <a:noFill/>
            <a:prstDash val="solid"/>
          </a:ln>
        </p:spPr>
        <p:txBody>
          <a:bodyPr/>
          <a:lstStyle/>
          <a:p>
            <a:pPr algn="l">
              <a:defRPr sz="4350" b="1">
                <a:solidFill>
                  <a:srgbClr val="FFFFFF"/>
                </a:solidFill>
                <a:latin typeface="Yu Gothic"/>
                <a:ea typeface="Yu Gothic"/>
                <a:cs typeface="Yu Gothic"/>
              </a:defRPr>
            </a:pPr>
            <a:r>
              <a:rPr sz="4350" b="1">
                <a:solidFill>
                  <a:srgbClr val="FFFFFF"/>
                </a:solidFill>
                <a:latin typeface="Yu Gothic"/>
                <a:ea typeface="Yu Gothic"/>
                <a:cs typeface="Yu Gothic"/>
              </a:rPr>
              <a:t>姿勢キーポイントに基づく</a:t>
            </a:r>
          </a:p>
          <a:p>
            <a:pPr algn="l">
              <a:defRPr sz="4350" b="1">
                <a:solidFill>
                  <a:srgbClr val="FFFFFF"/>
                </a:solidFill>
                <a:latin typeface="Yu Gothic"/>
                <a:ea typeface="Yu Gothic"/>
                <a:cs typeface="Yu Gothic"/>
              </a:defRPr>
            </a:pPr>
            <a:r>
              <a:rPr sz="4350" b="1">
                <a:solidFill>
                  <a:srgbClr val="FFFFFF"/>
                </a:solidFill>
                <a:latin typeface="Yu Gothic"/>
                <a:ea typeface="Yu Gothic"/>
                <a:cs typeface="Yu Gothic"/>
              </a:rPr>
              <a:t>異常活動認識</a:t>
            </a:r>
          </a:p>
        </p:txBody>
      </p:sp>
      <p:sp>
        <p:nvSpPr>
          <p:cNvPr id="5" name="正方形/長方形 4">
            <a:extLst>
              <a:ext uri="{FF2B5EF4-FFF2-40B4-BE49-F238E27FC236}">
                <a16:creationId xmlns:a16="http://schemas.microsoft.com/office/drawing/2014/main" id="{1D68E0EC-C686-43AD-AB6A-56B9F76C4521}"/>
              </a:ext>
            </a:extLst>
          </p:cNvPr>
          <p:cNvSpPr>
            <a:spLocks noGrp="1"/>
          </p:cNvSpPr>
          <p:nvPr/>
        </p:nvSpPr>
        <p:spPr>
          <a:xfrm>
            <a:off x="647700" y="3028950"/>
            <a:ext cx="6896100" cy="609600"/>
          </a:xfrm>
          <a:prstGeom prst="rect">
            <a:avLst/>
          </a:prstGeom>
          <a:noFill/>
          <a:ln w="0">
            <a:noFill/>
            <a:prstDash val="solid"/>
          </a:ln>
        </p:spPr>
        <p:txBody>
          <a:bodyPr/>
          <a:lstStyle/>
          <a:p>
            <a:pPr algn="l">
              <a:defRPr sz="1650" b="0">
                <a:solidFill>
                  <a:srgbClr val="CBD5E1"/>
                </a:solidFill>
                <a:latin typeface="Yu Gothic"/>
                <a:ea typeface="Yu Gothic"/>
                <a:cs typeface="Yu Gothic"/>
              </a:defRPr>
            </a:pPr>
            <a:r>
              <a:rPr sz="1650" b="0">
                <a:solidFill>
                  <a:srgbClr val="CBD5E1"/>
                </a:solidFill>
                <a:latin typeface="Yu Gothic"/>
                <a:ea typeface="Yu Gothic"/>
                <a:cs typeface="Yu Gothic"/>
              </a:rPr>
              <a:t>匿名化された2次元姿勢系列から、8種類の活動分類と通常・異常判定を行うLOSO汎化モデル</a:t>
            </a:r>
          </a:p>
        </p:txBody>
      </p:sp>
      <p:sp>
        <p:nvSpPr>
          <p:cNvPr id="6" name="角丸四角形 5">
            <a:extLst>
              <a:ext uri="{FF2B5EF4-FFF2-40B4-BE49-F238E27FC236}">
                <a16:creationId xmlns:a16="http://schemas.microsoft.com/office/drawing/2014/main" id="{98D7A14A-3242-450C-9BCB-D67BFF1FA61A}"/>
              </a:ext>
            </a:extLst>
          </p:cNvPr>
          <p:cNvSpPr>
            <a:spLocks noGrp="1"/>
          </p:cNvSpPr>
          <p:nvPr/>
        </p:nvSpPr>
        <p:spPr>
          <a:xfrm>
            <a:off x="647700" y="4000500"/>
            <a:ext cx="1143000" cy="304800"/>
          </a:xfrm>
          <a:prstGeom prst="roundRect">
            <a:avLst>
              <a:gd name="adj" fmla="val 50000"/>
            </a:avLst>
          </a:prstGeom>
          <a:solidFill>
            <a:srgbClr val="0EA5E9"/>
          </a:solidFill>
          <a:ln w="0">
            <a:noFill/>
            <a:prstDash val="solid"/>
          </a:ln>
        </p:spPr>
        <p:txBody>
          <a:bodyPr/>
          <a:lstStyle/>
          <a:p>
            <a:endParaRPr lang="ja-JP" altLang="en-US"/>
          </a:p>
        </p:txBody>
      </p:sp>
      <p:sp>
        <p:nvSpPr>
          <p:cNvPr id="7" name="正方形/長方形 6">
            <a:extLst>
              <a:ext uri="{FF2B5EF4-FFF2-40B4-BE49-F238E27FC236}">
                <a16:creationId xmlns:a16="http://schemas.microsoft.com/office/drawing/2014/main" id="{95C9825E-B553-4874-AE5B-5F5EC4CB113E}"/>
              </a:ext>
            </a:extLst>
          </p:cNvPr>
          <p:cNvSpPr>
            <a:spLocks noGrp="1"/>
          </p:cNvSpPr>
          <p:nvPr/>
        </p:nvSpPr>
        <p:spPr>
          <a:xfrm>
            <a:off x="762000" y="4057650"/>
            <a:ext cx="914400" cy="190500"/>
          </a:xfrm>
          <a:prstGeom prst="rect">
            <a:avLst/>
          </a:prstGeom>
          <a:noFill/>
          <a:ln w="0">
            <a:noFill/>
            <a:prstDash val="solid"/>
          </a:ln>
        </p:spPr>
        <p:txBody>
          <a:bodyPr/>
          <a:lstStyle/>
          <a:p>
            <a:pPr algn="ctr">
              <a:defRPr sz="975" b="1">
                <a:solidFill>
                  <a:srgbClr val="FFFFFF"/>
                </a:solidFill>
                <a:latin typeface="Yu Gothic"/>
                <a:ea typeface="Yu Gothic"/>
                <a:cs typeface="Yu Gothic"/>
              </a:defRPr>
            </a:pPr>
            <a:r>
              <a:rPr sz="975" b="1">
                <a:solidFill>
                  <a:srgbClr val="FFFFFF"/>
                </a:solidFill>
                <a:latin typeface="Yu Gothic"/>
                <a:ea typeface="Yu Gothic"/>
                <a:cs typeface="Yu Gothic"/>
              </a:rPr>
              <a:t>17 joints</a:t>
            </a:r>
          </a:p>
        </p:txBody>
      </p:sp>
      <p:sp>
        <p:nvSpPr>
          <p:cNvPr id="8" name="角丸四角形 7">
            <a:extLst>
              <a:ext uri="{FF2B5EF4-FFF2-40B4-BE49-F238E27FC236}">
                <a16:creationId xmlns:a16="http://schemas.microsoft.com/office/drawing/2014/main" id="{11D2195E-A4A9-45CF-9F10-EB63ED5838ED}"/>
              </a:ext>
            </a:extLst>
          </p:cNvPr>
          <p:cNvSpPr>
            <a:spLocks noGrp="1"/>
          </p:cNvSpPr>
          <p:nvPr/>
        </p:nvSpPr>
        <p:spPr>
          <a:xfrm>
            <a:off x="1943100" y="4000500"/>
            <a:ext cx="1143000" cy="304800"/>
          </a:xfrm>
          <a:prstGeom prst="roundRect">
            <a:avLst>
              <a:gd name="adj" fmla="val 50000"/>
            </a:avLst>
          </a:prstGeom>
          <a:solidFill>
            <a:srgbClr val="F97316"/>
          </a:solidFill>
          <a:ln w="0">
            <a:noFill/>
            <a:prstDash val="solid"/>
          </a:ln>
        </p:spPr>
        <p:txBody>
          <a:bodyPr/>
          <a:lstStyle/>
          <a:p>
            <a:endParaRPr lang="ja-JP" altLang="en-US"/>
          </a:p>
        </p:txBody>
      </p:sp>
      <p:sp>
        <p:nvSpPr>
          <p:cNvPr id="9" name="正方形/長方形 8">
            <a:extLst>
              <a:ext uri="{FF2B5EF4-FFF2-40B4-BE49-F238E27FC236}">
                <a16:creationId xmlns:a16="http://schemas.microsoft.com/office/drawing/2014/main" id="{73ED5500-6203-4743-AF4B-20D973165420}"/>
              </a:ext>
            </a:extLst>
          </p:cNvPr>
          <p:cNvSpPr>
            <a:spLocks noGrp="1"/>
          </p:cNvSpPr>
          <p:nvPr/>
        </p:nvSpPr>
        <p:spPr>
          <a:xfrm>
            <a:off x="2057400" y="4057650"/>
            <a:ext cx="914400" cy="190500"/>
          </a:xfrm>
          <a:prstGeom prst="rect">
            <a:avLst/>
          </a:prstGeom>
          <a:noFill/>
          <a:ln w="0">
            <a:noFill/>
            <a:prstDash val="solid"/>
          </a:ln>
        </p:spPr>
        <p:txBody>
          <a:bodyPr/>
          <a:lstStyle/>
          <a:p>
            <a:pPr algn="ctr">
              <a:defRPr sz="975" b="1">
                <a:solidFill>
                  <a:srgbClr val="FFFFFF"/>
                </a:solidFill>
                <a:latin typeface="Yu Gothic"/>
                <a:ea typeface="Yu Gothic"/>
                <a:cs typeface="Yu Gothic"/>
              </a:defRPr>
            </a:pPr>
            <a:r>
              <a:rPr sz="975" b="1">
                <a:solidFill>
                  <a:srgbClr val="FFFFFF"/>
                </a:solidFill>
                <a:latin typeface="Yu Gothic"/>
                <a:ea typeface="Yu Gothic"/>
                <a:cs typeface="Yu Gothic"/>
              </a:rPr>
              <a:t>8 classes</a:t>
            </a:r>
          </a:p>
        </p:txBody>
      </p:sp>
      <p:sp>
        <p:nvSpPr>
          <p:cNvPr id="10" name="角丸四角形 9">
            <a:extLst>
              <a:ext uri="{FF2B5EF4-FFF2-40B4-BE49-F238E27FC236}">
                <a16:creationId xmlns:a16="http://schemas.microsoft.com/office/drawing/2014/main" id="{E68B4016-508C-43A8-99C2-A9A0B0CD1D6D}"/>
              </a:ext>
            </a:extLst>
          </p:cNvPr>
          <p:cNvSpPr>
            <a:spLocks noGrp="1"/>
          </p:cNvSpPr>
          <p:nvPr/>
        </p:nvSpPr>
        <p:spPr>
          <a:xfrm>
            <a:off x="3238500" y="4000500"/>
            <a:ext cx="990600" cy="304800"/>
          </a:xfrm>
          <a:prstGeom prst="roundRect">
            <a:avLst>
              <a:gd name="adj" fmla="val 50000"/>
            </a:avLst>
          </a:prstGeom>
          <a:solidFill>
            <a:srgbClr val="22C55E"/>
          </a:solidFill>
          <a:ln w="0">
            <a:noFill/>
            <a:prstDash val="solid"/>
          </a:ln>
        </p:spPr>
        <p:txBody>
          <a:bodyPr/>
          <a:lstStyle/>
          <a:p>
            <a:endParaRPr lang="ja-JP" altLang="en-US"/>
          </a:p>
        </p:txBody>
      </p:sp>
      <p:sp>
        <p:nvSpPr>
          <p:cNvPr id="11" name="正方形/長方形 10">
            <a:extLst>
              <a:ext uri="{FF2B5EF4-FFF2-40B4-BE49-F238E27FC236}">
                <a16:creationId xmlns:a16="http://schemas.microsoft.com/office/drawing/2014/main" id="{D51D3214-7D6A-43D6-8D3C-40A1AE2AA0CC}"/>
              </a:ext>
            </a:extLst>
          </p:cNvPr>
          <p:cNvSpPr>
            <a:spLocks noGrp="1"/>
          </p:cNvSpPr>
          <p:nvPr/>
        </p:nvSpPr>
        <p:spPr>
          <a:xfrm>
            <a:off x="3352800" y="4057650"/>
            <a:ext cx="762000" cy="190500"/>
          </a:xfrm>
          <a:prstGeom prst="rect">
            <a:avLst/>
          </a:prstGeom>
          <a:noFill/>
          <a:ln w="0">
            <a:noFill/>
            <a:prstDash val="solid"/>
          </a:ln>
        </p:spPr>
        <p:txBody>
          <a:bodyPr/>
          <a:lstStyle/>
          <a:p>
            <a:pPr algn="ctr">
              <a:defRPr sz="975" b="1">
                <a:solidFill>
                  <a:srgbClr val="0B1220"/>
                </a:solidFill>
                <a:latin typeface="Yu Gothic"/>
                <a:ea typeface="Yu Gothic"/>
                <a:cs typeface="Yu Gothic"/>
              </a:defRPr>
            </a:pPr>
            <a:r>
              <a:rPr sz="975" b="1">
                <a:solidFill>
                  <a:srgbClr val="0B1220"/>
                </a:solidFill>
                <a:latin typeface="Yu Gothic"/>
                <a:ea typeface="Yu Gothic"/>
                <a:cs typeface="Yu Gothic"/>
              </a:rPr>
              <a:t>LOSO</a:t>
            </a:r>
          </a:p>
        </p:txBody>
      </p:sp>
      <p:sp>
        <p:nvSpPr>
          <p:cNvPr id="12" name="角丸四角形 11">
            <a:extLst>
              <a:ext uri="{FF2B5EF4-FFF2-40B4-BE49-F238E27FC236}">
                <a16:creationId xmlns:a16="http://schemas.microsoft.com/office/drawing/2014/main" id="{9B5D884B-1C87-48EB-AB89-D67740A422F3}"/>
              </a:ext>
            </a:extLst>
          </p:cNvPr>
          <p:cNvSpPr>
            <a:spLocks noGrp="1"/>
          </p:cNvSpPr>
          <p:nvPr/>
        </p:nvSpPr>
        <p:spPr>
          <a:xfrm>
            <a:off x="4381500" y="4000500"/>
            <a:ext cx="1238250" cy="304800"/>
          </a:xfrm>
          <a:prstGeom prst="roundRect">
            <a:avLst>
              <a:gd name="adj" fmla="val 50000"/>
            </a:avLst>
          </a:prstGeom>
          <a:solidFill>
            <a:srgbClr val="334155"/>
          </a:solidFill>
          <a:ln w="0">
            <a:noFill/>
            <a:prstDash val="solid"/>
          </a:ln>
        </p:spPr>
        <p:txBody>
          <a:bodyPr/>
          <a:lstStyle/>
          <a:p>
            <a:endParaRPr lang="ja-JP" altLang="en-US"/>
          </a:p>
        </p:txBody>
      </p:sp>
      <p:sp>
        <p:nvSpPr>
          <p:cNvPr id="13" name="正方形/長方形 12">
            <a:extLst>
              <a:ext uri="{FF2B5EF4-FFF2-40B4-BE49-F238E27FC236}">
                <a16:creationId xmlns:a16="http://schemas.microsoft.com/office/drawing/2014/main" id="{50E16ED2-EC8D-4084-B23C-6DCD63E94AA4}"/>
              </a:ext>
            </a:extLst>
          </p:cNvPr>
          <p:cNvSpPr>
            <a:spLocks noGrp="1"/>
          </p:cNvSpPr>
          <p:nvPr/>
        </p:nvSpPr>
        <p:spPr>
          <a:xfrm>
            <a:off x="4495800" y="4057650"/>
            <a:ext cx="1009650" cy="190500"/>
          </a:xfrm>
          <a:prstGeom prst="rect">
            <a:avLst/>
          </a:prstGeom>
          <a:noFill/>
          <a:ln w="0">
            <a:noFill/>
            <a:prstDash val="solid"/>
          </a:ln>
        </p:spPr>
        <p:txBody>
          <a:bodyPr/>
          <a:lstStyle/>
          <a:p>
            <a:pPr algn="ctr">
              <a:defRPr sz="975" b="1">
                <a:solidFill>
                  <a:srgbClr val="FFFFFF"/>
                </a:solidFill>
                <a:latin typeface="Yu Gothic"/>
                <a:ea typeface="Yu Gothic"/>
                <a:cs typeface="Yu Gothic"/>
              </a:defRPr>
            </a:pPr>
            <a:r>
              <a:rPr sz="975" b="1">
                <a:solidFill>
                  <a:srgbClr val="FFFFFF"/>
                </a:solidFill>
                <a:latin typeface="Yu Gothic"/>
                <a:ea typeface="Yu Gothic"/>
                <a:cs typeface="Yu Gothic"/>
              </a:rPr>
              <a:t>pose only</a:t>
            </a:r>
          </a:p>
        </p:txBody>
      </p:sp>
      <p:sp>
        <p:nvSpPr>
          <p:cNvPr id="14" name="角丸四角形 13">
            <a:extLst>
              <a:ext uri="{FF2B5EF4-FFF2-40B4-BE49-F238E27FC236}">
                <a16:creationId xmlns:a16="http://schemas.microsoft.com/office/drawing/2014/main" id="{E8C5996B-1C3D-43F5-9B3C-AE9D60057940}"/>
              </a:ext>
            </a:extLst>
          </p:cNvPr>
          <p:cNvSpPr>
            <a:spLocks noGrp="1"/>
          </p:cNvSpPr>
          <p:nvPr/>
        </p:nvSpPr>
        <p:spPr>
          <a:xfrm>
            <a:off x="647700" y="4686300"/>
            <a:ext cx="2305050" cy="1200150"/>
          </a:xfrm>
          <a:prstGeom prst="roundRect">
            <a:avLst>
              <a:gd name="adj" fmla="val 12698"/>
            </a:avLst>
          </a:prstGeom>
          <a:solidFill>
            <a:srgbClr val="111827"/>
          </a:solidFill>
          <a:ln w="9525">
            <a:solidFill>
              <a:srgbClr val="334155"/>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15" name="正方形/長方形 14">
            <a:extLst>
              <a:ext uri="{FF2B5EF4-FFF2-40B4-BE49-F238E27FC236}">
                <a16:creationId xmlns:a16="http://schemas.microsoft.com/office/drawing/2014/main" id="{C66A2983-7CC3-4CDA-AFFD-B31C6727D41A}"/>
              </a:ext>
            </a:extLst>
          </p:cNvPr>
          <p:cNvSpPr>
            <a:spLocks noGrp="1"/>
          </p:cNvSpPr>
          <p:nvPr/>
        </p:nvSpPr>
        <p:spPr>
          <a:xfrm>
            <a:off x="838200" y="4857750"/>
            <a:ext cx="1924050" cy="228600"/>
          </a:xfrm>
          <a:prstGeom prst="rect">
            <a:avLst/>
          </a:prstGeom>
          <a:noFill/>
          <a:ln w="0">
            <a:noFill/>
            <a:prstDash val="solid"/>
          </a:ln>
        </p:spPr>
        <p:txBody>
          <a:bodyPr/>
          <a:lstStyle/>
          <a:p>
            <a:pPr algn="l">
              <a:defRPr sz="1050" b="1">
                <a:solidFill>
                  <a:srgbClr val="94A3B8"/>
                </a:solidFill>
                <a:latin typeface="Yu Gothic"/>
                <a:ea typeface="Yu Gothic"/>
                <a:cs typeface="Yu Gothic"/>
              </a:defRPr>
            </a:pPr>
            <a:r>
              <a:rPr sz="1050" b="1">
                <a:solidFill>
                  <a:srgbClr val="94A3B8"/>
                </a:solidFill>
                <a:latin typeface="Yu Gothic"/>
                <a:ea typeface="Yu Gothic"/>
                <a:cs typeface="Yu Gothic"/>
              </a:rPr>
              <a:t>Overall Accuracy</a:t>
            </a:r>
          </a:p>
        </p:txBody>
      </p:sp>
      <p:sp>
        <p:nvSpPr>
          <p:cNvPr id="16" name="正方形/長方形 15">
            <a:extLst>
              <a:ext uri="{FF2B5EF4-FFF2-40B4-BE49-F238E27FC236}">
                <a16:creationId xmlns:a16="http://schemas.microsoft.com/office/drawing/2014/main" id="{C6B20295-694C-4FA0-8E72-04480DA82201}"/>
              </a:ext>
            </a:extLst>
          </p:cNvPr>
          <p:cNvSpPr>
            <a:spLocks noGrp="1"/>
          </p:cNvSpPr>
          <p:nvPr/>
        </p:nvSpPr>
        <p:spPr>
          <a:xfrm>
            <a:off x="838200" y="5124450"/>
            <a:ext cx="1924050" cy="552450"/>
          </a:xfrm>
          <a:prstGeom prst="rect">
            <a:avLst/>
          </a:prstGeom>
          <a:noFill/>
          <a:ln w="0">
            <a:noFill/>
            <a:prstDash val="solid"/>
          </a:ln>
        </p:spPr>
        <p:txBody>
          <a:bodyPr/>
          <a:lstStyle/>
          <a:p>
            <a:pPr algn="l">
              <a:defRPr sz="3300" b="1">
                <a:solidFill>
                  <a:srgbClr val="38BDF8"/>
                </a:solidFill>
                <a:latin typeface="Aptos Display"/>
                <a:ea typeface="Aptos Display"/>
                <a:cs typeface="Aptos Display"/>
              </a:defRPr>
            </a:pPr>
            <a:r>
              <a:rPr sz="3300" b="1">
                <a:solidFill>
                  <a:srgbClr val="38BDF8"/>
                </a:solidFill>
                <a:latin typeface="Aptos Display"/>
                <a:ea typeface="Aptos Display"/>
                <a:cs typeface="Aptos Display"/>
              </a:rPr>
              <a:t>0.6295</a:t>
            </a:r>
          </a:p>
        </p:txBody>
      </p:sp>
      <p:sp>
        <p:nvSpPr>
          <p:cNvPr id="17" name="正方形/長方形 16">
            <a:extLst>
              <a:ext uri="{FF2B5EF4-FFF2-40B4-BE49-F238E27FC236}">
                <a16:creationId xmlns:a16="http://schemas.microsoft.com/office/drawing/2014/main" id="{4833973C-739C-4C9A-880B-7F65C4FE837D}"/>
              </a:ext>
            </a:extLst>
          </p:cNvPr>
          <p:cNvSpPr>
            <a:spLocks noGrp="1"/>
          </p:cNvSpPr>
          <p:nvPr/>
        </p:nvSpPr>
        <p:spPr>
          <a:xfrm>
            <a:off x="838200" y="5734050"/>
            <a:ext cx="1924050" cy="400050"/>
          </a:xfrm>
          <a:prstGeom prst="rect">
            <a:avLst/>
          </a:prstGeom>
          <a:noFill/>
          <a:ln w="0">
            <a:noFill/>
            <a:prstDash val="solid"/>
          </a:ln>
        </p:spPr>
        <p:txBody>
          <a:bodyPr/>
          <a:lstStyle/>
          <a:p>
            <a:pPr algn="l">
              <a:defRPr sz="1050" b="0">
                <a:solidFill>
                  <a:srgbClr val="CBD5E1"/>
                </a:solidFill>
                <a:latin typeface="Yu Gothic"/>
                <a:ea typeface="Yu Gothic"/>
                <a:cs typeface="Yu Gothic"/>
              </a:defRPr>
            </a:pPr>
            <a:r>
              <a:rPr sz="1050" b="0">
                <a:solidFill>
                  <a:srgbClr val="CBD5E1"/>
                </a:solidFill>
                <a:latin typeface="Yu Gothic"/>
                <a:ea typeface="Yu Gothic"/>
                <a:cs typeface="Yu Gothic"/>
              </a:rPr>
              <a:t>改善後の8クラス分類</a:t>
            </a:r>
          </a:p>
        </p:txBody>
      </p:sp>
      <p:sp>
        <p:nvSpPr>
          <p:cNvPr id="18" name="角丸四角形 17">
            <a:extLst>
              <a:ext uri="{FF2B5EF4-FFF2-40B4-BE49-F238E27FC236}">
                <a16:creationId xmlns:a16="http://schemas.microsoft.com/office/drawing/2014/main" id="{A51A7D16-49EC-4C55-8914-79299161A5B5}"/>
              </a:ext>
            </a:extLst>
          </p:cNvPr>
          <p:cNvSpPr>
            <a:spLocks noGrp="1"/>
          </p:cNvSpPr>
          <p:nvPr/>
        </p:nvSpPr>
        <p:spPr>
          <a:xfrm>
            <a:off x="3181350" y="4686300"/>
            <a:ext cx="2305050" cy="1200150"/>
          </a:xfrm>
          <a:prstGeom prst="roundRect">
            <a:avLst>
              <a:gd name="adj" fmla="val 12698"/>
            </a:avLst>
          </a:prstGeom>
          <a:solidFill>
            <a:srgbClr val="111827"/>
          </a:solidFill>
          <a:ln w="9525">
            <a:solidFill>
              <a:srgbClr val="334155"/>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19" name="正方形/長方形 18">
            <a:extLst>
              <a:ext uri="{FF2B5EF4-FFF2-40B4-BE49-F238E27FC236}">
                <a16:creationId xmlns:a16="http://schemas.microsoft.com/office/drawing/2014/main" id="{40FBFE76-0177-4C25-BD87-16FEDAD47D56}"/>
              </a:ext>
            </a:extLst>
          </p:cNvPr>
          <p:cNvSpPr>
            <a:spLocks noGrp="1"/>
          </p:cNvSpPr>
          <p:nvPr/>
        </p:nvSpPr>
        <p:spPr>
          <a:xfrm>
            <a:off x="3371850" y="4857750"/>
            <a:ext cx="1924050" cy="228600"/>
          </a:xfrm>
          <a:prstGeom prst="rect">
            <a:avLst/>
          </a:prstGeom>
          <a:noFill/>
          <a:ln w="0">
            <a:noFill/>
            <a:prstDash val="solid"/>
          </a:ln>
        </p:spPr>
        <p:txBody>
          <a:bodyPr/>
          <a:lstStyle/>
          <a:p>
            <a:pPr algn="l">
              <a:defRPr sz="1050" b="1">
                <a:solidFill>
                  <a:srgbClr val="94A3B8"/>
                </a:solidFill>
                <a:latin typeface="Yu Gothic"/>
                <a:ea typeface="Yu Gothic"/>
                <a:cs typeface="Yu Gothic"/>
              </a:defRPr>
            </a:pPr>
            <a:r>
              <a:rPr sz="1050" b="1">
                <a:solidFill>
                  <a:srgbClr val="94A3B8"/>
                </a:solidFill>
                <a:latin typeface="Yu Gothic"/>
                <a:ea typeface="Yu Gothic"/>
                <a:cs typeface="Yu Gothic"/>
              </a:rPr>
              <a:t>Abnormal F1</a:t>
            </a:r>
          </a:p>
        </p:txBody>
      </p:sp>
      <p:sp>
        <p:nvSpPr>
          <p:cNvPr id="20" name="正方形/長方形 19">
            <a:extLst>
              <a:ext uri="{FF2B5EF4-FFF2-40B4-BE49-F238E27FC236}">
                <a16:creationId xmlns:a16="http://schemas.microsoft.com/office/drawing/2014/main" id="{53E009BC-41E7-480F-9EF2-DACCD102AEF7}"/>
              </a:ext>
            </a:extLst>
          </p:cNvPr>
          <p:cNvSpPr>
            <a:spLocks noGrp="1"/>
          </p:cNvSpPr>
          <p:nvPr/>
        </p:nvSpPr>
        <p:spPr>
          <a:xfrm>
            <a:off x="3371850" y="5124450"/>
            <a:ext cx="1924050" cy="552450"/>
          </a:xfrm>
          <a:prstGeom prst="rect">
            <a:avLst/>
          </a:prstGeom>
          <a:noFill/>
          <a:ln w="0">
            <a:noFill/>
            <a:prstDash val="solid"/>
          </a:ln>
        </p:spPr>
        <p:txBody>
          <a:bodyPr/>
          <a:lstStyle/>
          <a:p>
            <a:pPr algn="l">
              <a:defRPr sz="3300" b="1">
                <a:solidFill>
                  <a:srgbClr val="F97316"/>
                </a:solidFill>
                <a:latin typeface="Aptos Display"/>
                <a:ea typeface="Aptos Display"/>
                <a:cs typeface="Aptos Display"/>
              </a:defRPr>
            </a:pPr>
            <a:r>
              <a:rPr sz="3300" b="1">
                <a:solidFill>
                  <a:srgbClr val="F97316"/>
                </a:solidFill>
                <a:latin typeface="Aptos Display"/>
                <a:ea typeface="Aptos Display"/>
                <a:cs typeface="Aptos Display"/>
              </a:rPr>
              <a:t>0.7574</a:t>
            </a:r>
          </a:p>
        </p:txBody>
      </p:sp>
      <p:sp>
        <p:nvSpPr>
          <p:cNvPr id="21" name="正方形/長方形 20">
            <a:extLst>
              <a:ext uri="{FF2B5EF4-FFF2-40B4-BE49-F238E27FC236}">
                <a16:creationId xmlns:a16="http://schemas.microsoft.com/office/drawing/2014/main" id="{892D8FB6-8EB8-4EEF-BF07-23C5FD43A9C5}"/>
              </a:ext>
            </a:extLst>
          </p:cNvPr>
          <p:cNvSpPr>
            <a:spLocks noGrp="1"/>
          </p:cNvSpPr>
          <p:nvPr/>
        </p:nvSpPr>
        <p:spPr>
          <a:xfrm>
            <a:off x="3371850" y="5734050"/>
            <a:ext cx="1924050" cy="400050"/>
          </a:xfrm>
          <a:prstGeom prst="rect">
            <a:avLst/>
          </a:prstGeom>
          <a:noFill/>
          <a:ln w="0">
            <a:noFill/>
            <a:prstDash val="solid"/>
          </a:ln>
        </p:spPr>
        <p:txBody>
          <a:bodyPr/>
          <a:lstStyle/>
          <a:p>
            <a:pPr algn="l">
              <a:defRPr sz="1050" b="0">
                <a:solidFill>
                  <a:srgbClr val="CBD5E1"/>
                </a:solidFill>
                <a:latin typeface="Yu Gothic"/>
                <a:ea typeface="Yu Gothic"/>
                <a:cs typeface="Yu Gothic"/>
              </a:defRPr>
            </a:pPr>
            <a:r>
              <a:rPr sz="1050" b="0">
                <a:solidFill>
                  <a:srgbClr val="CBD5E1"/>
                </a:solidFill>
                <a:latin typeface="Yu Gothic"/>
                <a:ea typeface="Yu Gothic"/>
                <a:cs typeface="Yu Gothic"/>
              </a:rPr>
              <a:t>異常活動検出のF1</a:t>
            </a:r>
          </a:p>
        </p:txBody>
      </p:sp>
      <p:sp>
        <p:nvSpPr>
          <p:cNvPr id="22" name="角丸四角形 21">
            <a:extLst>
              <a:ext uri="{FF2B5EF4-FFF2-40B4-BE49-F238E27FC236}">
                <a16:creationId xmlns:a16="http://schemas.microsoft.com/office/drawing/2014/main" id="{B1FF3971-3EA2-41AF-9559-2C33B96F5EA8}"/>
              </a:ext>
            </a:extLst>
          </p:cNvPr>
          <p:cNvSpPr>
            <a:spLocks noGrp="1"/>
          </p:cNvSpPr>
          <p:nvPr/>
        </p:nvSpPr>
        <p:spPr>
          <a:xfrm>
            <a:off x="5715000" y="4686300"/>
            <a:ext cx="2305050" cy="1200150"/>
          </a:xfrm>
          <a:prstGeom prst="roundRect">
            <a:avLst>
              <a:gd name="adj" fmla="val 12698"/>
            </a:avLst>
          </a:prstGeom>
          <a:solidFill>
            <a:srgbClr val="111827"/>
          </a:solidFill>
          <a:ln w="9525">
            <a:solidFill>
              <a:srgbClr val="334155"/>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23" name="正方形/長方形 22">
            <a:extLst>
              <a:ext uri="{FF2B5EF4-FFF2-40B4-BE49-F238E27FC236}">
                <a16:creationId xmlns:a16="http://schemas.microsoft.com/office/drawing/2014/main" id="{EFDAE425-92FF-4751-9A9A-EFEB424CEE0D}"/>
              </a:ext>
            </a:extLst>
          </p:cNvPr>
          <p:cNvSpPr>
            <a:spLocks noGrp="1"/>
          </p:cNvSpPr>
          <p:nvPr/>
        </p:nvSpPr>
        <p:spPr>
          <a:xfrm>
            <a:off x="5905500" y="4857750"/>
            <a:ext cx="1924050" cy="228600"/>
          </a:xfrm>
          <a:prstGeom prst="rect">
            <a:avLst/>
          </a:prstGeom>
          <a:noFill/>
          <a:ln w="0">
            <a:noFill/>
            <a:prstDash val="solid"/>
          </a:ln>
        </p:spPr>
        <p:txBody>
          <a:bodyPr/>
          <a:lstStyle/>
          <a:p>
            <a:pPr algn="l">
              <a:defRPr sz="1050" b="1">
                <a:solidFill>
                  <a:srgbClr val="94A3B8"/>
                </a:solidFill>
                <a:latin typeface="Yu Gothic"/>
                <a:ea typeface="Yu Gothic"/>
                <a:cs typeface="Yu Gothic"/>
              </a:defRPr>
            </a:pPr>
            <a:r>
              <a:rPr sz="1050" b="1">
                <a:solidFill>
                  <a:srgbClr val="94A3B8"/>
                </a:solidFill>
                <a:latin typeface="Yu Gothic"/>
                <a:ea typeface="Yu Gothic"/>
                <a:cs typeface="Yu Gothic"/>
              </a:rPr>
              <a:t>Windows</a:t>
            </a:r>
          </a:p>
        </p:txBody>
      </p:sp>
      <p:sp>
        <p:nvSpPr>
          <p:cNvPr id="24" name="正方形/長方形 23">
            <a:extLst>
              <a:ext uri="{FF2B5EF4-FFF2-40B4-BE49-F238E27FC236}">
                <a16:creationId xmlns:a16="http://schemas.microsoft.com/office/drawing/2014/main" id="{5C81A179-D5A5-4476-A929-678676A8F91A}"/>
              </a:ext>
            </a:extLst>
          </p:cNvPr>
          <p:cNvSpPr>
            <a:spLocks noGrp="1"/>
          </p:cNvSpPr>
          <p:nvPr/>
        </p:nvSpPr>
        <p:spPr>
          <a:xfrm>
            <a:off x="5905500" y="5124450"/>
            <a:ext cx="1924050" cy="552450"/>
          </a:xfrm>
          <a:prstGeom prst="rect">
            <a:avLst/>
          </a:prstGeom>
          <a:noFill/>
          <a:ln w="0">
            <a:noFill/>
            <a:prstDash val="solid"/>
          </a:ln>
        </p:spPr>
        <p:txBody>
          <a:bodyPr/>
          <a:lstStyle/>
          <a:p>
            <a:pPr algn="l">
              <a:defRPr sz="3300" b="1">
                <a:solidFill>
                  <a:srgbClr val="22C55E"/>
                </a:solidFill>
                <a:latin typeface="Aptos Display"/>
                <a:ea typeface="Aptos Display"/>
                <a:cs typeface="Aptos Display"/>
              </a:defRPr>
            </a:pPr>
            <a:r>
              <a:rPr sz="3300" b="1">
                <a:solidFill>
                  <a:srgbClr val="22C55E"/>
                </a:solidFill>
                <a:latin typeface="Aptos Display"/>
                <a:ea typeface="Aptos Display"/>
                <a:cs typeface="Aptos Display"/>
              </a:rPr>
              <a:t>10,682</a:t>
            </a:r>
          </a:p>
        </p:txBody>
      </p:sp>
      <p:sp>
        <p:nvSpPr>
          <p:cNvPr id="25" name="正方形/長方形 24">
            <a:extLst>
              <a:ext uri="{FF2B5EF4-FFF2-40B4-BE49-F238E27FC236}">
                <a16:creationId xmlns:a16="http://schemas.microsoft.com/office/drawing/2014/main" id="{EC3C5399-5B22-4905-BA3F-8EEC17B1671C}"/>
              </a:ext>
            </a:extLst>
          </p:cNvPr>
          <p:cNvSpPr>
            <a:spLocks noGrp="1"/>
          </p:cNvSpPr>
          <p:nvPr/>
        </p:nvSpPr>
        <p:spPr>
          <a:xfrm>
            <a:off x="5905500" y="5734050"/>
            <a:ext cx="1924050" cy="400050"/>
          </a:xfrm>
          <a:prstGeom prst="rect">
            <a:avLst/>
          </a:prstGeom>
          <a:noFill/>
          <a:ln w="0">
            <a:noFill/>
            <a:prstDash val="solid"/>
          </a:ln>
        </p:spPr>
        <p:txBody>
          <a:bodyPr/>
          <a:lstStyle/>
          <a:p>
            <a:pPr algn="l">
              <a:defRPr sz="1050" b="0">
                <a:solidFill>
                  <a:srgbClr val="CBD5E1"/>
                </a:solidFill>
                <a:latin typeface="Yu Gothic"/>
                <a:ea typeface="Yu Gothic"/>
                <a:cs typeface="Yu Gothic"/>
              </a:defRPr>
            </a:pPr>
            <a:r>
              <a:rPr sz="1050" b="0">
                <a:solidFill>
                  <a:srgbClr val="CBD5E1"/>
                </a:solidFill>
                <a:latin typeface="Yu Gothic"/>
                <a:ea typeface="Yu Gothic"/>
                <a:cs typeface="Yu Gothic"/>
              </a:rPr>
              <a:t>LOSO評価窓数</a:t>
            </a:r>
          </a:p>
        </p:txBody>
      </p:sp>
      <p:sp>
        <p:nvSpPr>
          <p:cNvPr id="26" name="円/楕円 25">
            <a:extLst>
              <a:ext uri="{FF2B5EF4-FFF2-40B4-BE49-F238E27FC236}">
                <a16:creationId xmlns:a16="http://schemas.microsoft.com/office/drawing/2014/main" id="{DD50DE6E-55D7-470F-8780-4EB06D35210D}"/>
              </a:ext>
            </a:extLst>
          </p:cNvPr>
          <p:cNvSpPr>
            <a:spLocks noGrp="1"/>
          </p:cNvSpPr>
          <p:nvPr/>
        </p:nvSpPr>
        <p:spPr>
          <a:xfrm>
            <a:off x="8667750" y="876300"/>
            <a:ext cx="152400" cy="152400"/>
          </a:xfrm>
          <a:prstGeom prst="ellipse">
            <a:avLst/>
          </a:prstGeom>
          <a:solidFill>
            <a:srgbClr val="38BDF8"/>
          </a:solidFill>
          <a:ln w="0">
            <a:noFill/>
            <a:prstDash val="solid"/>
          </a:ln>
        </p:spPr>
        <p:txBody>
          <a:bodyPr/>
          <a:lstStyle/>
          <a:p>
            <a:endParaRPr lang="ja-JP" altLang="en-US"/>
          </a:p>
        </p:txBody>
      </p:sp>
      <p:sp>
        <p:nvSpPr>
          <p:cNvPr id="27" name="円/楕円 26">
            <a:extLst>
              <a:ext uri="{FF2B5EF4-FFF2-40B4-BE49-F238E27FC236}">
                <a16:creationId xmlns:a16="http://schemas.microsoft.com/office/drawing/2014/main" id="{D6BA7FB0-115A-4620-A14C-10FAEBE48DE0}"/>
              </a:ext>
            </a:extLst>
          </p:cNvPr>
          <p:cNvSpPr>
            <a:spLocks noGrp="1"/>
          </p:cNvSpPr>
          <p:nvPr/>
        </p:nvSpPr>
        <p:spPr>
          <a:xfrm>
            <a:off x="9220200" y="876300"/>
            <a:ext cx="152400" cy="152400"/>
          </a:xfrm>
          <a:prstGeom prst="ellipse">
            <a:avLst/>
          </a:prstGeom>
          <a:solidFill>
            <a:srgbClr val="38BDF8"/>
          </a:solidFill>
          <a:ln w="0">
            <a:noFill/>
            <a:prstDash val="solid"/>
          </a:ln>
        </p:spPr>
        <p:txBody>
          <a:bodyPr/>
          <a:lstStyle/>
          <a:p>
            <a:endParaRPr lang="ja-JP" altLang="en-US"/>
          </a:p>
        </p:txBody>
      </p:sp>
      <p:sp>
        <p:nvSpPr>
          <p:cNvPr id="28" name="円/楕円 27">
            <a:extLst>
              <a:ext uri="{FF2B5EF4-FFF2-40B4-BE49-F238E27FC236}">
                <a16:creationId xmlns:a16="http://schemas.microsoft.com/office/drawing/2014/main" id="{CEBE2D86-CD63-4AA7-AC4F-C5766B026C99}"/>
              </a:ext>
            </a:extLst>
          </p:cNvPr>
          <p:cNvSpPr>
            <a:spLocks noGrp="1"/>
          </p:cNvSpPr>
          <p:nvPr/>
        </p:nvSpPr>
        <p:spPr>
          <a:xfrm>
            <a:off x="9582150" y="876300"/>
            <a:ext cx="152400" cy="152400"/>
          </a:xfrm>
          <a:prstGeom prst="ellipse">
            <a:avLst/>
          </a:prstGeom>
          <a:solidFill>
            <a:srgbClr val="38BDF8"/>
          </a:solidFill>
          <a:ln w="0">
            <a:noFill/>
            <a:prstDash val="solid"/>
          </a:ln>
        </p:spPr>
        <p:txBody>
          <a:bodyPr/>
          <a:lstStyle/>
          <a:p>
            <a:endParaRPr lang="ja-JP" altLang="en-US"/>
          </a:p>
        </p:txBody>
      </p:sp>
      <p:sp>
        <p:nvSpPr>
          <p:cNvPr id="29" name="円/楕円 28">
            <a:extLst>
              <a:ext uri="{FF2B5EF4-FFF2-40B4-BE49-F238E27FC236}">
                <a16:creationId xmlns:a16="http://schemas.microsoft.com/office/drawing/2014/main" id="{207C5C07-5D2F-4E7A-913C-921E2D21FF49}"/>
              </a:ext>
            </a:extLst>
          </p:cNvPr>
          <p:cNvSpPr>
            <a:spLocks noGrp="1"/>
          </p:cNvSpPr>
          <p:nvPr/>
        </p:nvSpPr>
        <p:spPr>
          <a:xfrm>
            <a:off x="10134600" y="876300"/>
            <a:ext cx="152400" cy="152400"/>
          </a:xfrm>
          <a:prstGeom prst="ellipse">
            <a:avLst/>
          </a:prstGeom>
          <a:solidFill>
            <a:srgbClr val="38BDF8"/>
          </a:solidFill>
          <a:ln w="0">
            <a:noFill/>
            <a:prstDash val="solid"/>
          </a:ln>
        </p:spPr>
        <p:txBody>
          <a:bodyPr/>
          <a:lstStyle/>
          <a:p>
            <a:endParaRPr lang="ja-JP" altLang="en-US"/>
          </a:p>
        </p:txBody>
      </p:sp>
      <p:sp>
        <p:nvSpPr>
          <p:cNvPr id="30" name="円/楕円 29">
            <a:extLst>
              <a:ext uri="{FF2B5EF4-FFF2-40B4-BE49-F238E27FC236}">
                <a16:creationId xmlns:a16="http://schemas.microsoft.com/office/drawing/2014/main" id="{A2E6C0CB-604A-495F-9C55-4CFF3131CAFE}"/>
              </a:ext>
            </a:extLst>
          </p:cNvPr>
          <p:cNvSpPr>
            <a:spLocks noGrp="1"/>
          </p:cNvSpPr>
          <p:nvPr/>
        </p:nvSpPr>
        <p:spPr>
          <a:xfrm>
            <a:off x="10496550" y="876300"/>
            <a:ext cx="152400" cy="152400"/>
          </a:xfrm>
          <a:prstGeom prst="ellipse">
            <a:avLst/>
          </a:prstGeom>
          <a:solidFill>
            <a:srgbClr val="38BDF8"/>
          </a:solidFill>
          <a:ln w="0">
            <a:noFill/>
            <a:prstDash val="solid"/>
          </a:ln>
        </p:spPr>
        <p:txBody>
          <a:bodyPr/>
          <a:lstStyle/>
          <a:p>
            <a:endParaRPr lang="ja-JP" altLang="en-US"/>
          </a:p>
        </p:txBody>
      </p:sp>
      <p:sp>
        <p:nvSpPr>
          <p:cNvPr id="31" name="円/楕円 30">
            <a:extLst>
              <a:ext uri="{FF2B5EF4-FFF2-40B4-BE49-F238E27FC236}">
                <a16:creationId xmlns:a16="http://schemas.microsoft.com/office/drawing/2014/main" id="{3F8930B7-9F98-47BC-BF81-81F9B45052FB}"/>
              </a:ext>
            </a:extLst>
          </p:cNvPr>
          <p:cNvSpPr>
            <a:spLocks noGrp="1"/>
          </p:cNvSpPr>
          <p:nvPr/>
        </p:nvSpPr>
        <p:spPr>
          <a:xfrm>
            <a:off x="8763000" y="1390650"/>
            <a:ext cx="152400" cy="152400"/>
          </a:xfrm>
          <a:prstGeom prst="ellipse">
            <a:avLst/>
          </a:prstGeom>
          <a:solidFill>
            <a:srgbClr val="38BDF8"/>
          </a:solidFill>
          <a:ln w="0">
            <a:noFill/>
            <a:prstDash val="solid"/>
          </a:ln>
        </p:spPr>
        <p:txBody>
          <a:bodyPr/>
          <a:lstStyle/>
          <a:p>
            <a:endParaRPr lang="ja-JP" altLang="en-US"/>
          </a:p>
        </p:txBody>
      </p:sp>
      <p:sp>
        <p:nvSpPr>
          <p:cNvPr id="32" name="円/楕円 31">
            <a:extLst>
              <a:ext uri="{FF2B5EF4-FFF2-40B4-BE49-F238E27FC236}">
                <a16:creationId xmlns:a16="http://schemas.microsoft.com/office/drawing/2014/main" id="{6F7BE54B-2961-4932-8941-F72CB9636031}"/>
              </a:ext>
            </a:extLst>
          </p:cNvPr>
          <p:cNvSpPr>
            <a:spLocks noGrp="1"/>
          </p:cNvSpPr>
          <p:nvPr/>
        </p:nvSpPr>
        <p:spPr>
          <a:xfrm>
            <a:off x="9124950" y="1390650"/>
            <a:ext cx="152400" cy="152400"/>
          </a:xfrm>
          <a:prstGeom prst="ellipse">
            <a:avLst/>
          </a:prstGeom>
          <a:solidFill>
            <a:srgbClr val="38BDF8"/>
          </a:solidFill>
          <a:ln w="0">
            <a:noFill/>
            <a:prstDash val="solid"/>
          </a:ln>
        </p:spPr>
        <p:txBody>
          <a:bodyPr/>
          <a:lstStyle/>
          <a:p>
            <a:endParaRPr lang="ja-JP" altLang="en-US"/>
          </a:p>
        </p:txBody>
      </p:sp>
      <p:sp>
        <p:nvSpPr>
          <p:cNvPr id="33" name="円/楕円 32">
            <a:extLst>
              <a:ext uri="{FF2B5EF4-FFF2-40B4-BE49-F238E27FC236}">
                <a16:creationId xmlns:a16="http://schemas.microsoft.com/office/drawing/2014/main" id="{5D158FAC-718F-423D-90C5-D6AB0E8477DE}"/>
              </a:ext>
            </a:extLst>
          </p:cNvPr>
          <p:cNvSpPr>
            <a:spLocks noGrp="1"/>
          </p:cNvSpPr>
          <p:nvPr/>
        </p:nvSpPr>
        <p:spPr>
          <a:xfrm>
            <a:off x="9677400" y="1390650"/>
            <a:ext cx="152400" cy="152400"/>
          </a:xfrm>
          <a:prstGeom prst="ellipse">
            <a:avLst/>
          </a:prstGeom>
          <a:solidFill>
            <a:srgbClr val="38BDF8"/>
          </a:solidFill>
          <a:ln w="0">
            <a:noFill/>
            <a:prstDash val="solid"/>
          </a:ln>
        </p:spPr>
        <p:txBody>
          <a:bodyPr/>
          <a:lstStyle/>
          <a:p>
            <a:endParaRPr lang="ja-JP" altLang="en-US"/>
          </a:p>
        </p:txBody>
      </p:sp>
      <p:sp>
        <p:nvSpPr>
          <p:cNvPr id="34" name="円/楕円 33">
            <a:extLst>
              <a:ext uri="{FF2B5EF4-FFF2-40B4-BE49-F238E27FC236}">
                <a16:creationId xmlns:a16="http://schemas.microsoft.com/office/drawing/2014/main" id="{EF777C19-A9F3-41EA-BF46-5DEA26B454BF}"/>
              </a:ext>
            </a:extLst>
          </p:cNvPr>
          <p:cNvSpPr>
            <a:spLocks noGrp="1"/>
          </p:cNvSpPr>
          <p:nvPr/>
        </p:nvSpPr>
        <p:spPr>
          <a:xfrm>
            <a:off x="10039350" y="1390650"/>
            <a:ext cx="152400" cy="152400"/>
          </a:xfrm>
          <a:prstGeom prst="ellipse">
            <a:avLst/>
          </a:prstGeom>
          <a:solidFill>
            <a:srgbClr val="F97316"/>
          </a:solidFill>
          <a:ln w="0">
            <a:noFill/>
            <a:prstDash val="solid"/>
          </a:ln>
        </p:spPr>
        <p:txBody>
          <a:bodyPr/>
          <a:lstStyle/>
          <a:p>
            <a:endParaRPr lang="ja-JP" altLang="en-US"/>
          </a:p>
        </p:txBody>
      </p:sp>
      <p:sp>
        <p:nvSpPr>
          <p:cNvPr id="35" name="円/楕円 34">
            <a:extLst>
              <a:ext uri="{FF2B5EF4-FFF2-40B4-BE49-F238E27FC236}">
                <a16:creationId xmlns:a16="http://schemas.microsoft.com/office/drawing/2014/main" id="{E0BB2AEE-F4B8-4B2B-94AA-3F0F49E6A546}"/>
              </a:ext>
            </a:extLst>
          </p:cNvPr>
          <p:cNvSpPr>
            <a:spLocks noGrp="1"/>
          </p:cNvSpPr>
          <p:nvPr/>
        </p:nvSpPr>
        <p:spPr>
          <a:xfrm>
            <a:off x="10591800" y="1390650"/>
            <a:ext cx="152400" cy="152400"/>
          </a:xfrm>
          <a:prstGeom prst="ellipse">
            <a:avLst/>
          </a:prstGeom>
          <a:solidFill>
            <a:srgbClr val="F97316"/>
          </a:solidFill>
          <a:ln w="0">
            <a:noFill/>
            <a:prstDash val="solid"/>
          </a:ln>
        </p:spPr>
        <p:txBody>
          <a:bodyPr/>
          <a:lstStyle/>
          <a:p>
            <a:endParaRPr lang="ja-JP" altLang="en-US"/>
          </a:p>
        </p:txBody>
      </p:sp>
      <p:sp>
        <p:nvSpPr>
          <p:cNvPr id="36" name="円/楕円 35">
            <a:extLst>
              <a:ext uri="{FF2B5EF4-FFF2-40B4-BE49-F238E27FC236}">
                <a16:creationId xmlns:a16="http://schemas.microsoft.com/office/drawing/2014/main" id="{41876C5C-77F4-4BA5-8280-210B17C13D95}"/>
              </a:ext>
            </a:extLst>
          </p:cNvPr>
          <p:cNvSpPr>
            <a:spLocks noGrp="1"/>
          </p:cNvSpPr>
          <p:nvPr/>
        </p:nvSpPr>
        <p:spPr>
          <a:xfrm>
            <a:off x="8667750" y="1905000"/>
            <a:ext cx="152400" cy="152400"/>
          </a:xfrm>
          <a:prstGeom prst="ellipse">
            <a:avLst/>
          </a:prstGeom>
          <a:solidFill>
            <a:srgbClr val="F97316"/>
          </a:solidFill>
          <a:ln w="0">
            <a:noFill/>
            <a:prstDash val="solid"/>
          </a:ln>
        </p:spPr>
        <p:txBody>
          <a:bodyPr/>
          <a:lstStyle/>
          <a:p>
            <a:endParaRPr lang="ja-JP" altLang="en-US"/>
          </a:p>
        </p:txBody>
      </p:sp>
      <p:sp>
        <p:nvSpPr>
          <p:cNvPr id="37" name="円/楕円 36">
            <a:extLst>
              <a:ext uri="{FF2B5EF4-FFF2-40B4-BE49-F238E27FC236}">
                <a16:creationId xmlns:a16="http://schemas.microsoft.com/office/drawing/2014/main" id="{E007BBDE-077C-4802-96DB-E69892B65706}"/>
              </a:ext>
            </a:extLst>
          </p:cNvPr>
          <p:cNvSpPr>
            <a:spLocks noGrp="1"/>
          </p:cNvSpPr>
          <p:nvPr/>
        </p:nvSpPr>
        <p:spPr>
          <a:xfrm>
            <a:off x="9220200" y="1905000"/>
            <a:ext cx="152400" cy="152400"/>
          </a:xfrm>
          <a:prstGeom prst="ellipse">
            <a:avLst/>
          </a:prstGeom>
          <a:solidFill>
            <a:srgbClr val="F97316"/>
          </a:solidFill>
          <a:ln w="0">
            <a:noFill/>
            <a:prstDash val="solid"/>
          </a:ln>
        </p:spPr>
        <p:txBody>
          <a:bodyPr/>
          <a:lstStyle/>
          <a:p>
            <a:endParaRPr lang="ja-JP" altLang="en-US"/>
          </a:p>
        </p:txBody>
      </p:sp>
      <p:sp>
        <p:nvSpPr>
          <p:cNvPr id="38" name="円/楕円 37">
            <a:extLst>
              <a:ext uri="{FF2B5EF4-FFF2-40B4-BE49-F238E27FC236}">
                <a16:creationId xmlns:a16="http://schemas.microsoft.com/office/drawing/2014/main" id="{CCA27E2A-C21D-47C4-B611-3E81D6149493}"/>
              </a:ext>
            </a:extLst>
          </p:cNvPr>
          <p:cNvSpPr>
            <a:spLocks noGrp="1"/>
          </p:cNvSpPr>
          <p:nvPr/>
        </p:nvSpPr>
        <p:spPr>
          <a:xfrm>
            <a:off x="9582150" y="1905000"/>
            <a:ext cx="152400" cy="152400"/>
          </a:xfrm>
          <a:prstGeom prst="ellipse">
            <a:avLst/>
          </a:prstGeom>
          <a:solidFill>
            <a:srgbClr val="F97316"/>
          </a:solidFill>
          <a:ln w="0">
            <a:noFill/>
            <a:prstDash val="solid"/>
          </a:ln>
        </p:spPr>
        <p:txBody>
          <a:bodyPr/>
          <a:lstStyle/>
          <a:p>
            <a:endParaRPr lang="ja-JP" altLang="en-US"/>
          </a:p>
        </p:txBody>
      </p:sp>
      <p:sp>
        <p:nvSpPr>
          <p:cNvPr id="39" name="円/楕円 38">
            <a:extLst>
              <a:ext uri="{FF2B5EF4-FFF2-40B4-BE49-F238E27FC236}">
                <a16:creationId xmlns:a16="http://schemas.microsoft.com/office/drawing/2014/main" id="{0C0825C6-20E1-4010-86B2-E48EBC5D1A3C}"/>
              </a:ext>
            </a:extLst>
          </p:cNvPr>
          <p:cNvSpPr>
            <a:spLocks noGrp="1"/>
          </p:cNvSpPr>
          <p:nvPr/>
        </p:nvSpPr>
        <p:spPr>
          <a:xfrm>
            <a:off x="10134600" y="1905000"/>
            <a:ext cx="152400" cy="152400"/>
          </a:xfrm>
          <a:prstGeom prst="ellipse">
            <a:avLst/>
          </a:prstGeom>
          <a:solidFill>
            <a:srgbClr val="F97316"/>
          </a:solidFill>
          <a:ln w="0">
            <a:noFill/>
            <a:prstDash val="solid"/>
          </a:ln>
        </p:spPr>
        <p:txBody>
          <a:bodyPr/>
          <a:lstStyle/>
          <a:p>
            <a:endParaRPr lang="ja-JP" altLang="en-US"/>
          </a:p>
        </p:txBody>
      </p:sp>
      <p:sp>
        <p:nvSpPr>
          <p:cNvPr id="40" name="円/楕円 39">
            <a:extLst>
              <a:ext uri="{FF2B5EF4-FFF2-40B4-BE49-F238E27FC236}">
                <a16:creationId xmlns:a16="http://schemas.microsoft.com/office/drawing/2014/main" id="{CC232097-E267-415E-902A-CA2568FEDF5E}"/>
              </a:ext>
            </a:extLst>
          </p:cNvPr>
          <p:cNvSpPr>
            <a:spLocks noGrp="1"/>
          </p:cNvSpPr>
          <p:nvPr/>
        </p:nvSpPr>
        <p:spPr>
          <a:xfrm>
            <a:off x="10496550" y="1905000"/>
            <a:ext cx="152400" cy="152400"/>
          </a:xfrm>
          <a:prstGeom prst="ellipse">
            <a:avLst/>
          </a:prstGeom>
          <a:solidFill>
            <a:srgbClr val="F97316"/>
          </a:solidFill>
          <a:ln w="0">
            <a:noFill/>
            <a:prstDash val="solid"/>
          </a:ln>
        </p:spPr>
        <p:txBody>
          <a:bodyPr/>
          <a:lstStyle/>
          <a:p>
            <a:endParaRPr lang="ja-JP" altLang="en-US"/>
          </a:p>
        </p:txBody>
      </p:sp>
      <p:sp>
        <p:nvSpPr>
          <p:cNvPr id="41" name="円/楕円 40">
            <a:extLst>
              <a:ext uri="{FF2B5EF4-FFF2-40B4-BE49-F238E27FC236}">
                <a16:creationId xmlns:a16="http://schemas.microsoft.com/office/drawing/2014/main" id="{7C0447CA-C35E-4507-9276-CB6FEFC10672}"/>
              </a:ext>
            </a:extLst>
          </p:cNvPr>
          <p:cNvSpPr>
            <a:spLocks noGrp="1"/>
          </p:cNvSpPr>
          <p:nvPr/>
        </p:nvSpPr>
        <p:spPr>
          <a:xfrm>
            <a:off x="8763000" y="2419350"/>
            <a:ext cx="152400" cy="152400"/>
          </a:xfrm>
          <a:prstGeom prst="ellipse">
            <a:avLst/>
          </a:prstGeom>
          <a:solidFill>
            <a:srgbClr val="F97316"/>
          </a:solidFill>
          <a:ln w="0">
            <a:noFill/>
            <a:prstDash val="solid"/>
          </a:ln>
        </p:spPr>
        <p:txBody>
          <a:bodyPr/>
          <a:lstStyle/>
          <a:p>
            <a:endParaRPr lang="ja-JP" altLang="en-US"/>
          </a:p>
        </p:txBody>
      </p:sp>
      <p:sp>
        <p:nvSpPr>
          <p:cNvPr id="42" name="円/楕円 41">
            <a:extLst>
              <a:ext uri="{FF2B5EF4-FFF2-40B4-BE49-F238E27FC236}">
                <a16:creationId xmlns:a16="http://schemas.microsoft.com/office/drawing/2014/main" id="{D7FD3582-EE75-4BBF-A7E7-5AFE3DE6151C}"/>
              </a:ext>
            </a:extLst>
          </p:cNvPr>
          <p:cNvSpPr>
            <a:spLocks noGrp="1"/>
          </p:cNvSpPr>
          <p:nvPr/>
        </p:nvSpPr>
        <p:spPr>
          <a:xfrm>
            <a:off x="9124950" y="2419350"/>
            <a:ext cx="152400" cy="152400"/>
          </a:xfrm>
          <a:prstGeom prst="ellipse">
            <a:avLst/>
          </a:prstGeom>
          <a:solidFill>
            <a:srgbClr val="F97316"/>
          </a:solidFill>
          <a:ln w="0">
            <a:noFill/>
            <a:prstDash val="solid"/>
          </a:ln>
        </p:spPr>
        <p:txBody>
          <a:bodyPr/>
          <a:lstStyle/>
          <a:p>
            <a:endParaRPr lang="ja-JP" altLang="en-US"/>
          </a:p>
        </p:txBody>
      </p:sp>
      <p:sp>
        <p:nvSpPr>
          <p:cNvPr id="43" name="正方形/長方形 42">
            <a:extLst>
              <a:ext uri="{FF2B5EF4-FFF2-40B4-BE49-F238E27FC236}">
                <a16:creationId xmlns:a16="http://schemas.microsoft.com/office/drawing/2014/main" id="{837EDCA0-FE51-4BF7-AE72-810993F0AD25}"/>
              </a:ext>
            </a:extLst>
          </p:cNvPr>
          <p:cNvSpPr>
            <a:spLocks noGrp="1"/>
          </p:cNvSpPr>
          <p:nvPr/>
        </p:nvSpPr>
        <p:spPr>
          <a:xfrm>
            <a:off x="8629650" y="3200400"/>
            <a:ext cx="2457450" cy="838200"/>
          </a:xfrm>
          <a:prstGeom prst="rect">
            <a:avLst/>
          </a:prstGeom>
          <a:noFill/>
          <a:ln w="0">
            <a:noFill/>
            <a:prstDash val="solid"/>
          </a:ln>
        </p:spPr>
        <p:txBody>
          <a:bodyPr/>
          <a:lstStyle/>
          <a:p>
            <a:pPr algn="ctr">
              <a:defRPr sz="2100" b="1">
                <a:solidFill>
                  <a:srgbClr val="FFFFFF"/>
                </a:solidFill>
                <a:latin typeface="Yu Gothic"/>
                <a:ea typeface="Yu Gothic"/>
                <a:cs typeface="Yu Gothic"/>
              </a:defRPr>
            </a:pPr>
            <a:r>
              <a:rPr sz="2100" b="1">
                <a:solidFill>
                  <a:srgbClr val="FFFFFF"/>
                </a:solidFill>
                <a:latin typeface="Yu Gothic"/>
                <a:ea typeface="Yu Gothic"/>
                <a:cs typeface="Yu Gothic"/>
              </a:rPr>
              <a:t>Keypoint-only</a:t>
            </a:r>
          </a:p>
          <a:p>
            <a:pPr algn="ctr">
              <a:defRPr sz="2100" b="1">
                <a:solidFill>
                  <a:srgbClr val="FFFFFF"/>
                </a:solidFill>
                <a:latin typeface="Yu Gothic"/>
                <a:ea typeface="Yu Gothic"/>
                <a:cs typeface="Yu Gothic"/>
              </a:defRPr>
            </a:pPr>
            <a:r>
              <a:rPr sz="2100" b="1">
                <a:solidFill>
                  <a:srgbClr val="FFFFFF"/>
                </a:solidFill>
                <a:latin typeface="Yu Gothic"/>
                <a:ea typeface="Yu Gothic"/>
                <a:cs typeface="Yu Gothic"/>
              </a:rPr>
              <a:t>activity recognition</a:t>
            </a:r>
          </a:p>
        </p:txBody>
      </p:sp>
      <p:sp>
        <p:nvSpPr>
          <p:cNvPr id="44" name="正方形/長方形 43">
            <a:extLst>
              <a:ext uri="{FF2B5EF4-FFF2-40B4-BE49-F238E27FC236}">
                <a16:creationId xmlns:a16="http://schemas.microsoft.com/office/drawing/2014/main" id="{84DB6BFE-C977-4DB1-B5FE-EAB4990EF498}"/>
              </a:ext>
            </a:extLst>
          </p:cNvPr>
          <p:cNvSpPr>
            <a:spLocks noGrp="1"/>
          </p:cNvSpPr>
          <p:nvPr/>
        </p:nvSpPr>
        <p:spPr>
          <a:xfrm>
            <a:off x="609600" y="6496050"/>
            <a:ext cx="6477000" cy="190500"/>
          </a:xfrm>
          <a:prstGeom prst="rect">
            <a:avLst/>
          </a:prstGeom>
          <a:noFill/>
          <a:ln w="0">
            <a:noFill/>
            <a:prstDash val="solid"/>
          </a:ln>
        </p:spPr>
        <p:txBody>
          <a:bodyPr/>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Sources: specification / LOSO metrics / per-class CSV</a:t>
            </a:r>
          </a:p>
        </p:txBody>
      </p:sp>
      <p:sp>
        <p:nvSpPr>
          <p:cNvPr id="45" name="正方形/長方形 44">
            <a:extLst>
              <a:ext uri="{FF2B5EF4-FFF2-40B4-BE49-F238E27FC236}">
                <a16:creationId xmlns:a16="http://schemas.microsoft.com/office/drawing/2014/main" id="{CDB32FFD-28EE-4CB9-9C75-4EF750B77CBB}"/>
              </a:ext>
            </a:extLst>
          </p:cNvPr>
          <p:cNvSpPr>
            <a:spLocks noGrp="1"/>
          </p:cNvSpPr>
          <p:nvPr/>
        </p:nvSpPr>
        <p:spPr>
          <a:xfrm>
            <a:off x="10744200" y="6477000"/>
            <a:ext cx="838200" cy="209550"/>
          </a:xfrm>
          <a:prstGeom prst="rect">
            <a:avLst/>
          </a:prstGeom>
          <a:noFill/>
          <a:ln w="0">
            <a:noFill/>
            <a:prstDash val="solid"/>
          </a:ln>
        </p:spPr>
        <p:txBody>
          <a:bodyPr/>
          <a:lstStyle/>
          <a:p>
            <a:pPr algn="r">
              <a:defRPr sz="900" b="1">
                <a:solidFill>
                  <a:srgbClr val="94A3B8"/>
                </a:solidFill>
                <a:latin typeface="Yu Gothic"/>
                <a:ea typeface="Yu Gothic"/>
                <a:cs typeface="Yu Gothic"/>
              </a:defRPr>
            </a:pPr>
            <a:r>
              <a:rPr sz="900" b="1">
                <a:solidFill>
                  <a:srgbClr val="94A3B8"/>
                </a:solidFill>
                <a:latin typeface="Yu Gothic"/>
                <a:ea typeface="Yu Gothic"/>
                <a:cs typeface="Yu Gothic"/>
              </a:rPr>
              <a:t>1/10</a:t>
            </a:r>
          </a:p>
        </p:txBody>
      </p:sp>
    </p:spTree>
    <p:extLst>
      <p:ext uri="{BB962C8B-B14F-4D97-AF65-F5344CB8AC3E}">
        <p14:creationId xmlns:p14="http://schemas.microsoft.com/office/powerpoint/2010/main" val="1393134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8" name="正方形/長方形 37">
            <a:extLst>
              <a:ext uri="{FF2B5EF4-FFF2-40B4-BE49-F238E27FC236}">
                <a16:creationId xmlns:a16="http://schemas.microsoft.com/office/drawing/2014/main" id="{A84E97FC-397D-44CE-AD77-D6E3D7D8D6CB}"/>
              </a:ext>
            </a:extLst>
          </p:cNvPr>
          <p:cNvSpPr>
            <a:spLocks noGrp="1"/>
          </p:cNvSpPr>
          <p:nvPr/>
        </p:nvSpPr>
        <p:spPr>
          <a:xfrm>
            <a:off x="609600" y="381000"/>
            <a:ext cx="5905500" cy="228600"/>
          </a:xfrm>
          <a:prstGeom prst="rect">
            <a:avLst/>
          </a:prstGeom>
          <a:noFill/>
          <a:ln w="0">
            <a:noFill/>
            <a:prstDash val="solid"/>
          </a:ln>
        </p:spPr>
        <p:txBody>
          <a:bodyPr/>
          <a:lstStyle/>
          <a:p>
            <a:pPr algn="l">
              <a:defRPr sz="900" b="1">
                <a:solidFill>
                  <a:srgbClr val="0EA5E9"/>
                </a:solidFill>
                <a:latin typeface="Yu Gothic"/>
                <a:ea typeface="Yu Gothic"/>
                <a:cs typeface="Yu Gothic"/>
              </a:defRPr>
            </a:pPr>
            <a:r>
              <a:rPr sz="900" b="1">
                <a:solidFill>
                  <a:srgbClr val="0EA5E9"/>
                </a:solidFill>
                <a:latin typeface="Yu Gothic"/>
                <a:ea typeface="Yu Gothic"/>
                <a:cs typeface="Yu Gothic"/>
              </a:rPr>
              <a:t>RESEARCH CONTEXT</a:t>
            </a:r>
          </a:p>
        </p:txBody>
      </p:sp>
      <p:sp>
        <p:nvSpPr>
          <p:cNvPr id="2" name="正方形/長方形 1">
            <a:extLst>
              <a:ext uri="{FF2B5EF4-FFF2-40B4-BE49-F238E27FC236}">
                <a16:creationId xmlns:a16="http://schemas.microsoft.com/office/drawing/2014/main" id="{0CB176D5-D424-49D3-BB00-0AB82A670A6A}"/>
              </a:ext>
            </a:extLst>
          </p:cNvPr>
          <p:cNvSpPr>
            <a:spLocks noGrp="1"/>
          </p:cNvSpPr>
          <p:nvPr/>
        </p:nvSpPr>
        <p:spPr>
          <a:xfrm>
            <a:off x="609600" y="647700"/>
            <a:ext cx="8096250" cy="514350"/>
          </a:xfrm>
          <a:prstGeom prst="rect">
            <a:avLst/>
          </a:prstGeom>
          <a:noFill/>
          <a:ln w="0">
            <a:noFill/>
            <a:prstDash val="solid"/>
          </a:ln>
        </p:spPr>
        <p:txBody>
          <a:bodyPr/>
          <a:lstStyle/>
          <a:p>
            <a:pPr>
              <a:defRPr sz="2700" b="1">
                <a:solidFill>
                  <a:srgbClr val="0B1220"/>
                </a:solidFill>
                <a:latin typeface="Yu Gothic"/>
                <a:ea typeface="Yu Gothic"/>
                <a:cs typeface="Yu Gothic"/>
              </a:defRPr>
            </a:pPr>
            <a:r>
              <a:rPr lang="ja-JP" altLang="ja-JP" sz="2700" b="1"/>
              <a:t>Background</a:t>
            </a:r>
            <a:endParaRPr sz="2700" b="1" dirty="0">
              <a:solidFill>
                <a:srgbClr val="0B1220"/>
              </a:solidFill>
              <a:latin typeface="Yu Gothic"/>
              <a:ea typeface="Yu Gothic"/>
              <a:cs typeface="Yu Gothic"/>
            </a:endParaRPr>
          </a:p>
        </p:txBody>
      </p:sp>
      <p:sp>
        <p:nvSpPr>
          <p:cNvPr id="3" name="正方形/長方形 2">
            <a:extLst>
              <a:ext uri="{FF2B5EF4-FFF2-40B4-BE49-F238E27FC236}">
                <a16:creationId xmlns:a16="http://schemas.microsoft.com/office/drawing/2014/main" id="{E4EFAE19-EBB8-47BE-B312-8115D4946A76}"/>
              </a:ext>
            </a:extLst>
          </p:cNvPr>
          <p:cNvSpPr>
            <a:spLocks noGrp="1"/>
          </p:cNvSpPr>
          <p:nvPr/>
        </p:nvSpPr>
        <p:spPr>
          <a:xfrm>
            <a:off x="609600" y="1200150"/>
            <a:ext cx="742950" cy="38100"/>
          </a:xfrm>
          <a:prstGeom prst="rect">
            <a:avLst/>
          </a:prstGeom>
          <a:solidFill>
            <a:srgbClr val="38BDF8"/>
          </a:solidFill>
          <a:ln w="0">
            <a:noFill/>
            <a:prstDash val="solid"/>
          </a:ln>
        </p:spPr>
        <p:txBody>
          <a:bodyPr/>
          <a:lstStyle/>
          <a:p>
            <a:endParaRPr lang="ja-JP" altLang="en-US"/>
          </a:p>
        </p:txBody>
      </p:sp>
      <p:sp>
        <p:nvSpPr>
          <p:cNvPr id="5" name="正方形/長方形 4">
            <a:extLst>
              <a:ext uri="{FF2B5EF4-FFF2-40B4-BE49-F238E27FC236}">
                <a16:creationId xmlns:a16="http://schemas.microsoft.com/office/drawing/2014/main" id="{23CECF40-BFF6-4854-A8B8-24CB0AE0DA77}"/>
              </a:ext>
            </a:extLst>
          </p:cNvPr>
          <p:cNvSpPr>
            <a:spLocks noGrp="1"/>
          </p:cNvSpPr>
          <p:nvPr/>
        </p:nvSpPr>
        <p:spPr>
          <a:xfrm>
            <a:off x="609600" y="6496050"/>
            <a:ext cx="6477000" cy="190500"/>
          </a:xfrm>
          <a:prstGeom prst="rect">
            <a:avLst/>
          </a:prstGeom>
          <a:noFill/>
          <a:ln w="0">
            <a:noFill/>
            <a:prstDash val="solid"/>
          </a:ln>
        </p:spPr>
        <p:txBody>
          <a:bodyPr/>
          <a:lstStyle/>
          <a:p>
            <a:pPr algn="l">
              <a:defRPr sz="750" b="0">
                <a:solidFill>
                  <a:srgbClr val="64748B"/>
                </a:solidFill>
                <a:latin typeface="Yu Gothic"/>
                <a:ea typeface="Yu Gothic"/>
                <a:cs typeface="Yu Gothic"/>
              </a:defRPr>
            </a:pPr>
            <a:r>
              <a:rPr sz="750" b="0">
                <a:solidFill>
                  <a:srgbClr val="64748B"/>
                </a:solidFill>
                <a:latin typeface="Yu Gothic"/>
                <a:ea typeface="Yu Gothic"/>
                <a:cs typeface="Yu Gothic"/>
              </a:rPr>
              <a:t>Sources: specification / LOSO metrics / per-class CSV</a:t>
            </a:r>
          </a:p>
        </p:txBody>
      </p:sp>
      <p:sp>
        <p:nvSpPr>
          <p:cNvPr id="6" name="正方形/長方形 5">
            <a:extLst>
              <a:ext uri="{FF2B5EF4-FFF2-40B4-BE49-F238E27FC236}">
                <a16:creationId xmlns:a16="http://schemas.microsoft.com/office/drawing/2014/main" id="{297B607C-B5BB-4B32-91E5-69140874649F}"/>
              </a:ext>
            </a:extLst>
          </p:cNvPr>
          <p:cNvSpPr>
            <a:spLocks noGrp="1"/>
          </p:cNvSpPr>
          <p:nvPr/>
        </p:nvSpPr>
        <p:spPr>
          <a:xfrm>
            <a:off x="10744200" y="6477000"/>
            <a:ext cx="838200" cy="209550"/>
          </a:xfrm>
          <a:prstGeom prst="rect">
            <a:avLst/>
          </a:prstGeom>
          <a:noFill/>
          <a:ln w="0">
            <a:noFill/>
            <a:prstDash val="solid"/>
          </a:ln>
        </p:spPr>
        <p:txBody>
          <a:bodyPr/>
          <a:lstStyle/>
          <a:p>
            <a:pPr algn="r">
              <a:defRPr sz="900" b="1">
                <a:solidFill>
                  <a:srgbClr val="64748B"/>
                </a:solidFill>
                <a:latin typeface="Yu Gothic"/>
                <a:ea typeface="Yu Gothic"/>
                <a:cs typeface="Yu Gothic"/>
              </a:defRPr>
            </a:pPr>
            <a:r>
              <a:rPr sz="900" b="1">
                <a:solidFill>
                  <a:srgbClr val="64748B"/>
                </a:solidFill>
                <a:latin typeface="Yu Gothic"/>
                <a:ea typeface="Yu Gothic"/>
                <a:cs typeface="Yu Gothic"/>
              </a:rPr>
              <a:t>2/10</a:t>
            </a:r>
          </a:p>
        </p:txBody>
      </p:sp>
      <p:sp>
        <p:nvSpPr>
          <p:cNvPr id="7" name="正方形/長方形 6">
            <a:extLst>
              <a:ext uri="{FF2B5EF4-FFF2-40B4-BE49-F238E27FC236}">
                <a16:creationId xmlns:a16="http://schemas.microsoft.com/office/drawing/2014/main" id="{0C3C91FD-C1BD-4DCB-968B-28D0E14B35EC}"/>
              </a:ext>
            </a:extLst>
          </p:cNvPr>
          <p:cNvSpPr>
            <a:spLocks noGrp="1"/>
          </p:cNvSpPr>
          <p:nvPr/>
        </p:nvSpPr>
        <p:spPr>
          <a:xfrm>
            <a:off x="609599" y="1428749"/>
            <a:ext cx="10805392" cy="1457324"/>
          </a:xfrm>
          <a:prstGeom prst="rect">
            <a:avLst/>
          </a:prstGeom>
          <a:noFill/>
          <a:ln w="0">
            <a:noFill/>
            <a:prstDash val="solid"/>
          </a:ln>
        </p:spPr>
        <p:txBody>
          <a:bodyPr/>
          <a:lstStyle/>
          <a:p>
            <a:pPr marL="342900" indent="-342900">
              <a:buFont typeface="Arial" panose="020B0604020202020204" pitchFamily="34" charset="0"/>
              <a:buChar char="•"/>
              <a:defRPr sz="1875" b="1">
                <a:solidFill>
                  <a:srgbClr val="0B1220"/>
                </a:solidFill>
                <a:latin typeface="Yu Gothic"/>
                <a:ea typeface="Yu Gothic"/>
                <a:cs typeface="Yu Gothic"/>
              </a:defRPr>
            </a:pPr>
            <a:r>
              <a:rPr lang="ja-JP" altLang="ja-JP" sz="1875" b="1"/>
              <a:t>異常行動</a:t>
            </a:r>
            <a:r>
              <a:rPr lang="ja-JP" altLang="en-US" sz="1875" b="1"/>
              <a:t>の</a:t>
            </a:r>
            <a:r>
              <a:rPr lang="ja-JP" altLang="ja-JP" sz="1875" b="1"/>
              <a:t>早期検出</a:t>
            </a:r>
            <a:r>
              <a:rPr lang="ja-JP" altLang="en-US" sz="1875" b="1"/>
              <a:t>→</a:t>
            </a:r>
            <a:r>
              <a:rPr lang="ja-JP" altLang="ja-JP" sz="1875" b="1"/>
              <a:t>物を投げる、他者を攻撃するなど</a:t>
            </a:r>
            <a:endParaRPr lang="en-US" altLang="ja-JP" sz="1875" b="1" dirty="0"/>
          </a:p>
          <a:p>
            <a:pPr>
              <a:defRPr sz="1875" b="1">
                <a:solidFill>
                  <a:srgbClr val="0B1220"/>
                </a:solidFill>
                <a:latin typeface="Yu Gothic"/>
                <a:ea typeface="Yu Gothic"/>
                <a:cs typeface="Yu Gothic"/>
              </a:defRPr>
            </a:pPr>
            <a:r>
              <a:rPr lang="en-US" altLang="ja-JP" sz="1200" b="1" dirty="0"/>
              <a:t>	</a:t>
            </a:r>
            <a:r>
              <a:rPr lang="ja-JP" altLang="ja-JP" sz="1200" b="1"/>
              <a:t>Early detection of abnormal behaviors, such as throwing things or attacking others</a:t>
            </a:r>
            <a:endParaRPr lang="en-US" altLang="ja-JP" sz="1200" b="1" dirty="0"/>
          </a:p>
          <a:p>
            <a:pPr>
              <a:defRPr sz="1875" b="1">
                <a:solidFill>
                  <a:srgbClr val="0B1220"/>
                </a:solidFill>
                <a:latin typeface="Yu Gothic"/>
                <a:ea typeface="Yu Gothic"/>
                <a:cs typeface="Yu Gothic"/>
              </a:defRPr>
            </a:pPr>
            <a:endParaRPr lang="en-US" altLang="ja-JP" sz="1200" b="1" dirty="0"/>
          </a:p>
          <a:p>
            <a:pPr marL="342900" indent="-342900">
              <a:buFont typeface="Arial" panose="020B0604020202020204" pitchFamily="34" charset="0"/>
              <a:buChar char="•"/>
              <a:defRPr sz="1875" b="1">
                <a:solidFill>
                  <a:srgbClr val="0B1220"/>
                </a:solidFill>
                <a:latin typeface="Yu Gothic"/>
                <a:ea typeface="Yu Gothic"/>
                <a:cs typeface="Yu Gothic"/>
              </a:defRPr>
            </a:pPr>
            <a:r>
              <a:rPr lang="ja-JP" altLang="ja-JP" sz="1875" b="1"/>
              <a:t>突然発生することが多く、介護者や支援者が常に目視で確認すること</a:t>
            </a:r>
            <a:r>
              <a:rPr lang="ja-JP" altLang="en-US" sz="1875" b="1"/>
              <a:t>は困難</a:t>
            </a:r>
            <a:endParaRPr lang="en-US" altLang="ja-JP" sz="1875" b="1" dirty="0"/>
          </a:p>
          <a:p>
            <a:pPr>
              <a:defRPr sz="1875" b="1">
                <a:solidFill>
                  <a:srgbClr val="0B1220"/>
                </a:solidFill>
                <a:latin typeface="Yu Gothic"/>
                <a:ea typeface="Yu Gothic"/>
                <a:cs typeface="Yu Gothic"/>
              </a:defRPr>
            </a:pPr>
            <a:r>
              <a:rPr lang="en-US" altLang="ja-JP" sz="1200" b="1" dirty="0"/>
              <a:t>	</a:t>
            </a:r>
            <a:r>
              <a:rPr lang="ja-JP" altLang="ja-JP" sz="1200" b="1"/>
              <a:t>These behaviors often occur suddenly, making it difficult for caregivers and support staff to continuously monitor them visually</a:t>
            </a:r>
            <a:endParaRPr sz="1200" b="1" dirty="0">
              <a:solidFill>
                <a:srgbClr val="0B1220"/>
              </a:solidFill>
              <a:latin typeface="Yu Gothic"/>
              <a:ea typeface="Yu Gothic"/>
              <a:cs typeface="Yu Gothic"/>
            </a:endParaRPr>
          </a:p>
        </p:txBody>
      </p:sp>
      <p:sp>
        <p:nvSpPr>
          <p:cNvPr id="8" name="角丸四角形 7">
            <a:extLst>
              <a:ext uri="{FF2B5EF4-FFF2-40B4-BE49-F238E27FC236}">
                <a16:creationId xmlns:a16="http://schemas.microsoft.com/office/drawing/2014/main" id="{D8E3A843-2A49-4EFD-AC5D-117D48C28860}"/>
              </a:ext>
            </a:extLst>
          </p:cNvPr>
          <p:cNvSpPr>
            <a:spLocks noGrp="1"/>
          </p:cNvSpPr>
          <p:nvPr/>
        </p:nvSpPr>
        <p:spPr>
          <a:xfrm>
            <a:off x="914400" y="3019423"/>
            <a:ext cx="1714500" cy="1295400"/>
          </a:xfrm>
          <a:prstGeom prst="roundRect">
            <a:avLst>
              <a:gd name="adj" fmla="val 11765"/>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9" name="正方形/長方形 8">
            <a:extLst>
              <a:ext uri="{FF2B5EF4-FFF2-40B4-BE49-F238E27FC236}">
                <a16:creationId xmlns:a16="http://schemas.microsoft.com/office/drawing/2014/main" id="{F7F2A601-ABA5-4ACB-BFF7-C7D62A70897D}"/>
              </a:ext>
            </a:extLst>
          </p:cNvPr>
          <p:cNvSpPr>
            <a:spLocks noGrp="1"/>
          </p:cNvSpPr>
          <p:nvPr/>
        </p:nvSpPr>
        <p:spPr>
          <a:xfrm>
            <a:off x="914400" y="3314698"/>
            <a:ext cx="1714500" cy="304800"/>
          </a:xfrm>
          <a:prstGeom prst="rect">
            <a:avLst/>
          </a:prstGeom>
          <a:noFill/>
          <a:ln w="0">
            <a:noFill/>
            <a:prstDash val="solid"/>
          </a:ln>
        </p:spPr>
        <p:txBody>
          <a:bodyPr/>
          <a:lstStyle/>
          <a:p>
            <a:pPr algn="ctr">
              <a:defRPr sz="1950" b="1">
                <a:solidFill>
                  <a:srgbClr val="0B1220"/>
                </a:solidFill>
                <a:latin typeface="Yu Gothic"/>
                <a:ea typeface="Yu Gothic"/>
                <a:cs typeface="Yu Gothic"/>
              </a:defRPr>
            </a:pPr>
            <a:r>
              <a:rPr sz="1950" b="1">
                <a:solidFill>
                  <a:srgbClr val="0B1220"/>
                </a:solidFill>
                <a:latin typeface="Yu Gothic"/>
                <a:ea typeface="Yu Gothic"/>
                <a:cs typeface="Yu Gothic"/>
              </a:rPr>
              <a:t>Video</a:t>
            </a:r>
          </a:p>
        </p:txBody>
      </p:sp>
      <p:sp>
        <p:nvSpPr>
          <p:cNvPr id="10" name="正方形/長方形 9">
            <a:extLst>
              <a:ext uri="{FF2B5EF4-FFF2-40B4-BE49-F238E27FC236}">
                <a16:creationId xmlns:a16="http://schemas.microsoft.com/office/drawing/2014/main" id="{A182352C-6788-4235-A1B7-63431FB39042}"/>
              </a:ext>
            </a:extLst>
          </p:cNvPr>
          <p:cNvSpPr>
            <a:spLocks noGrp="1"/>
          </p:cNvSpPr>
          <p:nvPr/>
        </p:nvSpPr>
        <p:spPr>
          <a:xfrm>
            <a:off x="1028700" y="3733798"/>
            <a:ext cx="1485900" cy="361950"/>
          </a:xfrm>
          <a:prstGeom prst="rect">
            <a:avLst/>
          </a:prstGeom>
          <a:noFill/>
          <a:ln w="0">
            <a:noFill/>
            <a:prstDash val="solid"/>
          </a:ln>
        </p:spPr>
        <p:txBody>
          <a:bodyPr/>
          <a:lstStyle/>
          <a:p>
            <a:pPr algn="ctr">
              <a:defRPr sz="1275" b="0">
                <a:solidFill>
                  <a:srgbClr val="334155"/>
                </a:solidFill>
                <a:latin typeface="Yu Gothic"/>
                <a:ea typeface="Yu Gothic"/>
                <a:cs typeface="Yu Gothic"/>
              </a:defRPr>
            </a:pPr>
            <a:r>
              <a:rPr sz="1275" b="0" dirty="0" err="1">
                <a:solidFill>
                  <a:srgbClr val="334155"/>
                </a:solidFill>
                <a:latin typeface="Yu Gothic"/>
                <a:ea typeface="Yu Gothic"/>
                <a:cs typeface="Yu Gothic"/>
              </a:rPr>
              <a:t>カメラ映像</a:t>
            </a:r>
            <a:endParaRPr sz="1275" b="0" dirty="0">
              <a:solidFill>
                <a:srgbClr val="334155"/>
              </a:solidFill>
              <a:latin typeface="Yu Gothic"/>
              <a:ea typeface="Yu Gothic"/>
              <a:cs typeface="Yu Gothic"/>
            </a:endParaRPr>
          </a:p>
        </p:txBody>
      </p:sp>
      <p:sp>
        <p:nvSpPr>
          <p:cNvPr id="11" name="正方形/長方形 10">
            <a:extLst>
              <a:ext uri="{FF2B5EF4-FFF2-40B4-BE49-F238E27FC236}">
                <a16:creationId xmlns:a16="http://schemas.microsoft.com/office/drawing/2014/main" id="{897A2CD2-7360-499E-8365-428FB3ACEFCA}"/>
              </a:ext>
            </a:extLst>
          </p:cNvPr>
          <p:cNvSpPr>
            <a:spLocks noGrp="1"/>
          </p:cNvSpPr>
          <p:nvPr/>
        </p:nvSpPr>
        <p:spPr>
          <a:xfrm>
            <a:off x="2819400" y="3638548"/>
            <a:ext cx="628650" cy="38100"/>
          </a:xfrm>
          <a:prstGeom prst="rect">
            <a:avLst/>
          </a:prstGeom>
          <a:solidFill>
            <a:srgbClr val="94A3B8"/>
          </a:solidFill>
          <a:ln w="0">
            <a:noFill/>
            <a:prstDash val="solid"/>
          </a:ln>
        </p:spPr>
        <p:txBody>
          <a:bodyPr/>
          <a:lstStyle/>
          <a:p>
            <a:endParaRPr lang="ja-JP" altLang="en-US"/>
          </a:p>
        </p:txBody>
      </p:sp>
      <p:sp>
        <p:nvSpPr>
          <p:cNvPr id="12" name="三角形 11">
            <a:extLst>
              <a:ext uri="{FF2B5EF4-FFF2-40B4-BE49-F238E27FC236}">
                <a16:creationId xmlns:a16="http://schemas.microsoft.com/office/drawing/2014/main" id="{61986429-14E0-40F9-A069-0CA710128EF5}"/>
              </a:ext>
            </a:extLst>
          </p:cNvPr>
          <p:cNvSpPr>
            <a:spLocks noGrp="1"/>
          </p:cNvSpPr>
          <p:nvPr/>
        </p:nvSpPr>
        <p:spPr>
          <a:xfrm rot="5400000">
            <a:off x="3409950" y="3552823"/>
            <a:ext cx="209550" cy="209550"/>
          </a:xfrm>
          <a:prstGeom prst="triangle">
            <a:avLst/>
          </a:prstGeom>
          <a:solidFill>
            <a:srgbClr val="94A3B8"/>
          </a:solidFill>
          <a:ln w="0">
            <a:noFill/>
            <a:prstDash val="solid"/>
          </a:ln>
        </p:spPr>
        <p:txBody>
          <a:bodyPr/>
          <a:lstStyle/>
          <a:p>
            <a:endParaRPr lang="ja-JP" altLang="en-US"/>
          </a:p>
        </p:txBody>
      </p:sp>
      <p:sp>
        <p:nvSpPr>
          <p:cNvPr id="13" name="角丸四角形 12">
            <a:extLst>
              <a:ext uri="{FF2B5EF4-FFF2-40B4-BE49-F238E27FC236}">
                <a16:creationId xmlns:a16="http://schemas.microsoft.com/office/drawing/2014/main" id="{05C7CC68-90D9-4B84-B7C7-02EFA2DCC70B}"/>
              </a:ext>
            </a:extLst>
          </p:cNvPr>
          <p:cNvSpPr>
            <a:spLocks noGrp="1"/>
          </p:cNvSpPr>
          <p:nvPr/>
        </p:nvSpPr>
        <p:spPr>
          <a:xfrm>
            <a:off x="3981450" y="3019423"/>
            <a:ext cx="1714500" cy="1295400"/>
          </a:xfrm>
          <a:prstGeom prst="roundRect">
            <a:avLst>
              <a:gd name="adj" fmla="val 11765"/>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14" name="正方形/長方形 13">
            <a:extLst>
              <a:ext uri="{FF2B5EF4-FFF2-40B4-BE49-F238E27FC236}">
                <a16:creationId xmlns:a16="http://schemas.microsoft.com/office/drawing/2014/main" id="{1E63ED53-686A-453C-AE5B-57DADEA6636A}"/>
              </a:ext>
            </a:extLst>
          </p:cNvPr>
          <p:cNvSpPr>
            <a:spLocks noGrp="1"/>
          </p:cNvSpPr>
          <p:nvPr/>
        </p:nvSpPr>
        <p:spPr>
          <a:xfrm>
            <a:off x="3981450" y="3314698"/>
            <a:ext cx="1714500" cy="304800"/>
          </a:xfrm>
          <a:prstGeom prst="rect">
            <a:avLst/>
          </a:prstGeom>
          <a:noFill/>
          <a:ln w="0">
            <a:noFill/>
            <a:prstDash val="solid"/>
          </a:ln>
        </p:spPr>
        <p:txBody>
          <a:bodyPr/>
          <a:lstStyle/>
          <a:p>
            <a:pPr algn="ctr">
              <a:defRPr sz="1950" b="1">
                <a:solidFill>
                  <a:srgbClr val="0EA5E9"/>
                </a:solidFill>
                <a:latin typeface="Yu Gothic"/>
                <a:ea typeface="Yu Gothic"/>
                <a:cs typeface="Yu Gothic"/>
              </a:defRPr>
            </a:pPr>
            <a:r>
              <a:rPr sz="1950" b="1">
                <a:solidFill>
                  <a:srgbClr val="0EA5E9"/>
                </a:solidFill>
                <a:latin typeface="Yu Gothic"/>
                <a:ea typeface="Yu Gothic"/>
                <a:cs typeface="Yu Gothic"/>
              </a:rPr>
              <a:t>Pose</a:t>
            </a:r>
          </a:p>
        </p:txBody>
      </p:sp>
      <p:sp>
        <p:nvSpPr>
          <p:cNvPr id="15" name="正方形/長方形 14">
            <a:extLst>
              <a:ext uri="{FF2B5EF4-FFF2-40B4-BE49-F238E27FC236}">
                <a16:creationId xmlns:a16="http://schemas.microsoft.com/office/drawing/2014/main" id="{98AB4670-CCE8-49DE-9050-ACD895D59813}"/>
              </a:ext>
            </a:extLst>
          </p:cNvPr>
          <p:cNvSpPr>
            <a:spLocks noGrp="1"/>
          </p:cNvSpPr>
          <p:nvPr/>
        </p:nvSpPr>
        <p:spPr>
          <a:xfrm>
            <a:off x="4095750" y="3733798"/>
            <a:ext cx="1485900" cy="361950"/>
          </a:xfrm>
          <a:prstGeom prst="rect">
            <a:avLst/>
          </a:prstGeom>
          <a:noFill/>
          <a:ln w="0">
            <a:noFill/>
            <a:prstDash val="solid"/>
          </a:ln>
        </p:spPr>
        <p:txBody>
          <a:bodyPr/>
          <a:lstStyle/>
          <a:p>
            <a:pPr algn="ctr">
              <a:defRPr sz="1275" b="0">
                <a:solidFill>
                  <a:srgbClr val="334155"/>
                </a:solidFill>
                <a:latin typeface="Yu Gothic"/>
                <a:ea typeface="Yu Gothic"/>
                <a:cs typeface="Yu Gothic"/>
              </a:defRPr>
            </a:pPr>
            <a:r>
              <a:rPr lang="ja-JP" altLang="ja-JP" sz="1275"/>
              <a:t>姿勢キーポイントデータ</a:t>
            </a:r>
            <a:endParaRPr sz="1275" b="0" dirty="0">
              <a:solidFill>
                <a:srgbClr val="334155"/>
              </a:solidFill>
              <a:latin typeface="Yu Gothic"/>
              <a:ea typeface="Yu Gothic"/>
              <a:cs typeface="Yu Gothic"/>
            </a:endParaRPr>
          </a:p>
        </p:txBody>
      </p:sp>
      <p:sp>
        <p:nvSpPr>
          <p:cNvPr id="16" name="正方形/長方形 15">
            <a:extLst>
              <a:ext uri="{FF2B5EF4-FFF2-40B4-BE49-F238E27FC236}">
                <a16:creationId xmlns:a16="http://schemas.microsoft.com/office/drawing/2014/main" id="{8AC1DF65-81A1-4E01-8B62-9746ECD389C8}"/>
              </a:ext>
            </a:extLst>
          </p:cNvPr>
          <p:cNvSpPr>
            <a:spLocks noGrp="1"/>
          </p:cNvSpPr>
          <p:nvPr/>
        </p:nvSpPr>
        <p:spPr>
          <a:xfrm>
            <a:off x="5886450" y="3638548"/>
            <a:ext cx="628650" cy="38100"/>
          </a:xfrm>
          <a:prstGeom prst="rect">
            <a:avLst/>
          </a:prstGeom>
          <a:solidFill>
            <a:srgbClr val="94A3B8"/>
          </a:solidFill>
          <a:ln w="0">
            <a:noFill/>
            <a:prstDash val="solid"/>
          </a:ln>
        </p:spPr>
        <p:txBody>
          <a:bodyPr/>
          <a:lstStyle/>
          <a:p>
            <a:endParaRPr lang="ja-JP" altLang="en-US"/>
          </a:p>
        </p:txBody>
      </p:sp>
      <p:sp>
        <p:nvSpPr>
          <p:cNvPr id="17" name="三角形 16">
            <a:extLst>
              <a:ext uri="{FF2B5EF4-FFF2-40B4-BE49-F238E27FC236}">
                <a16:creationId xmlns:a16="http://schemas.microsoft.com/office/drawing/2014/main" id="{5062DE82-FFC3-4CFF-ADFF-96755EB83BDE}"/>
              </a:ext>
            </a:extLst>
          </p:cNvPr>
          <p:cNvSpPr>
            <a:spLocks noGrp="1"/>
          </p:cNvSpPr>
          <p:nvPr/>
        </p:nvSpPr>
        <p:spPr>
          <a:xfrm rot="19921891">
            <a:off x="6448426" y="3533773"/>
            <a:ext cx="209550" cy="209550"/>
          </a:xfrm>
          <a:prstGeom prst="triangle">
            <a:avLst/>
          </a:prstGeom>
          <a:solidFill>
            <a:srgbClr val="94A3B8"/>
          </a:solidFill>
          <a:ln w="0">
            <a:noFill/>
            <a:prstDash val="solid"/>
          </a:ln>
        </p:spPr>
        <p:txBody>
          <a:bodyPr/>
          <a:lstStyle/>
          <a:p>
            <a:endParaRPr lang="ja-JP" altLang="en-US"/>
          </a:p>
        </p:txBody>
      </p:sp>
      <p:sp>
        <p:nvSpPr>
          <p:cNvPr id="18" name="角丸四角形 17">
            <a:extLst>
              <a:ext uri="{FF2B5EF4-FFF2-40B4-BE49-F238E27FC236}">
                <a16:creationId xmlns:a16="http://schemas.microsoft.com/office/drawing/2014/main" id="{B4D27F48-BF1F-42A5-A711-024EF73C25CD}"/>
              </a:ext>
            </a:extLst>
          </p:cNvPr>
          <p:cNvSpPr>
            <a:spLocks noGrp="1"/>
          </p:cNvSpPr>
          <p:nvPr/>
        </p:nvSpPr>
        <p:spPr>
          <a:xfrm>
            <a:off x="7048500" y="3019423"/>
            <a:ext cx="1714500" cy="1295400"/>
          </a:xfrm>
          <a:prstGeom prst="roundRect">
            <a:avLst>
              <a:gd name="adj" fmla="val 11765"/>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19" name="正方形/長方形 18">
            <a:extLst>
              <a:ext uri="{FF2B5EF4-FFF2-40B4-BE49-F238E27FC236}">
                <a16:creationId xmlns:a16="http://schemas.microsoft.com/office/drawing/2014/main" id="{7433E758-8E33-44BB-B482-EDE57D8FD3DB}"/>
              </a:ext>
            </a:extLst>
          </p:cNvPr>
          <p:cNvSpPr>
            <a:spLocks noGrp="1"/>
          </p:cNvSpPr>
          <p:nvPr/>
        </p:nvSpPr>
        <p:spPr>
          <a:xfrm>
            <a:off x="7032336" y="3157394"/>
            <a:ext cx="1714500" cy="700227"/>
          </a:xfrm>
          <a:prstGeom prst="rect">
            <a:avLst/>
          </a:prstGeom>
          <a:noFill/>
          <a:ln w="0">
            <a:noFill/>
            <a:prstDash val="solid"/>
          </a:ln>
        </p:spPr>
        <p:txBody>
          <a:bodyPr/>
          <a:lstStyle/>
          <a:p>
            <a:pPr algn="ctr">
              <a:defRPr sz="1950" b="1">
                <a:solidFill>
                  <a:srgbClr val="0B1220"/>
                </a:solidFill>
                <a:latin typeface="Yu Gothic"/>
                <a:ea typeface="Yu Gothic"/>
                <a:cs typeface="Yu Gothic"/>
              </a:defRPr>
            </a:pPr>
            <a:r>
              <a:rPr lang="ja-JP" altLang="ja-JP" sz="1950" b="1"/>
              <a:t>Feature extraction</a:t>
            </a:r>
            <a:endParaRPr sz="1950" b="1" dirty="0">
              <a:solidFill>
                <a:srgbClr val="0B1220"/>
              </a:solidFill>
              <a:latin typeface="Yu Gothic"/>
              <a:ea typeface="Yu Gothic"/>
              <a:cs typeface="Yu Gothic"/>
            </a:endParaRPr>
          </a:p>
        </p:txBody>
      </p:sp>
      <p:sp>
        <p:nvSpPr>
          <p:cNvPr id="20" name="正方形/長方形 19">
            <a:extLst>
              <a:ext uri="{FF2B5EF4-FFF2-40B4-BE49-F238E27FC236}">
                <a16:creationId xmlns:a16="http://schemas.microsoft.com/office/drawing/2014/main" id="{1981FE26-17C5-4CC5-9903-C95B3373782D}"/>
              </a:ext>
            </a:extLst>
          </p:cNvPr>
          <p:cNvSpPr>
            <a:spLocks noGrp="1"/>
          </p:cNvSpPr>
          <p:nvPr/>
        </p:nvSpPr>
        <p:spPr>
          <a:xfrm>
            <a:off x="7162800" y="3914773"/>
            <a:ext cx="1485900" cy="361950"/>
          </a:xfrm>
          <a:prstGeom prst="rect">
            <a:avLst/>
          </a:prstGeom>
          <a:noFill/>
          <a:ln w="0">
            <a:noFill/>
            <a:prstDash val="solid"/>
          </a:ln>
        </p:spPr>
        <p:txBody>
          <a:bodyPr/>
          <a:lstStyle/>
          <a:p>
            <a:pPr algn="ctr">
              <a:defRPr sz="1275" b="0">
                <a:solidFill>
                  <a:srgbClr val="334155"/>
                </a:solidFill>
                <a:latin typeface="Yu Gothic"/>
                <a:ea typeface="Yu Gothic"/>
                <a:cs typeface="Yu Gothic"/>
              </a:defRPr>
            </a:pPr>
            <a:r>
              <a:rPr lang="ja-JP" altLang="en-US" sz="1275">
                <a:solidFill>
                  <a:srgbClr val="334155"/>
                </a:solidFill>
                <a:latin typeface="Yu Gothic"/>
                <a:ea typeface="Yu Gothic"/>
                <a:cs typeface="Yu Gothic"/>
              </a:rPr>
              <a:t>特徴量作成</a:t>
            </a:r>
            <a:endParaRPr sz="1275" b="0" dirty="0">
              <a:solidFill>
                <a:srgbClr val="334155"/>
              </a:solidFill>
              <a:latin typeface="Yu Gothic"/>
              <a:ea typeface="Yu Gothic"/>
              <a:cs typeface="Yu Gothic"/>
            </a:endParaRPr>
          </a:p>
        </p:txBody>
      </p:sp>
      <p:sp>
        <p:nvSpPr>
          <p:cNvPr id="21" name="正方形/長方形 20">
            <a:extLst>
              <a:ext uri="{FF2B5EF4-FFF2-40B4-BE49-F238E27FC236}">
                <a16:creationId xmlns:a16="http://schemas.microsoft.com/office/drawing/2014/main" id="{4E8BF860-1E3F-4DBE-B516-C2939774451D}"/>
              </a:ext>
            </a:extLst>
          </p:cNvPr>
          <p:cNvSpPr>
            <a:spLocks noGrp="1"/>
          </p:cNvSpPr>
          <p:nvPr/>
        </p:nvSpPr>
        <p:spPr>
          <a:xfrm>
            <a:off x="8953500" y="3638548"/>
            <a:ext cx="628650" cy="38100"/>
          </a:xfrm>
          <a:prstGeom prst="rect">
            <a:avLst/>
          </a:prstGeom>
          <a:solidFill>
            <a:srgbClr val="94A3B8"/>
          </a:solidFill>
          <a:ln w="0">
            <a:noFill/>
            <a:prstDash val="solid"/>
          </a:ln>
        </p:spPr>
        <p:txBody>
          <a:bodyPr/>
          <a:lstStyle/>
          <a:p>
            <a:endParaRPr lang="ja-JP" altLang="en-US"/>
          </a:p>
        </p:txBody>
      </p:sp>
      <p:sp>
        <p:nvSpPr>
          <p:cNvPr id="22" name="三角形 21">
            <a:extLst>
              <a:ext uri="{FF2B5EF4-FFF2-40B4-BE49-F238E27FC236}">
                <a16:creationId xmlns:a16="http://schemas.microsoft.com/office/drawing/2014/main" id="{B73A100C-BB4C-4EFA-AC5F-34D9224F312B}"/>
              </a:ext>
            </a:extLst>
          </p:cNvPr>
          <p:cNvSpPr>
            <a:spLocks noGrp="1"/>
          </p:cNvSpPr>
          <p:nvPr/>
        </p:nvSpPr>
        <p:spPr>
          <a:xfrm rot="19903301">
            <a:off x="9506917" y="3528056"/>
            <a:ext cx="209550" cy="209550"/>
          </a:xfrm>
          <a:prstGeom prst="triangle">
            <a:avLst/>
          </a:prstGeom>
          <a:solidFill>
            <a:srgbClr val="94A3B8"/>
          </a:solidFill>
          <a:ln w="0">
            <a:noFill/>
            <a:prstDash val="solid"/>
          </a:ln>
        </p:spPr>
        <p:txBody>
          <a:bodyPr/>
          <a:lstStyle/>
          <a:p>
            <a:endParaRPr lang="ja-JP" altLang="en-US"/>
          </a:p>
        </p:txBody>
      </p:sp>
      <p:sp>
        <p:nvSpPr>
          <p:cNvPr id="23" name="角丸四角形 22">
            <a:extLst>
              <a:ext uri="{FF2B5EF4-FFF2-40B4-BE49-F238E27FC236}">
                <a16:creationId xmlns:a16="http://schemas.microsoft.com/office/drawing/2014/main" id="{880862B6-BCC0-43BB-B8CD-36249845A573}"/>
              </a:ext>
            </a:extLst>
          </p:cNvPr>
          <p:cNvSpPr>
            <a:spLocks noGrp="1"/>
          </p:cNvSpPr>
          <p:nvPr/>
        </p:nvSpPr>
        <p:spPr>
          <a:xfrm>
            <a:off x="9814791" y="3019423"/>
            <a:ext cx="1714500" cy="1295400"/>
          </a:xfrm>
          <a:prstGeom prst="roundRect">
            <a:avLst>
              <a:gd name="adj" fmla="val 11765"/>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24" name="正方形/長方形 23">
            <a:extLst>
              <a:ext uri="{FF2B5EF4-FFF2-40B4-BE49-F238E27FC236}">
                <a16:creationId xmlns:a16="http://schemas.microsoft.com/office/drawing/2014/main" id="{33573E5F-D247-4590-B63A-10DD7D6FC593}"/>
              </a:ext>
            </a:extLst>
          </p:cNvPr>
          <p:cNvSpPr>
            <a:spLocks noGrp="1"/>
          </p:cNvSpPr>
          <p:nvPr/>
        </p:nvSpPr>
        <p:spPr>
          <a:xfrm>
            <a:off x="9733974" y="3258847"/>
            <a:ext cx="1906154" cy="304800"/>
          </a:xfrm>
          <a:prstGeom prst="rect">
            <a:avLst/>
          </a:prstGeom>
          <a:noFill/>
          <a:ln w="0">
            <a:noFill/>
            <a:prstDash val="solid"/>
          </a:ln>
        </p:spPr>
        <p:txBody>
          <a:bodyPr/>
          <a:lstStyle/>
          <a:p>
            <a:pPr algn="ctr">
              <a:defRPr sz="1950" b="1">
                <a:solidFill>
                  <a:srgbClr val="F97316"/>
                </a:solidFill>
                <a:latin typeface="Yu Gothic"/>
                <a:ea typeface="Yu Gothic"/>
                <a:cs typeface="Yu Gothic"/>
              </a:defRPr>
            </a:pPr>
            <a:r>
              <a:rPr lang="en" sz="1950" b="1" dirty="0">
                <a:solidFill>
                  <a:srgbClr val="F97316"/>
                </a:solidFill>
                <a:latin typeface="Yu Gothic"/>
                <a:ea typeface="Yu Gothic"/>
                <a:cs typeface="Yu Gothic"/>
              </a:rPr>
              <a:t>Classification</a:t>
            </a:r>
            <a:endParaRPr sz="1950" b="1" dirty="0">
              <a:solidFill>
                <a:srgbClr val="F97316"/>
              </a:solidFill>
              <a:latin typeface="Yu Gothic"/>
              <a:ea typeface="Yu Gothic"/>
              <a:cs typeface="Yu Gothic"/>
            </a:endParaRPr>
          </a:p>
        </p:txBody>
      </p:sp>
      <p:sp>
        <p:nvSpPr>
          <p:cNvPr id="25" name="正方形/長方形 24">
            <a:extLst>
              <a:ext uri="{FF2B5EF4-FFF2-40B4-BE49-F238E27FC236}">
                <a16:creationId xmlns:a16="http://schemas.microsoft.com/office/drawing/2014/main" id="{8F3CDBD5-A010-4F8A-BDC8-B615C0C9ADDD}"/>
              </a:ext>
            </a:extLst>
          </p:cNvPr>
          <p:cNvSpPr>
            <a:spLocks noGrp="1"/>
          </p:cNvSpPr>
          <p:nvPr/>
        </p:nvSpPr>
        <p:spPr>
          <a:xfrm>
            <a:off x="9929091" y="3733798"/>
            <a:ext cx="1485900" cy="361950"/>
          </a:xfrm>
          <a:prstGeom prst="rect">
            <a:avLst/>
          </a:prstGeom>
          <a:noFill/>
          <a:ln w="0">
            <a:noFill/>
            <a:prstDash val="solid"/>
          </a:ln>
        </p:spPr>
        <p:txBody>
          <a:bodyPr/>
          <a:lstStyle/>
          <a:p>
            <a:pPr algn="ctr">
              <a:defRPr sz="1275" b="0">
                <a:solidFill>
                  <a:srgbClr val="334155"/>
                </a:solidFill>
                <a:latin typeface="Yu Gothic"/>
                <a:ea typeface="Yu Gothic"/>
                <a:cs typeface="Yu Gothic"/>
              </a:defRPr>
            </a:pPr>
            <a:r>
              <a:rPr lang="ja-JP" altLang="en-US" sz="1275" b="0">
                <a:solidFill>
                  <a:srgbClr val="334155"/>
                </a:solidFill>
                <a:latin typeface="Yu Gothic"/>
                <a:ea typeface="Yu Gothic"/>
                <a:cs typeface="Yu Gothic"/>
              </a:rPr>
              <a:t>分類・評価</a:t>
            </a:r>
            <a:endParaRPr sz="1275" b="0" dirty="0">
              <a:solidFill>
                <a:srgbClr val="334155"/>
              </a:solidFill>
              <a:latin typeface="Yu Gothic"/>
              <a:ea typeface="Yu Gothic"/>
              <a:cs typeface="Yu Gothic"/>
            </a:endParaRPr>
          </a:p>
        </p:txBody>
      </p:sp>
      <p:sp>
        <p:nvSpPr>
          <p:cNvPr id="26" name="角丸四角形 25">
            <a:extLst>
              <a:ext uri="{FF2B5EF4-FFF2-40B4-BE49-F238E27FC236}">
                <a16:creationId xmlns:a16="http://schemas.microsoft.com/office/drawing/2014/main" id="{3398CACE-C507-4BA9-B904-06F1FB4B5B88}"/>
              </a:ext>
            </a:extLst>
          </p:cNvPr>
          <p:cNvSpPr>
            <a:spLocks noGrp="1"/>
          </p:cNvSpPr>
          <p:nvPr/>
        </p:nvSpPr>
        <p:spPr>
          <a:xfrm>
            <a:off x="876300" y="4867275"/>
            <a:ext cx="3238500" cy="1257300"/>
          </a:xfrm>
          <a:prstGeom prst="roundRect">
            <a:avLst>
              <a:gd name="adj" fmla="val 12121"/>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27" name="正方形/長方形 26">
            <a:extLst>
              <a:ext uri="{FF2B5EF4-FFF2-40B4-BE49-F238E27FC236}">
                <a16:creationId xmlns:a16="http://schemas.microsoft.com/office/drawing/2014/main" id="{3D2F9063-4054-4545-BDAF-B9E532D0396D}"/>
              </a:ext>
            </a:extLst>
          </p:cNvPr>
          <p:cNvSpPr>
            <a:spLocks noGrp="1"/>
          </p:cNvSpPr>
          <p:nvPr/>
        </p:nvSpPr>
        <p:spPr>
          <a:xfrm>
            <a:off x="876300" y="4867275"/>
            <a:ext cx="66675" cy="1257300"/>
          </a:xfrm>
          <a:prstGeom prst="rect">
            <a:avLst/>
          </a:prstGeom>
          <a:solidFill>
            <a:srgbClr val="0EA5E9"/>
          </a:solidFill>
          <a:ln w="0">
            <a:noFill/>
            <a:prstDash val="solid"/>
          </a:ln>
        </p:spPr>
        <p:txBody>
          <a:bodyPr/>
          <a:lstStyle/>
          <a:p>
            <a:endParaRPr lang="ja-JP" altLang="en-US"/>
          </a:p>
        </p:txBody>
      </p:sp>
      <p:sp>
        <p:nvSpPr>
          <p:cNvPr id="28" name="正方形/長方形 27">
            <a:extLst>
              <a:ext uri="{FF2B5EF4-FFF2-40B4-BE49-F238E27FC236}">
                <a16:creationId xmlns:a16="http://schemas.microsoft.com/office/drawing/2014/main" id="{50961DD4-DDE8-41C4-BB58-665850174E0E}"/>
              </a:ext>
            </a:extLst>
          </p:cNvPr>
          <p:cNvSpPr>
            <a:spLocks noGrp="1"/>
          </p:cNvSpPr>
          <p:nvPr/>
        </p:nvSpPr>
        <p:spPr>
          <a:xfrm>
            <a:off x="1104900" y="5057775"/>
            <a:ext cx="2819400" cy="285750"/>
          </a:xfrm>
          <a:prstGeom prst="rect">
            <a:avLst/>
          </a:prstGeom>
          <a:noFill/>
          <a:ln w="0">
            <a:noFill/>
            <a:prstDash val="solid"/>
          </a:ln>
        </p:spPr>
        <p:txBody>
          <a:bodyPr/>
          <a:lstStyle/>
          <a:p>
            <a:pPr algn="l">
              <a:defRPr sz="1575" b="1">
                <a:solidFill>
                  <a:srgbClr val="0B1220"/>
                </a:solidFill>
                <a:latin typeface="Yu Gothic"/>
                <a:ea typeface="Yu Gothic"/>
                <a:cs typeface="Yu Gothic"/>
              </a:defRPr>
            </a:pPr>
            <a:r>
              <a:rPr sz="1575" b="1">
                <a:solidFill>
                  <a:srgbClr val="0B1220"/>
                </a:solidFill>
                <a:latin typeface="Yu Gothic"/>
                <a:ea typeface="Yu Gothic"/>
                <a:cs typeface="Yu Gothic"/>
              </a:rPr>
              <a:t>プライバシー配慮</a:t>
            </a:r>
          </a:p>
        </p:txBody>
      </p:sp>
      <p:sp>
        <p:nvSpPr>
          <p:cNvPr id="29" name="正方形/長方形 28">
            <a:extLst>
              <a:ext uri="{FF2B5EF4-FFF2-40B4-BE49-F238E27FC236}">
                <a16:creationId xmlns:a16="http://schemas.microsoft.com/office/drawing/2014/main" id="{94339A2E-407A-458D-8CB2-E39A8162C278}"/>
              </a:ext>
            </a:extLst>
          </p:cNvPr>
          <p:cNvSpPr>
            <a:spLocks noGrp="1"/>
          </p:cNvSpPr>
          <p:nvPr/>
        </p:nvSpPr>
        <p:spPr>
          <a:xfrm>
            <a:off x="1104900" y="5419725"/>
            <a:ext cx="2819400" cy="571500"/>
          </a:xfrm>
          <a:prstGeom prst="rect">
            <a:avLst/>
          </a:prstGeom>
          <a:noFill/>
          <a:ln w="0">
            <a:noFill/>
            <a:prstDash val="solid"/>
          </a:ln>
        </p:spPr>
        <p:txBody>
          <a:bodyPr/>
          <a:lstStyle/>
          <a:p>
            <a:pPr algn="l">
              <a:defRPr sz="1275" b="0">
                <a:solidFill>
                  <a:srgbClr val="334155"/>
                </a:solidFill>
                <a:latin typeface="Yu Gothic"/>
                <a:ea typeface="Yu Gothic"/>
                <a:cs typeface="Yu Gothic"/>
              </a:defRPr>
            </a:pPr>
            <a:r>
              <a:rPr sz="1275" b="0">
                <a:solidFill>
                  <a:srgbClr val="334155"/>
                </a:solidFill>
                <a:latin typeface="Yu Gothic"/>
                <a:ea typeface="Yu Gothic"/>
                <a:cs typeface="Yu Gothic"/>
              </a:rPr>
              <a:t>RGB画像ではなく、匿名化された姿勢座標だけを入力にする。</a:t>
            </a:r>
          </a:p>
        </p:txBody>
      </p:sp>
      <p:sp>
        <p:nvSpPr>
          <p:cNvPr id="30" name="角丸四角形 29">
            <a:extLst>
              <a:ext uri="{FF2B5EF4-FFF2-40B4-BE49-F238E27FC236}">
                <a16:creationId xmlns:a16="http://schemas.microsoft.com/office/drawing/2014/main" id="{E0177212-0F1C-42F9-AD4A-AD2FC2EEFE66}"/>
              </a:ext>
            </a:extLst>
          </p:cNvPr>
          <p:cNvSpPr>
            <a:spLocks noGrp="1"/>
          </p:cNvSpPr>
          <p:nvPr/>
        </p:nvSpPr>
        <p:spPr>
          <a:xfrm>
            <a:off x="4476750" y="4867275"/>
            <a:ext cx="3238500" cy="1257300"/>
          </a:xfrm>
          <a:prstGeom prst="roundRect">
            <a:avLst>
              <a:gd name="adj" fmla="val 12121"/>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31" name="正方形/長方形 30">
            <a:extLst>
              <a:ext uri="{FF2B5EF4-FFF2-40B4-BE49-F238E27FC236}">
                <a16:creationId xmlns:a16="http://schemas.microsoft.com/office/drawing/2014/main" id="{4EB9E1A3-B1A8-43A1-8A19-D6FA5B6B129A}"/>
              </a:ext>
            </a:extLst>
          </p:cNvPr>
          <p:cNvSpPr>
            <a:spLocks noGrp="1"/>
          </p:cNvSpPr>
          <p:nvPr/>
        </p:nvSpPr>
        <p:spPr>
          <a:xfrm>
            <a:off x="4476750" y="4867275"/>
            <a:ext cx="66675" cy="1257300"/>
          </a:xfrm>
          <a:prstGeom prst="rect">
            <a:avLst/>
          </a:prstGeom>
          <a:solidFill>
            <a:srgbClr val="F97316"/>
          </a:solidFill>
          <a:ln w="0">
            <a:noFill/>
            <a:prstDash val="solid"/>
          </a:ln>
        </p:spPr>
        <p:txBody>
          <a:bodyPr/>
          <a:lstStyle/>
          <a:p>
            <a:endParaRPr lang="ja-JP" altLang="en-US"/>
          </a:p>
        </p:txBody>
      </p:sp>
      <p:sp>
        <p:nvSpPr>
          <p:cNvPr id="32" name="正方形/長方形 31">
            <a:extLst>
              <a:ext uri="{FF2B5EF4-FFF2-40B4-BE49-F238E27FC236}">
                <a16:creationId xmlns:a16="http://schemas.microsoft.com/office/drawing/2014/main" id="{578F41A3-D3E5-4F98-90D9-DB548F9D78B3}"/>
              </a:ext>
            </a:extLst>
          </p:cNvPr>
          <p:cNvSpPr>
            <a:spLocks noGrp="1"/>
          </p:cNvSpPr>
          <p:nvPr/>
        </p:nvSpPr>
        <p:spPr>
          <a:xfrm>
            <a:off x="4705350" y="5057775"/>
            <a:ext cx="2819400" cy="285750"/>
          </a:xfrm>
          <a:prstGeom prst="rect">
            <a:avLst/>
          </a:prstGeom>
          <a:noFill/>
          <a:ln w="0">
            <a:noFill/>
            <a:prstDash val="solid"/>
          </a:ln>
        </p:spPr>
        <p:txBody>
          <a:bodyPr/>
          <a:lstStyle/>
          <a:p>
            <a:pPr algn="l">
              <a:defRPr sz="1575" b="1">
                <a:solidFill>
                  <a:srgbClr val="0B1220"/>
                </a:solidFill>
                <a:latin typeface="Yu Gothic"/>
                <a:ea typeface="Yu Gothic"/>
                <a:cs typeface="Yu Gothic"/>
              </a:defRPr>
            </a:pPr>
            <a:r>
              <a:rPr sz="1575" b="1">
                <a:solidFill>
                  <a:srgbClr val="0B1220"/>
                </a:solidFill>
                <a:latin typeface="Yu Gothic"/>
                <a:ea typeface="Yu Gothic"/>
                <a:cs typeface="Yu Gothic"/>
              </a:rPr>
              <a:t>安全・見守り応用</a:t>
            </a:r>
          </a:p>
        </p:txBody>
      </p:sp>
      <p:sp>
        <p:nvSpPr>
          <p:cNvPr id="33" name="正方形/長方形 32">
            <a:extLst>
              <a:ext uri="{FF2B5EF4-FFF2-40B4-BE49-F238E27FC236}">
                <a16:creationId xmlns:a16="http://schemas.microsoft.com/office/drawing/2014/main" id="{96A58768-D028-4BB2-88E0-56D47DC2AA60}"/>
              </a:ext>
            </a:extLst>
          </p:cNvPr>
          <p:cNvSpPr>
            <a:spLocks noGrp="1"/>
          </p:cNvSpPr>
          <p:nvPr/>
        </p:nvSpPr>
        <p:spPr>
          <a:xfrm>
            <a:off x="4705350" y="5419725"/>
            <a:ext cx="2819400" cy="571500"/>
          </a:xfrm>
          <a:prstGeom prst="rect">
            <a:avLst/>
          </a:prstGeom>
          <a:noFill/>
          <a:ln w="0">
            <a:noFill/>
            <a:prstDash val="solid"/>
          </a:ln>
        </p:spPr>
        <p:txBody>
          <a:bodyPr/>
          <a:lstStyle/>
          <a:p>
            <a:pPr algn="l">
              <a:defRPr sz="1275" b="0">
                <a:solidFill>
                  <a:srgbClr val="334155"/>
                </a:solidFill>
                <a:latin typeface="Yu Gothic"/>
                <a:ea typeface="Yu Gothic"/>
                <a:cs typeface="Yu Gothic"/>
              </a:defRPr>
            </a:pPr>
            <a:r>
              <a:rPr sz="1275" b="0">
                <a:solidFill>
                  <a:srgbClr val="334155"/>
                </a:solidFill>
                <a:latin typeface="Yu Gothic"/>
                <a:ea typeface="Yu Gothic"/>
                <a:cs typeface="Yu Gothic"/>
              </a:rPr>
              <a:t>通常行動と異常行動を早く見分けることが価値になる。</a:t>
            </a:r>
          </a:p>
        </p:txBody>
      </p:sp>
      <p:sp>
        <p:nvSpPr>
          <p:cNvPr id="34" name="角丸四角形 33">
            <a:extLst>
              <a:ext uri="{FF2B5EF4-FFF2-40B4-BE49-F238E27FC236}">
                <a16:creationId xmlns:a16="http://schemas.microsoft.com/office/drawing/2014/main" id="{289B4A58-5BE9-4E3E-8286-E12F1F7AB745}"/>
              </a:ext>
            </a:extLst>
          </p:cNvPr>
          <p:cNvSpPr>
            <a:spLocks noGrp="1"/>
          </p:cNvSpPr>
          <p:nvPr/>
        </p:nvSpPr>
        <p:spPr>
          <a:xfrm>
            <a:off x="8077200" y="4867275"/>
            <a:ext cx="3238500" cy="1257300"/>
          </a:xfrm>
          <a:prstGeom prst="roundRect">
            <a:avLst>
              <a:gd name="adj" fmla="val 12121"/>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35" name="正方形/長方形 34">
            <a:extLst>
              <a:ext uri="{FF2B5EF4-FFF2-40B4-BE49-F238E27FC236}">
                <a16:creationId xmlns:a16="http://schemas.microsoft.com/office/drawing/2014/main" id="{728130E9-95BD-48E0-9767-4F9DB60F0C4E}"/>
              </a:ext>
            </a:extLst>
          </p:cNvPr>
          <p:cNvSpPr>
            <a:spLocks noGrp="1"/>
          </p:cNvSpPr>
          <p:nvPr/>
        </p:nvSpPr>
        <p:spPr>
          <a:xfrm>
            <a:off x="8077200" y="4867275"/>
            <a:ext cx="66675" cy="1257300"/>
          </a:xfrm>
          <a:prstGeom prst="rect">
            <a:avLst/>
          </a:prstGeom>
          <a:solidFill>
            <a:srgbClr val="22C55E"/>
          </a:solidFill>
          <a:ln w="0">
            <a:noFill/>
            <a:prstDash val="solid"/>
          </a:ln>
        </p:spPr>
        <p:txBody>
          <a:bodyPr/>
          <a:lstStyle/>
          <a:p>
            <a:endParaRPr lang="ja-JP" altLang="en-US"/>
          </a:p>
        </p:txBody>
      </p:sp>
      <p:sp>
        <p:nvSpPr>
          <p:cNvPr id="36" name="正方形/長方形 35">
            <a:extLst>
              <a:ext uri="{FF2B5EF4-FFF2-40B4-BE49-F238E27FC236}">
                <a16:creationId xmlns:a16="http://schemas.microsoft.com/office/drawing/2014/main" id="{3CF50DCC-A80D-445D-9AB2-66973C43D96F}"/>
              </a:ext>
            </a:extLst>
          </p:cNvPr>
          <p:cNvSpPr>
            <a:spLocks noGrp="1"/>
          </p:cNvSpPr>
          <p:nvPr/>
        </p:nvSpPr>
        <p:spPr>
          <a:xfrm>
            <a:off x="8305800" y="5057775"/>
            <a:ext cx="2819400" cy="285750"/>
          </a:xfrm>
          <a:prstGeom prst="rect">
            <a:avLst/>
          </a:prstGeom>
          <a:noFill/>
          <a:ln w="0">
            <a:noFill/>
            <a:prstDash val="solid"/>
          </a:ln>
        </p:spPr>
        <p:txBody>
          <a:bodyPr/>
          <a:lstStyle/>
          <a:p>
            <a:pPr algn="l">
              <a:defRPr sz="1575" b="1">
                <a:solidFill>
                  <a:srgbClr val="0B1220"/>
                </a:solidFill>
                <a:latin typeface="Yu Gothic"/>
                <a:ea typeface="Yu Gothic"/>
                <a:cs typeface="Yu Gothic"/>
              </a:defRPr>
            </a:pPr>
            <a:r>
              <a:rPr sz="1575" b="1">
                <a:solidFill>
                  <a:srgbClr val="0B1220"/>
                </a:solidFill>
                <a:latin typeface="Yu Gothic"/>
                <a:ea typeface="Yu Gothic"/>
                <a:cs typeface="Yu Gothic"/>
              </a:rPr>
              <a:t>未知人物への汎化</a:t>
            </a:r>
          </a:p>
        </p:txBody>
      </p:sp>
      <p:sp>
        <p:nvSpPr>
          <p:cNvPr id="37" name="正方形/長方形 36">
            <a:extLst>
              <a:ext uri="{FF2B5EF4-FFF2-40B4-BE49-F238E27FC236}">
                <a16:creationId xmlns:a16="http://schemas.microsoft.com/office/drawing/2014/main" id="{15DF3458-FCB0-40BE-9838-54337F5099EE}"/>
              </a:ext>
            </a:extLst>
          </p:cNvPr>
          <p:cNvSpPr>
            <a:spLocks noGrp="1"/>
          </p:cNvSpPr>
          <p:nvPr/>
        </p:nvSpPr>
        <p:spPr>
          <a:xfrm>
            <a:off x="8305800" y="5419725"/>
            <a:ext cx="2819400" cy="571500"/>
          </a:xfrm>
          <a:prstGeom prst="rect">
            <a:avLst/>
          </a:prstGeom>
          <a:noFill/>
          <a:ln w="0">
            <a:noFill/>
            <a:prstDash val="solid"/>
          </a:ln>
        </p:spPr>
        <p:txBody>
          <a:bodyPr/>
          <a:lstStyle/>
          <a:p>
            <a:pPr algn="l">
              <a:defRPr sz="1275" b="0">
                <a:solidFill>
                  <a:srgbClr val="334155"/>
                </a:solidFill>
                <a:latin typeface="Yu Gothic"/>
                <a:ea typeface="Yu Gothic"/>
                <a:cs typeface="Yu Gothic"/>
              </a:defRPr>
            </a:pPr>
            <a:r>
              <a:rPr sz="1275" b="0">
                <a:solidFill>
                  <a:srgbClr val="334155"/>
                </a:solidFill>
                <a:latin typeface="Yu Gothic"/>
                <a:ea typeface="Yu Gothic"/>
                <a:cs typeface="Yu Gothic"/>
              </a:rPr>
              <a:t>学習にいない被験者でも動くモデルが必要。</a:t>
            </a:r>
          </a:p>
        </p:txBody>
      </p:sp>
      <p:sp>
        <p:nvSpPr>
          <p:cNvPr id="40" name="テキスト ボックス 39">
            <a:extLst>
              <a:ext uri="{FF2B5EF4-FFF2-40B4-BE49-F238E27FC236}">
                <a16:creationId xmlns:a16="http://schemas.microsoft.com/office/drawing/2014/main" id="{79D00AE0-72EA-F064-D938-579119FD08A7}"/>
              </a:ext>
            </a:extLst>
          </p:cNvPr>
          <p:cNvSpPr txBox="1"/>
          <p:nvPr/>
        </p:nvSpPr>
        <p:spPr>
          <a:xfrm>
            <a:off x="2700867" y="3291213"/>
            <a:ext cx="1303867" cy="261610"/>
          </a:xfrm>
          <a:prstGeom prst="rect">
            <a:avLst/>
          </a:prstGeom>
          <a:noFill/>
        </p:spPr>
        <p:txBody>
          <a:bodyPr wrap="square">
            <a:spAutoFit/>
          </a:bodyPr>
          <a:lstStyle/>
          <a:p>
            <a:r>
              <a:rPr lang="ja-JP" altLang="ja-JP" sz="1100">
                <a:latin typeface="Yu Gothic" panose="020B0400000000000000" pitchFamily="34" charset="-128"/>
                <a:ea typeface="Yu Gothic" panose="020B0400000000000000" pitchFamily="34" charset="-128"/>
              </a:rPr>
              <a:t>骨格情報を抽出</a:t>
            </a:r>
            <a:endParaRPr lang="ja-JP" altLang="en-US" sz="1100">
              <a:latin typeface="Yu Gothic" panose="020B0400000000000000" pitchFamily="34" charset="-128"/>
              <a:ea typeface="Yu Gothic" panose="020B0400000000000000" pitchFamily="34" charset="-128"/>
            </a:endParaRPr>
          </a:p>
        </p:txBody>
      </p:sp>
      <p:sp>
        <p:nvSpPr>
          <p:cNvPr id="42" name="テキスト ボックス 41">
            <a:extLst>
              <a:ext uri="{FF2B5EF4-FFF2-40B4-BE49-F238E27FC236}">
                <a16:creationId xmlns:a16="http://schemas.microsoft.com/office/drawing/2014/main" id="{3E4F039C-C2DE-ED98-E82E-42F5E1992A29}"/>
              </a:ext>
            </a:extLst>
          </p:cNvPr>
          <p:cNvSpPr txBox="1"/>
          <p:nvPr/>
        </p:nvSpPr>
        <p:spPr>
          <a:xfrm>
            <a:off x="5772150" y="3146880"/>
            <a:ext cx="2038350" cy="430887"/>
          </a:xfrm>
          <a:prstGeom prst="rect">
            <a:avLst/>
          </a:prstGeom>
          <a:noFill/>
        </p:spPr>
        <p:txBody>
          <a:bodyPr wrap="square">
            <a:spAutoFit/>
          </a:bodyPr>
          <a:lstStyle/>
          <a:p>
            <a:r>
              <a:rPr lang="ja-JP" altLang="ja-JP" sz="1100"/>
              <a:t>ラベルを付けて</a:t>
            </a:r>
            <a:endParaRPr lang="en-US" altLang="ja-JP" sz="1100" dirty="0"/>
          </a:p>
          <a:p>
            <a:r>
              <a:rPr lang="ja-JP" altLang="ja-JP" sz="1100"/>
              <a:t>データを整理</a:t>
            </a:r>
            <a:endParaRPr lang="ja-JP" altLang="en-US" sz="1100"/>
          </a:p>
        </p:txBody>
      </p:sp>
      <p:sp>
        <p:nvSpPr>
          <p:cNvPr id="44" name="テキスト ボックス 43">
            <a:extLst>
              <a:ext uri="{FF2B5EF4-FFF2-40B4-BE49-F238E27FC236}">
                <a16:creationId xmlns:a16="http://schemas.microsoft.com/office/drawing/2014/main" id="{7C253E86-3905-BE08-37CD-B272BF12BE85}"/>
              </a:ext>
            </a:extLst>
          </p:cNvPr>
          <p:cNvSpPr txBox="1"/>
          <p:nvPr/>
        </p:nvSpPr>
        <p:spPr>
          <a:xfrm>
            <a:off x="8701809" y="3284233"/>
            <a:ext cx="1237673" cy="261610"/>
          </a:xfrm>
          <a:prstGeom prst="rect">
            <a:avLst/>
          </a:prstGeom>
          <a:noFill/>
        </p:spPr>
        <p:txBody>
          <a:bodyPr wrap="square">
            <a:spAutoFit/>
          </a:bodyPr>
          <a:lstStyle/>
          <a:p>
            <a:r>
              <a:rPr lang="ja-JP" altLang="ja-JP" sz="1100"/>
              <a:t>機械学習モデル</a:t>
            </a:r>
            <a:endParaRPr lang="ja-JP" altLang="en-US" sz="1100"/>
          </a:p>
        </p:txBody>
      </p:sp>
      <p:sp>
        <p:nvSpPr>
          <p:cNvPr id="46" name="テキスト ボックス 45">
            <a:extLst>
              <a:ext uri="{FF2B5EF4-FFF2-40B4-BE49-F238E27FC236}">
                <a16:creationId xmlns:a16="http://schemas.microsoft.com/office/drawing/2014/main" id="{9200659F-2BB4-0C9E-FD27-466748669BBF}"/>
              </a:ext>
            </a:extLst>
          </p:cNvPr>
          <p:cNvSpPr txBox="1"/>
          <p:nvPr/>
        </p:nvSpPr>
        <p:spPr>
          <a:xfrm>
            <a:off x="2828925" y="3768937"/>
            <a:ext cx="1714500" cy="415498"/>
          </a:xfrm>
          <a:prstGeom prst="rect">
            <a:avLst/>
          </a:prstGeom>
          <a:noFill/>
        </p:spPr>
        <p:txBody>
          <a:bodyPr wrap="square">
            <a:spAutoFit/>
          </a:bodyPr>
          <a:lstStyle/>
          <a:p>
            <a:r>
              <a:rPr lang="ja-JP" altLang="ja-JP" sz="1050"/>
              <a:t>Extract skeletal </a:t>
            </a:r>
            <a:endParaRPr lang="en-US" altLang="ja-JP" sz="1050" dirty="0"/>
          </a:p>
          <a:p>
            <a:r>
              <a:rPr lang="ja-JP" altLang="ja-JP" sz="1050"/>
              <a:t>information</a:t>
            </a:r>
            <a:endParaRPr lang="ja-JP" altLang="en-US" sz="1050"/>
          </a:p>
        </p:txBody>
      </p:sp>
      <p:sp>
        <p:nvSpPr>
          <p:cNvPr id="48" name="テキスト ボックス 47">
            <a:extLst>
              <a:ext uri="{FF2B5EF4-FFF2-40B4-BE49-F238E27FC236}">
                <a16:creationId xmlns:a16="http://schemas.microsoft.com/office/drawing/2014/main" id="{5F5D02A6-789F-CEC4-3BDE-6ADEC0F4C57D}"/>
              </a:ext>
            </a:extLst>
          </p:cNvPr>
          <p:cNvSpPr txBox="1"/>
          <p:nvPr/>
        </p:nvSpPr>
        <p:spPr>
          <a:xfrm>
            <a:off x="5750214" y="3804079"/>
            <a:ext cx="1241136" cy="415498"/>
          </a:xfrm>
          <a:prstGeom prst="rect">
            <a:avLst/>
          </a:prstGeom>
          <a:noFill/>
        </p:spPr>
        <p:txBody>
          <a:bodyPr wrap="square">
            <a:spAutoFit/>
          </a:bodyPr>
          <a:lstStyle/>
          <a:p>
            <a:r>
              <a:rPr lang="ja-JP" altLang="ja-JP" sz="1050"/>
              <a:t>Label and organize the data</a:t>
            </a:r>
            <a:endParaRPr lang="ja-JP" altLang="en-US" sz="1050"/>
          </a:p>
        </p:txBody>
      </p:sp>
      <p:sp>
        <p:nvSpPr>
          <p:cNvPr id="50" name="テキスト ボックス 49">
            <a:extLst>
              <a:ext uri="{FF2B5EF4-FFF2-40B4-BE49-F238E27FC236}">
                <a16:creationId xmlns:a16="http://schemas.microsoft.com/office/drawing/2014/main" id="{3EC5A00C-0E4D-F530-1C5F-4B2CC9334731}"/>
              </a:ext>
            </a:extLst>
          </p:cNvPr>
          <p:cNvSpPr txBox="1"/>
          <p:nvPr/>
        </p:nvSpPr>
        <p:spPr>
          <a:xfrm>
            <a:off x="8754919" y="3749864"/>
            <a:ext cx="1236318" cy="415498"/>
          </a:xfrm>
          <a:prstGeom prst="rect">
            <a:avLst/>
          </a:prstGeom>
          <a:noFill/>
        </p:spPr>
        <p:txBody>
          <a:bodyPr wrap="square">
            <a:spAutoFit/>
          </a:bodyPr>
          <a:lstStyle/>
          <a:p>
            <a:r>
              <a:rPr lang="ja-JP" altLang="ja-JP" sz="1050"/>
              <a:t>Machine learning </a:t>
            </a:r>
            <a:endParaRPr lang="en-US" altLang="ja-JP" sz="1050" dirty="0"/>
          </a:p>
          <a:p>
            <a:r>
              <a:rPr lang="ja-JP" altLang="ja-JP" sz="1050"/>
              <a:t>model</a:t>
            </a:r>
            <a:endParaRPr lang="ja-JP" altLang="en-US" sz="1050"/>
          </a:p>
        </p:txBody>
      </p:sp>
      <p:sp>
        <p:nvSpPr>
          <p:cNvPr id="52" name="テキスト ボックス 51">
            <a:extLst>
              <a:ext uri="{FF2B5EF4-FFF2-40B4-BE49-F238E27FC236}">
                <a16:creationId xmlns:a16="http://schemas.microsoft.com/office/drawing/2014/main" id="{AEC68857-34C7-9A01-F3F8-9E6B9BC7329B}"/>
              </a:ext>
            </a:extLst>
          </p:cNvPr>
          <p:cNvSpPr txBox="1"/>
          <p:nvPr/>
        </p:nvSpPr>
        <p:spPr>
          <a:xfrm>
            <a:off x="1054100" y="4539674"/>
            <a:ext cx="2234045" cy="369332"/>
          </a:xfrm>
          <a:prstGeom prst="rect">
            <a:avLst/>
          </a:prstGeom>
          <a:noFill/>
        </p:spPr>
        <p:txBody>
          <a:bodyPr wrap="square">
            <a:spAutoFit/>
          </a:bodyPr>
          <a:lstStyle/>
          <a:p>
            <a:r>
              <a:rPr lang="ja-JP" altLang="ja-JP"/>
              <a:t>Privacy preservation</a:t>
            </a:r>
            <a:endParaRPr lang="ja-JP" altLang="en-US"/>
          </a:p>
        </p:txBody>
      </p:sp>
      <p:sp>
        <p:nvSpPr>
          <p:cNvPr id="54" name="テキスト ボックス 53">
            <a:extLst>
              <a:ext uri="{FF2B5EF4-FFF2-40B4-BE49-F238E27FC236}">
                <a16:creationId xmlns:a16="http://schemas.microsoft.com/office/drawing/2014/main" id="{324DABFB-8FE1-B78D-9752-1039BAE09AB5}"/>
              </a:ext>
            </a:extLst>
          </p:cNvPr>
          <p:cNvSpPr txBox="1"/>
          <p:nvPr/>
        </p:nvSpPr>
        <p:spPr>
          <a:xfrm>
            <a:off x="4292600" y="4495773"/>
            <a:ext cx="3422650" cy="369332"/>
          </a:xfrm>
          <a:prstGeom prst="rect">
            <a:avLst/>
          </a:prstGeom>
          <a:noFill/>
        </p:spPr>
        <p:txBody>
          <a:bodyPr wrap="square">
            <a:spAutoFit/>
          </a:bodyPr>
          <a:lstStyle/>
          <a:p>
            <a:r>
              <a:rPr lang="ja-JP" altLang="ja-JP"/>
              <a:t>Safety and monitoring applications</a:t>
            </a:r>
            <a:endParaRPr lang="ja-JP" altLang="en-US"/>
          </a:p>
        </p:txBody>
      </p:sp>
      <p:sp>
        <p:nvSpPr>
          <p:cNvPr id="56" name="テキスト ボックス 55">
            <a:extLst>
              <a:ext uri="{FF2B5EF4-FFF2-40B4-BE49-F238E27FC236}">
                <a16:creationId xmlns:a16="http://schemas.microsoft.com/office/drawing/2014/main" id="{271CD665-9205-7BCA-2560-2EAD962A3AC2}"/>
              </a:ext>
            </a:extLst>
          </p:cNvPr>
          <p:cNvSpPr txBox="1"/>
          <p:nvPr/>
        </p:nvSpPr>
        <p:spPr>
          <a:xfrm>
            <a:off x="7915275" y="4554247"/>
            <a:ext cx="3600450" cy="369332"/>
          </a:xfrm>
          <a:prstGeom prst="rect">
            <a:avLst/>
          </a:prstGeom>
          <a:noFill/>
        </p:spPr>
        <p:txBody>
          <a:bodyPr wrap="square">
            <a:spAutoFit/>
          </a:bodyPr>
          <a:lstStyle/>
          <a:p>
            <a:r>
              <a:rPr lang="ja-JP" altLang="ja-JP"/>
              <a:t>Generalization to unseen individuals</a:t>
            </a:r>
            <a:endParaRPr lang="ja-JP" altLang="en-US"/>
          </a:p>
        </p:txBody>
      </p:sp>
    </p:spTree>
    <p:extLst>
      <p:ext uri="{BB962C8B-B14F-4D97-AF65-F5344CB8AC3E}">
        <p14:creationId xmlns:p14="http://schemas.microsoft.com/office/powerpoint/2010/main" val="1128280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805222E4-CA2E-4CCF-A86A-1ED4E532FED8}"/>
              </a:ext>
            </a:extLst>
          </p:cNvPr>
          <p:cNvSpPr>
            <a:spLocks noGrp="1"/>
          </p:cNvSpPr>
          <p:nvPr/>
        </p:nvSpPr>
        <p:spPr>
          <a:xfrm>
            <a:off x="609600" y="381000"/>
            <a:ext cx="5905500" cy="228600"/>
          </a:xfrm>
          <a:prstGeom prst="rect">
            <a:avLst/>
          </a:prstGeom>
          <a:noFill/>
          <a:ln w="0">
            <a:noFill/>
            <a:prstDash val="solid"/>
          </a:ln>
        </p:spPr>
        <p:txBody>
          <a:bodyPr/>
          <a:lstStyle/>
          <a:p>
            <a:pPr algn="l">
              <a:defRPr sz="900" b="1">
                <a:solidFill>
                  <a:srgbClr val="38BDF8"/>
                </a:solidFill>
                <a:latin typeface="Yu Gothic"/>
                <a:ea typeface="Yu Gothic"/>
                <a:cs typeface="Yu Gothic"/>
              </a:defRPr>
            </a:pPr>
            <a:r>
              <a:rPr sz="900" b="1">
                <a:solidFill>
                  <a:srgbClr val="38BDF8"/>
                </a:solidFill>
                <a:latin typeface="Yu Gothic"/>
                <a:ea typeface="Yu Gothic"/>
                <a:cs typeface="Yu Gothic"/>
              </a:rPr>
              <a:t>WHY RANDOM SPLITS ARE NOT ENOUGH</a:t>
            </a:r>
          </a:p>
        </p:txBody>
      </p:sp>
      <p:sp>
        <p:nvSpPr>
          <p:cNvPr id="2" name="正方形/長方形 1">
            <a:extLst>
              <a:ext uri="{FF2B5EF4-FFF2-40B4-BE49-F238E27FC236}">
                <a16:creationId xmlns:a16="http://schemas.microsoft.com/office/drawing/2014/main" id="{64056C7E-1BC4-42FF-BB1E-3D7A7A9319AE}"/>
              </a:ext>
            </a:extLst>
          </p:cNvPr>
          <p:cNvSpPr>
            <a:spLocks noGrp="1"/>
          </p:cNvSpPr>
          <p:nvPr/>
        </p:nvSpPr>
        <p:spPr>
          <a:xfrm>
            <a:off x="609600" y="647700"/>
            <a:ext cx="8096250" cy="514350"/>
          </a:xfrm>
          <a:prstGeom prst="rect">
            <a:avLst/>
          </a:prstGeom>
          <a:noFill/>
          <a:ln w="0">
            <a:noFill/>
            <a:prstDash val="solid"/>
          </a:ln>
        </p:spPr>
        <p:txBody>
          <a:bodyPr/>
          <a:lstStyle/>
          <a:p>
            <a:pPr algn="l">
              <a:defRPr sz="2700" b="1">
                <a:solidFill>
                  <a:srgbClr val="FFFFFF"/>
                </a:solidFill>
                <a:latin typeface="Yu Gothic"/>
                <a:ea typeface="Yu Gothic"/>
                <a:cs typeface="Yu Gothic"/>
              </a:defRPr>
            </a:pPr>
            <a:r>
              <a:rPr sz="2700" b="1">
                <a:solidFill>
                  <a:srgbClr val="FFFFFF"/>
                </a:solidFill>
                <a:latin typeface="Yu Gothic"/>
                <a:ea typeface="Yu Gothic"/>
                <a:cs typeface="Yu Gothic"/>
              </a:rPr>
              <a:t>先行研究・問題点</a:t>
            </a:r>
          </a:p>
        </p:txBody>
      </p:sp>
      <p:sp>
        <p:nvSpPr>
          <p:cNvPr id="3" name="正方形/長方形 2">
            <a:extLst>
              <a:ext uri="{FF2B5EF4-FFF2-40B4-BE49-F238E27FC236}">
                <a16:creationId xmlns:a16="http://schemas.microsoft.com/office/drawing/2014/main" id="{826D86D5-C33D-4F33-AD86-2E84886CE1BF}"/>
              </a:ext>
            </a:extLst>
          </p:cNvPr>
          <p:cNvSpPr>
            <a:spLocks noGrp="1"/>
          </p:cNvSpPr>
          <p:nvPr/>
        </p:nvSpPr>
        <p:spPr>
          <a:xfrm>
            <a:off x="609600" y="1200150"/>
            <a:ext cx="742950" cy="38100"/>
          </a:xfrm>
          <a:prstGeom prst="rect">
            <a:avLst/>
          </a:prstGeom>
          <a:solidFill>
            <a:srgbClr val="38BDF8"/>
          </a:solidFill>
          <a:ln w="0">
            <a:noFill/>
            <a:prstDash val="solid"/>
          </a:ln>
        </p:spPr>
        <p:txBody>
          <a:bodyPr/>
          <a:lstStyle/>
          <a:p>
            <a:endParaRPr lang="ja-JP" altLang="en-US"/>
          </a:p>
        </p:txBody>
      </p:sp>
      <p:sp>
        <p:nvSpPr>
          <p:cNvPr id="4" name="正方形/長方形 3">
            <a:extLst>
              <a:ext uri="{FF2B5EF4-FFF2-40B4-BE49-F238E27FC236}">
                <a16:creationId xmlns:a16="http://schemas.microsoft.com/office/drawing/2014/main" id="{1346DC3E-C23D-4A30-885D-BCC2C2E417CC}"/>
              </a:ext>
            </a:extLst>
          </p:cNvPr>
          <p:cNvSpPr>
            <a:spLocks noGrp="1"/>
          </p:cNvSpPr>
          <p:nvPr/>
        </p:nvSpPr>
        <p:spPr>
          <a:xfrm>
            <a:off x="7810500" y="419100"/>
            <a:ext cx="3771900" cy="228600"/>
          </a:xfrm>
          <a:prstGeom prst="rect">
            <a:avLst/>
          </a:prstGeom>
          <a:noFill/>
          <a:ln w="0">
            <a:noFill/>
            <a:prstDash val="solid"/>
          </a:ln>
        </p:spPr>
        <p:txBody>
          <a:bodyPr/>
          <a:lstStyle/>
          <a:p>
            <a:pPr algn="r">
              <a:defRPr sz="900" b="0">
                <a:solidFill>
                  <a:srgbClr val="94A3B8"/>
                </a:solidFill>
                <a:latin typeface="Yu Gothic"/>
                <a:ea typeface="Yu Gothic"/>
                <a:cs typeface="Yu Gothic"/>
              </a:defRPr>
            </a:pPr>
            <a:r>
              <a:rPr sz="900" b="0">
                <a:solidFill>
                  <a:srgbClr val="94A3B8"/>
                </a:solidFill>
                <a:latin typeface="Yu Gothic"/>
                <a:ea typeface="Yu Gothic"/>
                <a:cs typeface="Yu Gothic"/>
              </a:rPr>
              <a:t>Pose-keypoint unusual activity recognition</a:t>
            </a:r>
          </a:p>
        </p:txBody>
      </p:sp>
      <p:sp>
        <p:nvSpPr>
          <p:cNvPr id="5" name="正方形/長方形 4">
            <a:extLst>
              <a:ext uri="{FF2B5EF4-FFF2-40B4-BE49-F238E27FC236}">
                <a16:creationId xmlns:a16="http://schemas.microsoft.com/office/drawing/2014/main" id="{B95DA43D-AFF4-4BC8-AFCB-50D76141D84E}"/>
              </a:ext>
            </a:extLst>
          </p:cNvPr>
          <p:cNvSpPr>
            <a:spLocks noGrp="1"/>
          </p:cNvSpPr>
          <p:nvPr/>
        </p:nvSpPr>
        <p:spPr>
          <a:xfrm>
            <a:off x="609600" y="6496050"/>
            <a:ext cx="6477000" cy="190500"/>
          </a:xfrm>
          <a:prstGeom prst="rect">
            <a:avLst/>
          </a:prstGeom>
          <a:noFill/>
          <a:ln w="0">
            <a:noFill/>
            <a:prstDash val="solid"/>
          </a:ln>
        </p:spPr>
        <p:txBody>
          <a:bodyPr/>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Sources: specification / LOSO metrics / per-class CSV</a:t>
            </a:r>
          </a:p>
        </p:txBody>
      </p:sp>
      <p:sp>
        <p:nvSpPr>
          <p:cNvPr id="6" name="正方形/長方形 5">
            <a:extLst>
              <a:ext uri="{FF2B5EF4-FFF2-40B4-BE49-F238E27FC236}">
                <a16:creationId xmlns:a16="http://schemas.microsoft.com/office/drawing/2014/main" id="{FF432BFF-2969-40DB-AE4B-43F208B63AD4}"/>
              </a:ext>
            </a:extLst>
          </p:cNvPr>
          <p:cNvSpPr>
            <a:spLocks noGrp="1"/>
          </p:cNvSpPr>
          <p:nvPr/>
        </p:nvSpPr>
        <p:spPr>
          <a:xfrm>
            <a:off x="10744200" y="6477000"/>
            <a:ext cx="838200" cy="209550"/>
          </a:xfrm>
          <a:prstGeom prst="rect">
            <a:avLst/>
          </a:prstGeom>
          <a:noFill/>
          <a:ln w="0">
            <a:noFill/>
            <a:prstDash val="solid"/>
          </a:ln>
        </p:spPr>
        <p:txBody>
          <a:bodyPr/>
          <a:lstStyle/>
          <a:p>
            <a:pPr algn="r">
              <a:defRPr sz="900" b="1">
                <a:solidFill>
                  <a:srgbClr val="94A3B8"/>
                </a:solidFill>
                <a:latin typeface="Yu Gothic"/>
                <a:ea typeface="Yu Gothic"/>
                <a:cs typeface="Yu Gothic"/>
              </a:defRPr>
            </a:pPr>
            <a:r>
              <a:rPr sz="900" b="1">
                <a:solidFill>
                  <a:srgbClr val="94A3B8"/>
                </a:solidFill>
                <a:latin typeface="Yu Gothic"/>
                <a:ea typeface="Yu Gothic"/>
                <a:cs typeface="Yu Gothic"/>
              </a:rPr>
              <a:t>3/10</a:t>
            </a:r>
          </a:p>
        </p:txBody>
      </p:sp>
      <p:sp>
        <p:nvSpPr>
          <p:cNvPr id="7" name="角丸四角形 6">
            <a:extLst>
              <a:ext uri="{FF2B5EF4-FFF2-40B4-BE49-F238E27FC236}">
                <a16:creationId xmlns:a16="http://schemas.microsoft.com/office/drawing/2014/main" id="{1CC3B753-1093-4DC6-8327-E3A7774B1969}"/>
              </a:ext>
            </a:extLst>
          </p:cNvPr>
          <p:cNvSpPr>
            <a:spLocks noGrp="1"/>
          </p:cNvSpPr>
          <p:nvPr/>
        </p:nvSpPr>
        <p:spPr>
          <a:xfrm>
            <a:off x="781050" y="1581150"/>
            <a:ext cx="3276600" cy="1600200"/>
          </a:xfrm>
          <a:prstGeom prst="roundRect">
            <a:avLst>
              <a:gd name="adj" fmla="val 9524"/>
            </a:avLst>
          </a:prstGeom>
          <a:solidFill>
            <a:srgbClr val="111827"/>
          </a:solidFill>
          <a:ln w="9525">
            <a:solidFill>
              <a:srgbClr val="334155"/>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8" name="正方形/長方形 7">
            <a:extLst>
              <a:ext uri="{FF2B5EF4-FFF2-40B4-BE49-F238E27FC236}">
                <a16:creationId xmlns:a16="http://schemas.microsoft.com/office/drawing/2014/main" id="{B45B5886-6587-49CB-9893-6C439F862300}"/>
              </a:ext>
            </a:extLst>
          </p:cNvPr>
          <p:cNvSpPr>
            <a:spLocks noGrp="1"/>
          </p:cNvSpPr>
          <p:nvPr/>
        </p:nvSpPr>
        <p:spPr>
          <a:xfrm>
            <a:off x="781050" y="1581150"/>
            <a:ext cx="66675" cy="1600200"/>
          </a:xfrm>
          <a:prstGeom prst="rect">
            <a:avLst/>
          </a:prstGeom>
          <a:solidFill>
            <a:srgbClr val="F97316"/>
          </a:solidFill>
          <a:ln w="0">
            <a:noFill/>
            <a:prstDash val="solid"/>
          </a:ln>
        </p:spPr>
        <p:txBody>
          <a:bodyPr/>
          <a:lstStyle/>
          <a:p>
            <a:endParaRPr lang="ja-JP" altLang="en-US"/>
          </a:p>
        </p:txBody>
      </p:sp>
      <p:sp>
        <p:nvSpPr>
          <p:cNvPr id="9" name="正方形/長方形 8">
            <a:extLst>
              <a:ext uri="{FF2B5EF4-FFF2-40B4-BE49-F238E27FC236}">
                <a16:creationId xmlns:a16="http://schemas.microsoft.com/office/drawing/2014/main" id="{1EA91987-F46C-4C72-9C73-3E60895F6B2A}"/>
              </a:ext>
            </a:extLst>
          </p:cNvPr>
          <p:cNvSpPr>
            <a:spLocks noGrp="1"/>
          </p:cNvSpPr>
          <p:nvPr/>
        </p:nvSpPr>
        <p:spPr>
          <a:xfrm>
            <a:off x="1009650" y="1771650"/>
            <a:ext cx="2857500" cy="285750"/>
          </a:xfrm>
          <a:prstGeom prst="rect">
            <a:avLst/>
          </a:prstGeom>
          <a:noFill/>
          <a:ln w="0">
            <a:noFill/>
            <a:prstDash val="solid"/>
          </a:ln>
        </p:spPr>
        <p:txBody>
          <a:bodyPr/>
          <a:lstStyle/>
          <a:p>
            <a:pPr algn="l">
              <a:defRPr sz="1575" b="1">
                <a:solidFill>
                  <a:srgbClr val="FFFFFF"/>
                </a:solidFill>
                <a:latin typeface="Yu Gothic"/>
                <a:ea typeface="Yu Gothic"/>
                <a:cs typeface="Yu Gothic"/>
              </a:defRPr>
            </a:pPr>
            <a:r>
              <a:rPr sz="1575" b="1">
                <a:solidFill>
                  <a:srgbClr val="FFFFFF"/>
                </a:solidFill>
                <a:latin typeface="Yu Gothic"/>
                <a:ea typeface="Yu Gothic"/>
                <a:cs typeface="Yu Gothic"/>
              </a:rPr>
              <a:t>RGB動画ベースの課題</a:t>
            </a:r>
          </a:p>
        </p:txBody>
      </p:sp>
      <p:sp>
        <p:nvSpPr>
          <p:cNvPr id="10" name="正方形/長方形 9">
            <a:extLst>
              <a:ext uri="{FF2B5EF4-FFF2-40B4-BE49-F238E27FC236}">
                <a16:creationId xmlns:a16="http://schemas.microsoft.com/office/drawing/2014/main" id="{B1067C0B-8BA2-4E10-875A-B443FF7DF8E5}"/>
              </a:ext>
            </a:extLst>
          </p:cNvPr>
          <p:cNvSpPr>
            <a:spLocks noGrp="1"/>
          </p:cNvSpPr>
          <p:nvPr/>
        </p:nvSpPr>
        <p:spPr>
          <a:xfrm>
            <a:off x="1009650" y="2133600"/>
            <a:ext cx="2857500" cy="914400"/>
          </a:xfrm>
          <a:prstGeom prst="rect">
            <a:avLst/>
          </a:prstGeom>
          <a:noFill/>
          <a:ln w="0">
            <a:noFill/>
            <a:prstDash val="solid"/>
          </a:ln>
        </p:spPr>
        <p:txBody>
          <a:bodyPr/>
          <a:lstStyle/>
          <a:p>
            <a:pPr algn="l">
              <a:defRPr sz="1275" b="0">
                <a:solidFill>
                  <a:srgbClr val="CBD5E1"/>
                </a:solidFill>
                <a:latin typeface="Yu Gothic"/>
                <a:ea typeface="Yu Gothic"/>
                <a:cs typeface="Yu Gothic"/>
              </a:defRPr>
            </a:pPr>
            <a:r>
              <a:rPr sz="1275" b="0">
                <a:solidFill>
                  <a:srgbClr val="CBD5E1"/>
                </a:solidFill>
                <a:latin typeface="Yu Gothic"/>
                <a:ea typeface="Yu Gothic"/>
                <a:cs typeface="Yu Gothic"/>
              </a:rPr>
              <a:t>画像特徴は強力だが、顔・服装・背景の情報を含みやすく、匿名化や環境差への対応が難しい。</a:t>
            </a:r>
          </a:p>
        </p:txBody>
      </p:sp>
      <p:sp>
        <p:nvSpPr>
          <p:cNvPr id="11" name="角丸四角形 10">
            <a:extLst>
              <a:ext uri="{FF2B5EF4-FFF2-40B4-BE49-F238E27FC236}">
                <a16:creationId xmlns:a16="http://schemas.microsoft.com/office/drawing/2014/main" id="{F67E1993-76F5-4809-BB80-F07C4FC8C2E7}"/>
              </a:ext>
            </a:extLst>
          </p:cNvPr>
          <p:cNvSpPr>
            <a:spLocks noGrp="1"/>
          </p:cNvSpPr>
          <p:nvPr/>
        </p:nvSpPr>
        <p:spPr>
          <a:xfrm>
            <a:off x="4457700" y="1581150"/>
            <a:ext cx="3276600" cy="1600200"/>
          </a:xfrm>
          <a:prstGeom prst="roundRect">
            <a:avLst>
              <a:gd name="adj" fmla="val 9524"/>
            </a:avLst>
          </a:prstGeom>
          <a:solidFill>
            <a:srgbClr val="111827"/>
          </a:solidFill>
          <a:ln w="9525">
            <a:solidFill>
              <a:srgbClr val="334155"/>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12" name="正方形/長方形 11">
            <a:extLst>
              <a:ext uri="{FF2B5EF4-FFF2-40B4-BE49-F238E27FC236}">
                <a16:creationId xmlns:a16="http://schemas.microsoft.com/office/drawing/2014/main" id="{B5C3E7D4-446D-46DC-8B7A-5C659DC5F66C}"/>
              </a:ext>
            </a:extLst>
          </p:cNvPr>
          <p:cNvSpPr>
            <a:spLocks noGrp="1"/>
          </p:cNvSpPr>
          <p:nvPr/>
        </p:nvSpPr>
        <p:spPr>
          <a:xfrm>
            <a:off x="4457700" y="1581150"/>
            <a:ext cx="66675" cy="1600200"/>
          </a:xfrm>
          <a:prstGeom prst="rect">
            <a:avLst/>
          </a:prstGeom>
          <a:solidFill>
            <a:srgbClr val="38BDF8"/>
          </a:solidFill>
          <a:ln w="0">
            <a:noFill/>
            <a:prstDash val="solid"/>
          </a:ln>
        </p:spPr>
        <p:txBody>
          <a:bodyPr/>
          <a:lstStyle/>
          <a:p>
            <a:endParaRPr lang="ja-JP" altLang="en-US"/>
          </a:p>
        </p:txBody>
      </p:sp>
      <p:sp>
        <p:nvSpPr>
          <p:cNvPr id="13" name="正方形/長方形 12">
            <a:extLst>
              <a:ext uri="{FF2B5EF4-FFF2-40B4-BE49-F238E27FC236}">
                <a16:creationId xmlns:a16="http://schemas.microsoft.com/office/drawing/2014/main" id="{7BB3C721-898C-45F7-8A47-3439DFA1F48B}"/>
              </a:ext>
            </a:extLst>
          </p:cNvPr>
          <p:cNvSpPr>
            <a:spLocks noGrp="1"/>
          </p:cNvSpPr>
          <p:nvPr/>
        </p:nvSpPr>
        <p:spPr>
          <a:xfrm>
            <a:off x="4686300" y="1771650"/>
            <a:ext cx="2857500" cy="285750"/>
          </a:xfrm>
          <a:prstGeom prst="rect">
            <a:avLst/>
          </a:prstGeom>
          <a:noFill/>
          <a:ln w="0">
            <a:noFill/>
            <a:prstDash val="solid"/>
          </a:ln>
        </p:spPr>
        <p:txBody>
          <a:bodyPr/>
          <a:lstStyle/>
          <a:p>
            <a:pPr algn="l">
              <a:defRPr sz="1575" b="1">
                <a:solidFill>
                  <a:srgbClr val="FFFFFF"/>
                </a:solidFill>
                <a:latin typeface="Yu Gothic"/>
                <a:ea typeface="Yu Gothic"/>
                <a:cs typeface="Yu Gothic"/>
              </a:defRPr>
            </a:pPr>
            <a:r>
              <a:rPr sz="1575" b="1">
                <a:solidFill>
                  <a:srgbClr val="FFFFFF"/>
                </a:solidFill>
                <a:latin typeface="Yu Gothic"/>
                <a:ea typeface="Yu Gothic"/>
                <a:cs typeface="Yu Gothic"/>
              </a:rPr>
              <a:t>被験者混在分割の課題</a:t>
            </a:r>
          </a:p>
        </p:txBody>
      </p:sp>
      <p:sp>
        <p:nvSpPr>
          <p:cNvPr id="14" name="正方形/長方形 13">
            <a:extLst>
              <a:ext uri="{FF2B5EF4-FFF2-40B4-BE49-F238E27FC236}">
                <a16:creationId xmlns:a16="http://schemas.microsoft.com/office/drawing/2014/main" id="{8EAB0D02-CE16-4B0B-9178-32576B541C3F}"/>
              </a:ext>
            </a:extLst>
          </p:cNvPr>
          <p:cNvSpPr>
            <a:spLocks noGrp="1"/>
          </p:cNvSpPr>
          <p:nvPr/>
        </p:nvSpPr>
        <p:spPr>
          <a:xfrm>
            <a:off x="4686300" y="2133600"/>
            <a:ext cx="2857500" cy="914400"/>
          </a:xfrm>
          <a:prstGeom prst="rect">
            <a:avLst/>
          </a:prstGeom>
          <a:noFill/>
          <a:ln w="0">
            <a:noFill/>
            <a:prstDash val="solid"/>
          </a:ln>
        </p:spPr>
        <p:txBody>
          <a:bodyPr/>
          <a:lstStyle/>
          <a:p>
            <a:pPr algn="l">
              <a:defRPr sz="1275" b="0">
                <a:solidFill>
                  <a:srgbClr val="CBD5E1"/>
                </a:solidFill>
                <a:latin typeface="Yu Gothic"/>
                <a:ea typeface="Yu Gothic"/>
                <a:cs typeface="Yu Gothic"/>
              </a:defRPr>
            </a:pPr>
            <a:r>
              <a:rPr sz="1275" b="0">
                <a:solidFill>
                  <a:srgbClr val="CBD5E1"/>
                </a:solidFill>
                <a:latin typeface="Yu Gothic"/>
                <a:ea typeface="Yu Gothic"/>
                <a:cs typeface="Yu Gothic"/>
              </a:rPr>
              <a:t>同じ人の動きが学習と評価の両方に入ると、未知人物への性能を高く見積もりやすい。</a:t>
            </a:r>
          </a:p>
        </p:txBody>
      </p:sp>
      <p:sp>
        <p:nvSpPr>
          <p:cNvPr id="15" name="角丸四角形 14">
            <a:extLst>
              <a:ext uri="{FF2B5EF4-FFF2-40B4-BE49-F238E27FC236}">
                <a16:creationId xmlns:a16="http://schemas.microsoft.com/office/drawing/2014/main" id="{BF7DFB68-5EDA-4515-B8BD-0D16798E2894}"/>
              </a:ext>
            </a:extLst>
          </p:cNvPr>
          <p:cNvSpPr>
            <a:spLocks noGrp="1"/>
          </p:cNvSpPr>
          <p:nvPr/>
        </p:nvSpPr>
        <p:spPr>
          <a:xfrm>
            <a:off x="8134350" y="1581150"/>
            <a:ext cx="3276600" cy="1600200"/>
          </a:xfrm>
          <a:prstGeom prst="roundRect">
            <a:avLst>
              <a:gd name="adj" fmla="val 9524"/>
            </a:avLst>
          </a:prstGeom>
          <a:solidFill>
            <a:srgbClr val="111827"/>
          </a:solidFill>
          <a:ln w="9525">
            <a:solidFill>
              <a:srgbClr val="334155"/>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16" name="正方形/長方形 15">
            <a:extLst>
              <a:ext uri="{FF2B5EF4-FFF2-40B4-BE49-F238E27FC236}">
                <a16:creationId xmlns:a16="http://schemas.microsoft.com/office/drawing/2014/main" id="{9038D1F6-4B73-48A7-B72C-AA709B4F0CCD}"/>
              </a:ext>
            </a:extLst>
          </p:cNvPr>
          <p:cNvSpPr>
            <a:spLocks noGrp="1"/>
          </p:cNvSpPr>
          <p:nvPr/>
        </p:nvSpPr>
        <p:spPr>
          <a:xfrm>
            <a:off x="8134350" y="1581150"/>
            <a:ext cx="66675" cy="1600200"/>
          </a:xfrm>
          <a:prstGeom prst="rect">
            <a:avLst/>
          </a:prstGeom>
          <a:solidFill>
            <a:srgbClr val="EF4444"/>
          </a:solidFill>
          <a:ln w="0">
            <a:noFill/>
            <a:prstDash val="solid"/>
          </a:ln>
        </p:spPr>
        <p:txBody>
          <a:bodyPr/>
          <a:lstStyle/>
          <a:p>
            <a:endParaRPr lang="ja-JP" altLang="en-US"/>
          </a:p>
        </p:txBody>
      </p:sp>
      <p:sp>
        <p:nvSpPr>
          <p:cNvPr id="17" name="正方形/長方形 16">
            <a:extLst>
              <a:ext uri="{FF2B5EF4-FFF2-40B4-BE49-F238E27FC236}">
                <a16:creationId xmlns:a16="http://schemas.microsoft.com/office/drawing/2014/main" id="{452D92E1-7E9F-4B47-A7D3-61C66980CDD9}"/>
              </a:ext>
            </a:extLst>
          </p:cNvPr>
          <p:cNvSpPr>
            <a:spLocks noGrp="1"/>
          </p:cNvSpPr>
          <p:nvPr/>
        </p:nvSpPr>
        <p:spPr>
          <a:xfrm>
            <a:off x="8362950" y="1771650"/>
            <a:ext cx="2857500" cy="285750"/>
          </a:xfrm>
          <a:prstGeom prst="rect">
            <a:avLst/>
          </a:prstGeom>
          <a:noFill/>
          <a:ln w="0">
            <a:noFill/>
            <a:prstDash val="solid"/>
          </a:ln>
        </p:spPr>
        <p:txBody>
          <a:bodyPr/>
          <a:lstStyle/>
          <a:p>
            <a:pPr algn="l">
              <a:defRPr sz="1575" b="1">
                <a:solidFill>
                  <a:srgbClr val="FFFFFF"/>
                </a:solidFill>
                <a:latin typeface="Yu Gothic"/>
                <a:ea typeface="Yu Gothic"/>
                <a:cs typeface="Yu Gothic"/>
              </a:defRPr>
            </a:pPr>
            <a:r>
              <a:rPr sz="1575" b="1">
                <a:solidFill>
                  <a:srgbClr val="FFFFFF"/>
                </a:solidFill>
                <a:latin typeface="Yu Gothic"/>
                <a:ea typeface="Yu Gothic"/>
                <a:cs typeface="Yu Gothic"/>
              </a:rPr>
              <a:t>異常行動検出の課題</a:t>
            </a:r>
          </a:p>
        </p:txBody>
      </p:sp>
      <p:sp>
        <p:nvSpPr>
          <p:cNvPr id="18" name="正方形/長方形 17">
            <a:extLst>
              <a:ext uri="{FF2B5EF4-FFF2-40B4-BE49-F238E27FC236}">
                <a16:creationId xmlns:a16="http://schemas.microsoft.com/office/drawing/2014/main" id="{30AB721C-EEB4-499F-A924-DA2BC0D08210}"/>
              </a:ext>
            </a:extLst>
          </p:cNvPr>
          <p:cNvSpPr>
            <a:spLocks noGrp="1"/>
          </p:cNvSpPr>
          <p:nvPr/>
        </p:nvSpPr>
        <p:spPr>
          <a:xfrm>
            <a:off x="8362950" y="2133600"/>
            <a:ext cx="2857500" cy="914400"/>
          </a:xfrm>
          <a:prstGeom prst="rect">
            <a:avLst/>
          </a:prstGeom>
          <a:noFill/>
          <a:ln w="0">
            <a:noFill/>
            <a:prstDash val="solid"/>
          </a:ln>
        </p:spPr>
        <p:txBody>
          <a:bodyPr/>
          <a:lstStyle/>
          <a:p>
            <a:pPr algn="l">
              <a:defRPr sz="1275" b="0">
                <a:solidFill>
                  <a:srgbClr val="CBD5E1"/>
                </a:solidFill>
                <a:latin typeface="Yu Gothic"/>
                <a:ea typeface="Yu Gothic"/>
                <a:cs typeface="Yu Gothic"/>
              </a:defRPr>
            </a:pPr>
            <a:r>
              <a:rPr sz="1275" b="0">
                <a:solidFill>
                  <a:srgbClr val="CBD5E1"/>
                </a:solidFill>
                <a:latin typeface="Yu Gothic"/>
                <a:ea typeface="Yu Gothic"/>
                <a:cs typeface="Yu Gothic"/>
              </a:rPr>
              <a:t>異常クラスは種類が少なく、短時間・局所的な手や頭の動きに依存しやすい。</a:t>
            </a:r>
          </a:p>
        </p:txBody>
      </p:sp>
      <p:sp>
        <p:nvSpPr>
          <p:cNvPr id="19" name="角丸四角形 18">
            <a:extLst>
              <a:ext uri="{FF2B5EF4-FFF2-40B4-BE49-F238E27FC236}">
                <a16:creationId xmlns:a16="http://schemas.microsoft.com/office/drawing/2014/main" id="{7C63B3BE-826D-409B-8AD3-D1AD9106BA26}"/>
              </a:ext>
            </a:extLst>
          </p:cNvPr>
          <p:cNvSpPr>
            <a:spLocks noGrp="1"/>
          </p:cNvSpPr>
          <p:nvPr/>
        </p:nvSpPr>
        <p:spPr>
          <a:xfrm>
            <a:off x="1181100" y="3943350"/>
            <a:ext cx="9829800" cy="1219200"/>
          </a:xfrm>
          <a:prstGeom prst="roundRect">
            <a:avLst>
              <a:gd name="adj" fmla="val 12500"/>
            </a:avLst>
          </a:prstGeom>
          <a:solidFill>
            <a:srgbClr val="172033"/>
          </a:solidFill>
          <a:ln w="9525">
            <a:solidFill>
              <a:srgbClr val="334155"/>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1E2EC444-64DC-4EB7-ADC2-5F92B8075E79}"/>
              </a:ext>
            </a:extLst>
          </p:cNvPr>
          <p:cNvSpPr>
            <a:spLocks noGrp="1"/>
          </p:cNvSpPr>
          <p:nvPr/>
        </p:nvSpPr>
        <p:spPr>
          <a:xfrm>
            <a:off x="1600200" y="4191000"/>
            <a:ext cx="2857500" cy="266700"/>
          </a:xfrm>
          <a:prstGeom prst="rect">
            <a:avLst/>
          </a:prstGeom>
          <a:noFill/>
          <a:ln w="0">
            <a:noFill/>
            <a:prstDash val="solid"/>
          </a:ln>
        </p:spPr>
        <p:txBody>
          <a:bodyPr/>
          <a:lstStyle/>
          <a:p>
            <a:pPr algn="l">
              <a:defRPr sz="1350" b="1">
                <a:solidFill>
                  <a:srgbClr val="38BDF8"/>
                </a:solidFill>
                <a:latin typeface="Yu Gothic"/>
                <a:ea typeface="Yu Gothic"/>
                <a:cs typeface="Yu Gothic"/>
              </a:defRPr>
            </a:pPr>
            <a:r>
              <a:rPr sz="1350" b="1">
                <a:solidFill>
                  <a:srgbClr val="38BDF8"/>
                </a:solidFill>
                <a:latin typeface="Yu Gothic"/>
                <a:ea typeface="Yu Gothic"/>
                <a:cs typeface="Yu Gothic"/>
              </a:rPr>
              <a:t>本研究で重視した問い</a:t>
            </a:r>
          </a:p>
        </p:txBody>
      </p:sp>
      <p:sp>
        <p:nvSpPr>
          <p:cNvPr id="21" name="正方形/長方形 20">
            <a:extLst>
              <a:ext uri="{FF2B5EF4-FFF2-40B4-BE49-F238E27FC236}">
                <a16:creationId xmlns:a16="http://schemas.microsoft.com/office/drawing/2014/main" id="{EA61795F-7E0F-4DFE-AAA2-7913C00F73F7}"/>
              </a:ext>
            </a:extLst>
          </p:cNvPr>
          <p:cNvSpPr>
            <a:spLocks noGrp="1"/>
          </p:cNvSpPr>
          <p:nvPr/>
        </p:nvSpPr>
        <p:spPr>
          <a:xfrm>
            <a:off x="1600200" y="4514850"/>
            <a:ext cx="8591550" cy="381000"/>
          </a:xfrm>
          <a:prstGeom prst="rect">
            <a:avLst/>
          </a:prstGeom>
          <a:noFill/>
          <a:ln w="0">
            <a:noFill/>
            <a:prstDash val="solid"/>
          </a:ln>
        </p:spPr>
        <p:txBody>
          <a:bodyPr/>
          <a:lstStyle/>
          <a:p>
            <a:pPr algn="ctr">
              <a:defRPr sz="2025" b="1">
                <a:solidFill>
                  <a:srgbClr val="FFFFFF"/>
                </a:solidFill>
                <a:latin typeface="Yu Gothic"/>
                <a:ea typeface="Yu Gothic"/>
                <a:cs typeface="Yu Gothic"/>
              </a:defRPr>
            </a:pPr>
            <a:r>
              <a:rPr sz="2025" b="1">
                <a:solidFill>
                  <a:srgbClr val="FFFFFF"/>
                </a:solidFill>
                <a:latin typeface="Yu Gothic"/>
                <a:ea typeface="Yu Gothic"/>
                <a:cs typeface="Yu Gothic"/>
              </a:rPr>
              <a:t>「姿勢キーポイントだけで、学習に含まれない被験者の異常行動をどこまで安定して検出できるか」</a:t>
            </a:r>
          </a:p>
        </p:txBody>
      </p:sp>
    </p:spTree>
    <p:extLst>
      <p:ext uri="{BB962C8B-B14F-4D97-AF65-F5344CB8AC3E}">
        <p14:creationId xmlns:p14="http://schemas.microsoft.com/office/powerpoint/2010/main" val="798905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343AFB5B-EEC7-4DA9-8575-25B9C8C3FA9C}"/>
              </a:ext>
            </a:extLst>
          </p:cNvPr>
          <p:cNvSpPr>
            <a:spLocks noGrp="1"/>
          </p:cNvSpPr>
          <p:nvPr/>
        </p:nvSpPr>
        <p:spPr>
          <a:xfrm>
            <a:off x="609600" y="381000"/>
            <a:ext cx="5905500" cy="228600"/>
          </a:xfrm>
          <a:prstGeom prst="rect">
            <a:avLst/>
          </a:prstGeom>
          <a:noFill/>
          <a:ln w="0">
            <a:noFill/>
            <a:prstDash val="solid"/>
          </a:ln>
        </p:spPr>
        <p:txBody>
          <a:bodyPr/>
          <a:lstStyle/>
          <a:p>
            <a:pPr algn="l">
              <a:defRPr sz="900" b="1">
                <a:solidFill>
                  <a:srgbClr val="0EA5E9"/>
                </a:solidFill>
                <a:latin typeface="Yu Gothic"/>
                <a:ea typeface="Yu Gothic"/>
                <a:cs typeface="Yu Gothic"/>
              </a:defRPr>
            </a:pPr>
            <a:r>
              <a:rPr sz="900" b="1">
                <a:solidFill>
                  <a:srgbClr val="0EA5E9"/>
                </a:solidFill>
                <a:latin typeface="Yu Gothic"/>
                <a:ea typeface="Yu Gothic"/>
                <a:cs typeface="Yu Gothic"/>
              </a:rPr>
              <a:t>OBJECTIVES A AND B</a:t>
            </a:r>
          </a:p>
        </p:txBody>
      </p:sp>
      <p:sp>
        <p:nvSpPr>
          <p:cNvPr id="2" name="正方形/長方形 1">
            <a:extLst>
              <a:ext uri="{FF2B5EF4-FFF2-40B4-BE49-F238E27FC236}">
                <a16:creationId xmlns:a16="http://schemas.microsoft.com/office/drawing/2014/main" id="{58277D8A-B514-4442-856A-B110CE6BF36F}"/>
              </a:ext>
            </a:extLst>
          </p:cNvPr>
          <p:cNvSpPr>
            <a:spLocks noGrp="1"/>
          </p:cNvSpPr>
          <p:nvPr/>
        </p:nvSpPr>
        <p:spPr>
          <a:xfrm>
            <a:off x="609600" y="647700"/>
            <a:ext cx="8096250" cy="514350"/>
          </a:xfrm>
          <a:prstGeom prst="rect">
            <a:avLst/>
          </a:prstGeom>
          <a:noFill/>
          <a:ln w="0">
            <a:noFill/>
            <a:prstDash val="solid"/>
          </a:ln>
        </p:spPr>
        <p:txBody>
          <a:bodyPr/>
          <a:lstStyle/>
          <a:p>
            <a:pPr algn="l">
              <a:defRPr sz="2700" b="1">
                <a:solidFill>
                  <a:srgbClr val="0B1220"/>
                </a:solidFill>
                <a:latin typeface="Yu Gothic"/>
                <a:ea typeface="Yu Gothic"/>
                <a:cs typeface="Yu Gothic"/>
              </a:defRPr>
            </a:pPr>
            <a:r>
              <a:rPr sz="2700" b="1">
                <a:solidFill>
                  <a:srgbClr val="0B1220"/>
                </a:solidFill>
                <a:latin typeface="Yu Gothic"/>
                <a:ea typeface="Yu Gothic"/>
                <a:cs typeface="Yu Gothic"/>
              </a:rPr>
              <a:t>目的</a:t>
            </a:r>
          </a:p>
        </p:txBody>
      </p:sp>
      <p:sp>
        <p:nvSpPr>
          <p:cNvPr id="3" name="正方形/長方形 2">
            <a:extLst>
              <a:ext uri="{FF2B5EF4-FFF2-40B4-BE49-F238E27FC236}">
                <a16:creationId xmlns:a16="http://schemas.microsoft.com/office/drawing/2014/main" id="{F1D6ACAD-9EDE-4D7A-B5CD-F89619AE0D93}"/>
              </a:ext>
            </a:extLst>
          </p:cNvPr>
          <p:cNvSpPr>
            <a:spLocks noGrp="1"/>
          </p:cNvSpPr>
          <p:nvPr/>
        </p:nvSpPr>
        <p:spPr>
          <a:xfrm>
            <a:off x="609600" y="1200150"/>
            <a:ext cx="742950" cy="38100"/>
          </a:xfrm>
          <a:prstGeom prst="rect">
            <a:avLst/>
          </a:prstGeom>
          <a:solidFill>
            <a:srgbClr val="38BDF8"/>
          </a:solidFill>
          <a:ln w="0">
            <a:noFill/>
            <a:prstDash val="solid"/>
          </a:ln>
        </p:spPr>
        <p:txBody>
          <a:bodyPr/>
          <a:lstStyle/>
          <a:p>
            <a:endParaRPr lang="ja-JP" altLang="en-US"/>
          </a:p>
        </p:txBody>
      </p:sp>
      <p:sp>
        <p:nvSpPr>
          <p:cNvPr id="4" name="正方形/長方形 3">
            <a:extLst>
              <a:ext uri="{FF2B5EF4-FFF2-40B4-BE49-F238E27FC236}">
                <a16:creationId xmlns:a16="http://schemas.microsoft.com/office/drawing/2014/main" id="{DBEC79FB-FF2D-482D-9F51-CD247578C973}"/>
              </a:ext>
            </a:extLst>
          </p:cNvPr>
          <p:cNvSpPr>
            <a:spLocks noGrp="1"/>
          </p:cNvSpPr>
          <p:nvPr/>
        </p:nvSpPr>
        <p:spPr>
          <a:xfrm>
            <a:off x="7810500" y="419100"/>
            <a:ext cx="3771900" cy="228600"/>
          </a:xfrm>
          <a:prstGeom prst="rect">
            <a:avLst/>
          </a:prstGeom>
          <a:noFill/>
          <a:ln w="0">
            <a:noFill/>
            <a:prstDash val="solid"/>
          </a:ln>
        </p:spPr>
        <p:txBody>
          <a:bodyPr/>
          <a:lstStyle/>
          <a:p>
            <a:pPr algn="r">
              <a:defRPr sz="900" b="0">
                <a:solidFill>
                  <a:srgbClr val="64748B"/>
                </a:solidFill>
                <a:latin typeface="Yu Gothic"/>
                <a:ea typeface="Yu Gothic"/>
                <a:cs typeface="Yu Gothic"/>
              </a:defRPr>
            </a:pPr>
            <a:r>
              <a:rPr sz="900" b="0">
                <a:solidFill>
                  <a:srgbClr val="64748B"/>
                </a:solidFill>
                <a:latin typeface="Yu Gothic"/>
                <a:ea typeface="Yu Gothic"/>
                <a:cs typeface="Yu Gothic"/>
              </a:rPr>
              <a:t>Pose-keypoint unusual activity recognition</a:t>
            </a:r>
          </a:p>
        </p:txBody>
      </p:sp>
      <p:sp>
        <p:nvSpPr>
          <p:cNvPr id="5" name="正方形/長方形 4">
            <a:extLst>
              <a:ext uri="{FF2B5EF4-FFF2-40B4-BE49-F238E27FC236}">
                <a16:creationId xmlns:a16="http://schemas.microsoft.com/office/drawing/2014/main" id="{4C5CDA2A-D346-413C-9CC3-63FA1B9E936E}"/>
              </a:ext>
            </a:extLst>
          </p:cNvPr>
          <p:cNvSpPr>
            <a:spLocks noGrp="1"/>
          </p:cNvSpPr>
          <p:nvPr/>
        </p:nvSpPr>
        <p:spPr>
          <a:xfrm>
            <a:off x="609600" y="6496050"/>
            <a:ext cx="6477000" cy="190500"/>
          </a:xfrm>
          <a:prstGeom prst="rect">
            <a:avLst/>
          </a:prstGeom>
          <a:noFill/>
          <a:ln w="0">
            <a:noFill/>
            <a:prstDash val="solid"/>
          </a:ln>
        </p:spPr>
        <p:txBody>
          <a:bodyPr/>
          <a:lstStyle/>
          <a:p>
            <a:pPr algn="l">
              <a:defRPr sz="750" b="0">
                <a:solidFill>
                  <a:srgbClr val="64748B"/>
                </a:solidFill>
                <a:latin typeface="Yu Gothic"/>
                <a:ea typeface="Yu Gothic"/>
                <a:cs typeface="Yu Gothic"/>
              </a:defRPr>
            </a:pPr>
            <a:r>
              <a:rPr sz="750" b="0">
                <a:solidFill>
                  <a:srgbClr val="64748B"/>
                </a:solidFill>
                <a:latin typeface="Yu Gothic"/>
                <a:ea typeface="Yu Gothic"/>
                <a:cs typeface="Yu Gothic"/>
              </a:rPr>
              <a:t>Sources: specification / LOSO metrics / per-class CSV</a:t>
            </a:r>
          </a:p>
        </p:txBody>
      </p:sp>
      <p:sp>
        <p:nvSpPr>
          <p:cNvPr id="6" name="正方形/長方形 5">
            <a:extLst>
              <a:ext uri="{FF2B5EF4-FFF2-40B4-BE49-F238E27FC236}">
                <a16:creationId xmlns:a16="http://schemas.microsoft.com/office/drawing/2014/main" id="{0B025393-AC70-4847-B54C-4590D62959AF}"/>
              </a:ext>
            </a:extLst>
          </p:cNvPr>
          <p:cNvSpPr>
            <a:spLocks noGrp="1"/>
          </p:cNvSpPr>
          <p:nvPr/>
        </p:nvSpPr>
        <p:spPr>
          <a:xfrm>
            <a:off x="10744200" y="6477000"/>
            <a:ext cx="838200" cy="209550"/>
          </a:xfrm>
          <a:prstGeom prst="rect">
            <a:avLst/>
          </a:prstGeom>
          <a:noFill/>
          <a:ln w="0">
            <a:noFill/>
            <a:prstDash val="solid"/>
          </a:ln>
        </p:spPr>
        <p:txBody>
          <a:bodyPr/>
          <a:lstStyle/>
          <a:p>
            <a:pPr algn="r">
              <a:defRPr sz="900" b="1">
                <a:solidFill>
                  <a:srgbClr val="64748B"/>
                </a:solidFill>
                <a:latin typeface="Yu Gothic"/>
                <a:ea typeface="Yu Gothic"/>
                <a:cs typeface="Yu Gothic"/>
              </a:defRPr>
            </a:pPr>
            <a:r>
              <a:rPr sz="900" b="1">
                <a:solidFill>
                  <a:srgbClr val="64748B"/>
                </a:solidFill>
                <a:latin typeface="Yu Gothic"/>
                <a:ea typeface="Yu Gothic"/>
                <a:cs typeface="Yu Gothic"/>
              </a:rPr>
              <a:t>4/10</a:t>
            </a:r>
          </a:p>
        </p:txBody>
      </p:sp>
      <p:sp>
        <p:nvSpPr>
          <p:cNvPr id="7" name="角丸四角形 6">
            <a:extLst>
              <a:ext uri="{FF2B5EF4-FFF2-40B4-BE49-F238E27FC236}">
                <a16:creationId xmlns:a16="http://schemas.microsoft.com/office/drawing/2014/main" id="{396D33D7-B5BA-4E35-92CB-617395B923A6}"/>
              </a:ext>
            </a:extLst>
          </p:cNvPr>
          <p:cNvSpPr>
            <a:spLocks noGrp="1"/>
          </p:cNvSpPr>
          <p:nvPr/>
        </p:nvSpPr>
        <p:spPr>
          <a:xfrm>
            <a:off x="838200" y="1600200"/>
            <a:ext cx="4857750" cy="3124200"/>
          </a:xfrm>
          <a:prstGeom prst="roundRect">
            <a:avLst>
              <a:gd name="adj" fmla="val 7317"/>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8" name="正方形/長方形 7">
            <a:extLst>
              <a:ext uri="{FF2B5EF4-FFF2-40B4-BE49-F238E27FC236}">
                <a16:creationId xmlns:a16="http://schemas.microsoft.com/office/drawing/2014/main" id="{FC3B5DC8-1749-4412-8165-194685E61DDB}"/>
              </a:ext>
            </a:extLst>
          </p:cNvPr>
          <p:cNvSpPr>
            <a:spLocks noGrp="1"/>
          </p:cNvSpPr>
          <p:nvPr/>
        </p:nvSpPr>
        <p:spPr>
          <a:xfrm>
            <a:off x="1143000" y="1885950"/>
            <a:ext cx="685800" cy="685800"/>
          </a:xfrm>
          <a:prstGeom prst="rect">
            <a:avLst/>
          </a:prstGeom>
          <a:noFill/>
          <a:ln w="0">
            <a:noFill/>
            <a:prstDash val="solid"/>
          </a:ln>
        </p:spPr>
        <p:txBody>
          <a:bodyPr/>
          <a:lstStyle/>
          <a:p>
            <a:pPr algn="ctr">
              <a:defRPr sz="4050" b="1">
                <a:solidFill>
                  <a:srgbClr val="0EA5E9"/>
                </a:solidFill>
                <a:latin typeface="Aptos Display"/>
                <a:ea typeface="Aptos Display"/>
                <a:cs typeface="Aptos Display"/>
              </a:defRPr>
            </a:pPr>
            <a:r>
              <a:rPr sz="4050" b="1">
                <a:solidFill>
                  <a:srgbClr val="0EA5E9"/>
                </a:solidFill>
                <a:latin typeface="Aptos Display"/>
                <a:ea typeface="Aptos Display"/>
                <a:cs typeface="Aptos Display"/>
              </a:rPr>
              <a:t>A</a:t>
            </a:r>
          </a:p>
        </p:txBody>
      </p:sp>
      <p:sp>
        <p:nvSpPr>
          <p:cNvPr id="9" name="正方形/長方形 8">
            <a:extLst>
              <a:ext uri="{FF2B5EF4-FFF2-40B4-BE49-F238E27FC236}">
                <a16:creationId xmlns:a16="http://schemas.microsoft.com/office/drawing/2014/main" id="{A72EDB8E-D1C2-4198-91A5-11A8C90AF91D}"/>
              </a:ext>
            </a:extLst>
          </p:cNvPr>
          <p:cNvSpPr>
            <a:spLocks noGrp="1"/>
          </p:cNvSpPr>
          <p:nvPr/>
        </p:nvSpPr>
        <p:spPr>
          <a:xfrm>
            <a:off x="1981200" y="1962150"/>
            <a:ext cx="3048000" cy="400050"/>
          </a:xfrm>
          <a:prstGeom prst="rect">
            <a:avLst/>
          </a:prstGeom>
          <a:noFill/>
          <a:ln w="0">
            <a:noFill/>
            <a:prstDash val="solid"/>
          </a:ln>
        </p:spPr>
        <p:txBody>
          <a:bodyPr/>
          <a:lstStyle/>
          <a:p>
            <a:pPr algn="l">
              <a:defRPr sz="2250" b="1">
                <a:solidFill>
                  <a:srgbClr val="0B1220"/>
                </a:solidFill>
                <a:latin typeface="Yu Gothic"/>
                <a:ea typeface="Yu Gothic"/>
                <a:cs typeface="Yu Gothic"/>
              </a:defRPr>
            </a:pPr>
            <a:r>
              <a:rPr lang="ja-JP" altLang="en-US" sz="2250" b="1">
                <a:solidFill>
                  <a:srgbClr val="0B1220"/>
                </a:solidFill>
                <a:latin typeface="Yu Gothic"/>
                <a:ea typeface="Yu Gothic"/>
                <a:cs typeface="Yu Gothic"/>
              </a:rPr>
              <a:t>行動</a:t>
            </a:r>
            <a:r>
              <a:rPr sz="2250" b="1" dirty="0" err="1">
                <a:solidFill>
                  <a:srgbClr val="0B1220"/>
                </a:solidFill>
                <a:latin typeface="Yu Gothic"/>
                <a:ea typeface="Yu Gothic"/>
                <a:cs typeface="Yu Gothic"/>
              </a:rPr>
              <a:t>認識</a:t>
            </a:r>
            <a:endParaRPr sz="2250" b="1" dirty="0">
              <a:solidFill>
                <a:srgbClr val="0B1220"/>
              </a:solidFill>
              <a:latin typeface="Yu Gothic"/>
              <a:ea typeface="Yu Gothic"/>
              <a:cs typeface="Yu Gothic"/>
            </a:endParaRPr>
          </a:p>
        </p:txBody>
      </p:sp>
      <p:sp>
        <p:nvSpPr>
          <p:cNvPr id="10" name="正方形/長方形 9">
            <a:extLst>
              <a:ext uri="{FF2B5EF4-FFF2-40B4-BE49-F238E27FC236}">
                <a16:creationId xmlns:a16="http://schemas.microsoft.com/office/drawing/2014/main" id="{8207AE41-64D0-43CE-9A95-D3BFC7445B74}"/>
              </a:ext>
            </a:extLst>
          </p:cNvPr>
          <p:cNvSpPr>
            <a:spLocks noGrp="1"/>
          </p:cNvSpPr>
          <p:nvPr/>
        </p:nvSpPr>
        <p:spPr>
          <a:xfrm>
            <a:off x="1181100" y="2743200"/>
            <a:ext cx="3905250" cy="704850"/>
          </a:xfrm>
          <a:prstGeom prst="rect">
            <a:avLst/>
          </a:prstGeom>
          <a:noFill/>
          <a:ln w="0">
            <a:noFill/>
            <a:prstDash val="solid"/>
          </a:ln>
        </p:spPr>
        <p:txBody>
          <a:bodyPr/>
          <a:lstStyle/>
          <a:p>
            <a:pPr algn="l">
              <a:defRPr sz="1500" b="0">
                <a:solidFill>
                  <a:srgbClr val="334155"/>
                </a:solidFill>
                <a:latin typeface="Yu Gothic"/>
                <a:ea typeface="Yu Gothic"/>
                <a:cs typeface="Yu Gothic"/>
              </a:defRPr>
            </a:pPr>
            <a:r>
              <a:rPr sz="1500" b="0" dirty="0">
                <a:solidFill>
                  <a:srgbClr val="334155"/>
                </a:solidFill>
                <a:latin typeface="Yu Gothic"/>
                <a:ea typeface="Yu Gothic"/>
                <a:cs typeface="Yu Gothic"/>
              </a:rPr>
              <a:t>ラベル付き姿勢キーポイントデータを用いて、各時系列窓を8種類の活動に分類する</a:t>
            </a:r>
          </a:p>
        </p:txBody>
      </p:sp>
      <p:sp>
        <p:nvSpPr>
          <p:cNvPr id="11" name="角丸四角形 10">
            <a:extLst>
              <a:ext uri="{FF2B5EF4-FFF2-40B4-BE49-F238E27FC236}">
                <a16:creationId xmlns:a16="http://schemas.microsoft.com/office/drawing/2014/main" id="{093297C8-7DC8-4E46-8818-C76BAAC4E865}"/>
              </a:ext>
            </a:extLst>
          </p:cNvPr>
          <p:cNvSpPr>
            <a:spLocks noGrp="1"/>
          </p:cNvSpPr>
          <p:nvPr/>
        </p:nvSpPr>
        <p:spPr>
          <a:xfrm>
            <a:off x="1143000" y="4133851"/>
            <a:ext cx="1600200" cy="304800"/>
          </a:xfrm>
          <a:prstGeom prst="roundRect">
            <a:avLst>
              <a:gd name="adj" fmla="val 50000"/>
            </a:avLst>
          </a:prstGeom>
          <a:solidFill>
            <a:srgbClr val="22C55E"/>
          </a:solidFill>
          <a:ln w="0">
            <a:noFill/>
            <a:prstDash val="solid"/>
          </a:ln>
        </p:spPr>
        <p:txBody>
          <a:bodyPr/>
          <a:lstStyle/>
          <a:p>
            <a:r>
              <a:rPr lang="en" altLang="ja-JP" sz="1200" b="1" dirty="0">
                <a:solidFill>
                  <a:srgbClr val="0B1220"/>
                </a:solidFill>
                <a:latin typeface="Yu Gothic"/>
                <a:ea typeface="Yu Gothic"/>
                <a:cs typeface="Yu Gothic"/>
              </a:rPr>
              <a:t>Normal: 4 classes</a:t>
            </a:r>
          </a:p>
          <a:p>
            <a:endParaRPr lang="ja-JP" altLang="en-US"/>
          </a:p>
        </p:txBody>
      </p:sp>
      <p:sp>
        <p:nvSpPr>
          <p:cNvPr id="13" name="角丸四角形 12">
            <a:extLst>
              <a:ext uri="{FF2B5EF4-FFF2-40B4-BE49-F238E27FC236}">
                <a16:creationId xmlns:a16="http://schemas.microsoft.com/office/drawing/2014/main" id="{FC8981E0-7781-4507-98C5-5D57C2066BE9}"/>
              </a:ext>
            </a:extLst>
          </p:cNvPr>
          <p:cNvSpPr>
            <a:spLocks noGrp="1"/>
          </p:cNvSpPr>
          <p:nvPr/>
        </p:nvSpPr>
        <p:spPr>
          <a:xfrm>
            <a:off x="3399597" y="4133850"/>
            <a:ext cx="1686753" cy="304800"/>
          </a:xfrm>
          <a:prstGeom prst="roundRect">
            <a:avLst>
              <a:gd name="adj" fmla="val 50000"/>
            </a:avLst>
          </a:prstGeom>
          <a:solidFill>
            <a:srgbClr val="F97316"/>
          </a:solidFill>
          <a:ln w="0">
            <a:noFill/>
            <a:prstDash val="solid"/>
          </a:ln>
        </p:spPr>
        <p:txBody>
          <a:bodyPr/>
          <a:lstStyle/>
          <a:p>
            <a:r>
              <a:rPr lang="en" altLang="ja-JP" sz="1200" b="1" dirty="0">
                <a:solidFill>
                  <a:srgbClr val="FFFFFF"/>
                </a:solidFill>
                <a:latin typeface="Yu Gothic"/>
                <a:ea typeface="Yu Gothic"/>
                <a:cs typeface="Yu Gothic"/>
              </a:rPr>
              <a:t>Unusual: 4 classes</a:t>
            </a:r>
          </a:p>
        </p:txBody>
      </p:sp>
      <p:sp>
        <p:nvSpPr>
          <p:cNvPr id="15" name="角丸四角形 14">
            <a:extLst>
              <a:ext uri="{FF2B5EF4-FFF2-40B4-BE49-F238E27FC236}">
                <a16:creationId xmlns:a16="http://schemas.microsoft.com/office/drawing/2014/main" id="{3647852C-E284-4A81-8ABD-AE4D59752FAD}"/>
              </a:ext>
            </a:extLst>
          </p:cNvPr>
          <p:cNvSpPr>
            <a:spLocks noGrp="1"/>
          </p:cNvSpPr>
          <p:nvPr/>
        </p:nvSpPr>
        <p:spPr>
          <a:xfrm>
            <a:off x="6496050" y="1600200"/>
            <a:ext cx="4857750" cy="3124200"/>
          </a:xfrm>
          <a:prstGeom prst="roundRect">
            <a:avLst>
              <a:gd name="adj" fmla="val 7317"/>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16" name="正方形/長方形 15">
            <a:extLst>
              <a:ext uri="{FF2B5EF4-FFF2-40B4-BE49-F238E27FC236}">
                <a16:creationId xmlns:a16="http://schemas.microsoft.com/office/drawing/2014/main" id="{E3480C09-FF5D-4837-83EA-0CB7DD78DB46}"/>
              </a:ext>
            </a:extLst>
          </p:cNvPr>
          <p:cNvSpPr>
            <a:spLocks noGrp="1"/>
          </p:cNvSpPr>
          <p:nvPr/>
        </p:nvSpPr>
        <p:spPr>
          <a:xfrm>
            <a:off x="6800850" y="1885950"/>
            <a:ext cx="685800" cy="685800"/>
          </a:xfrm>
          <a:prstGeom prst="rect">
            <a:avLst/>
          </a:prstGeom>
          <a:noFill/>
          <a:ln w="0">
            <a:noFill/>
            <a:prstDash val="solid"/>
          </a:ln>
        </p:spPr>
        <p:txBody>
          <a:bodyPr/>
          <a:lstStyle/>
          <a:p>
            <a:pPr algn="ctr">
              <a:defRPr sz="4050" b="1">
                <a:solidFill>
                  <a:srgbClr val="F97316"/>
                </a:solidFill>
                <a:latin typeface="Aptos Display"/>
                <a:ea typeface="Aptos Display"/>
                <a:cs typeface="Aptos Display"/>
              </a:defRPr>
            </a:pPr>
            <a:r>
              <a:rPr sz="4050" b="1">
                <a:solidFill>
                  <a:srgbClr val="F97316"/>
                </a:solidFill>
                <a:latin typeface="Aptos Display"/>
                <a:ea typeface="Aptos Display"/>
                <a:cs typeface="Aptos Display"/>
              </a:rPr>
              <a:t>B</a:t>
            </a:r>
          </a:p>
        </p:txBody>
      </p:sp>
      <p:sp>
        <p:nvSpPr>
          <p:cNvPr id="17" name="正方形/長方形 16">
            <a:extLst>
              <a:ext uri="{FF2B5EF4-FFF2-40B4-BE49-F238E27FC236}">
                <a16:creationId xmlns:a16="http://schemas.microsoft.com/office/drawing/2014/main" id="{CEB28738-3D32-40E8-8D72-F056172AF6B6}"/>
              </a:ext>
            </a:extLst>
          </p:cNvPr>
          <p:cNvSpPr>
            <a:spLocks noGrp="1"/>
          </p:cNvSpPr>
          <p:nvPr/>
        </p:nvSpPr>
        <p:spPr>
          <a:xfrm>
            <a:off x="7639050" y="1962150"/>
            <a:ext cx="3409950" cy="400050"/>
          </a:xfrm>
          <a:prstGeom prst="rect">
            <a:avLst/>
          </a:prstGeom>
          <a:noFill/>
          <a:ln w="0">
            <a:noFill/>
            <a:prstDash val="solid"/>
          </a:ln>
        </p:spPr>
        <p:txBody>
          <a:bodyPr/>
          <a:lstStyle/>
          <a:p>
            <a:pPr algn="l">
              <a:defRPr sz="2250" b="1">
                <a:solidFill>
                  <a:srgbClr val="0B1220"/>
                </a:solidFill>
                <a:latin typeface="Yu Gothic"/>
                <a:ea typeface="Yu Gothic"/>
                <a:cs typeface="Yu Gothic"/>
              </a:defRPr>
            </a:pPr>
            <a:r>
              <a:rPr sz="2250" b="1" dirty="0" err="1">
                <a:solidFill>
                  <a:srgbClr val="0B1220"/>
                </a:solidFill>
                <a:latin typeface="Yu Gothic"/>
                <a:ea typeface="Yu Gothic"/>
                <a:cs typeface="Yu Gothic"/>
              </a:rPr>
              <a:t>LOSOで異常検出を改善</a:t>
            </a:r>
            <a:endParaRPr sz="2250" b="1" dirty="0">
              <a:solidFill>
                <a:srgbClr val="0B1220"/>
              </a:solidFill>
              <a:latin typeface="Yu Gothic"/>
              <a:ea typeface="Yu Gothic"/>
              <a:cs typeface="Yu Gothic"/>
            </a:endParaRPr>
          </a:p>
        </p:txBody>
      </p:sp>
      <p:sp>
        <p:nvSpPr>
          <p:cNvPr id="18" name="正方形/長方形 17">
            <a:extLst>
              <a:ext uri="{FF2B5EF4-FFF2-40B4-BE49-F238E27FC236}">
                <a16:creationId xmlns:a16="http://schemas.microsoft.com/office/drawing/2014/main" id="{6C257EBF-9420-4111-BFBC-D484B2EF3C7C}"/>
              </a:ext>
            </a:extLst>
          </p:cNvPr>
          <p:cNvSpPr>
            <a:spLocks noGrp="1"/>
          </p:cNvSpPr>
          <p:nvPr/>
        </p:nvSpPr>
        <p:spPr>
          <a:xfrm>
            <a:off x="6899827" y="2705100"/>
            <a:ext cx="3905250" cy="571500"/>
          </a:xfrm>
          <a:prstGeom prst="rect">
            <a:avLst/>
          </a:prstGeom>
          <a:noFill/>
          <a:ln w="0">
            <a:noFill/>
            <a:prstDash val="solid"/>
          </a:ln>
        </p:spPr>
        <p:txBody>
          <a:bodyPr/>
          <a:lstStyle/>
          <a:p>
            <a:pPr algn="l">
              <a:defRPr sz="1500" b="0">
                <a:solidFill>
                  <a:srgbClr val="334155"/>
                </a:solidFill>
                <a:latin typeface="Yu Gothic"/>
                <a:ea typeface="Yu Gothic"/>
                <a:cs typeface="Yu Gothic"/>
              </a:defRPr>
            </a:pPr>
            <a:r>
              <a:rPr sz="1500" b="0" dirty="0">
                <a:solidFill>
                  <a:srgbClr val="334155"/>
                </a:solidFill>
                <a:latin typeface="Yu Gothic"/>
                <a:ea typeface="Yu Gothic"/>
                <a:cs typeface="Yu Gothic"/>
              </a:rPr>
              <a:t>1名を完全に評価用として除外し、未知被験者への汎化性能を測る。</a:t>
            </a:r>
          </a:p>
        </p:txBody>
      </p:sp>
      <p:sp>
        <p:nvSpPr>
          <p:cNvPr id="19" name="角丸四角形 18">
            <a:extLst>
              <a:ext uri="{FF2B5EF4-FFF2-40B4-BE49-F238E27FC236}">
                <a16:creationId xmlns:a16="http://schemas.microsoft.com/office/drawing/2014/main" id="{02394D9D-9008-4BC5-B46F-7FA6B77AC37A}"/>
              </a:ext>
            </a:extLst>
          </p:cNvPr>
          <p:cNvSpPr>
            <a:spLocks noGrp="1"/>
          </p:cNvSpPr>
          <p:nvPr/>
        </p:nvSpPr>
        <p:spPr>
          <a:xfrm>
            <a:off x="7060510" y="4095750"/>
            <a:ext cx="1499980" cy="304800"/>
          </a:xfrm>
          <a:prstGeom prst="roundRect">
            <a:avLst>
              <a:gd name="adj" fmla="val 50000"/>
            </a:avLst>
          </a:prstGeom>
          <a:solidFill>
            <a:srgbClr val="E2E8F0"/>
          </a:solidFill>
          <a:ln w="0">
            <a:noFill/>
            <a:prstDash val="solid"/>
          </a:ln>
        </p:spPr>
        <p:txBody>
          <a:bodyPr/>
          <a:lstStyle/>
          <a:p>
            <a:r>
              <a:rPr lang="en" altLang="ja-JP" sz="1200" b="1" dirty="0">
                <a:solidFill>
                  <a:srgbClr val="0B1220"/>
                </a:solidFill>
                <a:latin typeface="Yu Gothic"/>
                <a:ea typeface="Yu Gothic"/>
                <a:cs typeface="Yu Gothic"/>
              </a:rPr>
              <a:t>train: 3 subjects</a:t>
            </a:r>
          </a:p>
        </p:txBody>
      </p:sp>
      <p:sp>
        <p:nvSpPr>
          <p:cNvPr id="21" name="角丸四角形 20">
            <a:extLst>
              <a:ext uri="{FF2B5EF4-FFF2-40B4-BE49-F238E27FC236}">
                <a16:creationId xmlns:a16="http://schemas.microsoft.com/office/drawing/2014/main" id="{8226B764-9D05-47B1-9AEA-59E27CF006BF}"/>
              </a:ext>
            </a:extLst>
          </p:cNvPr>
          <p:cNvSpPr>
            <a:spLocks noGrp="1"/>
          </p:cNvSpPr>
          <p:nvPr/>
        </p:nvSpPr>
        <p:spPr>
          <a:xfrm>
            <a:off x="9410700" y="4133850"/>
            <a:ext cx="1371600" cy="304800"/>
          </a:xfrm>
          <a:prstGeom prst="roundRect">
            <a:avLst>
              <a:gd name="adj" fmla="val 50000"/>
            </a:avLst>
          </a:prstGeom>
          <a:solidFill>
            <a:srgbClr val="0B1220"/>
          </a:solidFill>
          <a:ln w="0">
            <a:noFill/>
            <a:prstDash val="solid"/>
          </a:ln>
        </p:spPr>
        <p:txBody>
          <a:bodyPr/>
          <a:lstStyle/>
          <a:p>
            <a:r>
              <a:rPr lang="en" altLang="ja-JP" sz="1200" b="1" dirty="0">
                <a:solidFill>
                  <a:srgbClr val="FFFFFF"/>
                </a:solidFill>
                <a:latin typeface="Yu Gothic"/>
                <a:ea typeface="Yu Gothic"/>
                <a:cs typeface="Yu Gothic"/>
              </a:rPr>
              <a:t>test: unseen 1</a:t>
            </a:r>
          </a:p>
        </p:txBody>
      </p:sp>
      <p:sp>
        <p:nvSpPr>
          <p:cNvPr id="23" name="正方形/長方形 22">
            <a:extLst>
              <a:ext uri="{FF2B5EF4-FFF2-40B4-BE49-F238E27FC236}">
                <a16:creationId xmlns:a16="http://schemas.microsoft.com/office/drawing/2014/main" id="{2BA8AF47-7055-4C30-ADE5-0F157C845D00}"/>
              </a:ext>
            </a:extLst>
          </p:cNvPr>
          <p:cNvSpPr>
            <a:spLocks noGrp="1"/>
          </p:cNvSpPr>
          <p:nvPr/>
        </p:nvSpPr>
        <p:spPr>
          <a:xfrm>
            <a:off x="2095500" y="5257800"/>
            <a:ext cx="8001000" cy="361950"/>
          </a:xfrm>
          <a:prstGeom prst="rect">
            <a:avLst/>
          </a:prstGeom>
          <a:noFill/>
          <a:ln w="0">
            <a:noFill/>
            <a:prstDash val="solid"/>
          </a:ln>
        </p:spPr>
        <p:txBody>
          <a:bodyPr/>
          <a:lstStyle/>
          <a:p>
            <a:pPr algn="ctr">
              <a:defRPr sz="1575" b="1">
                <a:solidFill>
                  <a:srgbClr val="0B1220"/>
                </a:solidFill>
                <a:latin typeface="Yu Gothic"/>
                <a:ea typeface="Yu Gothic"/>
                <a:cs typeface="Yu Gothic"/>
              </a:defRPr>
            </a:pPr>
            <a:r>
              <a:rPr sz="1575" b="1">
                <a:solidFill>
                  <a:srgbClr val="0B1220"/>
                </a:solidFill>
                <a:latin typeface="Yu Gothic"/>
                <a:ea typeface="Yu Gothic"/>
                <a:cs typeface="Yu Gothic"/>
              </a:rPr>
              <a:t>評価指標: Accuracy / Macro-F1 / 異常Precision・Recall・F1</a:t>
            </a:r>
          </a:p>
        </p:txBody>
      </p:sp>
    </p:spTree>
    <p:extLst>
      <p:ext uri="{BB962C8B-B14F-4D97-AF65-F5344CB8AC3E}">
        <p14:creationId xmlns:p14="http://schemas.microsoft.com/office/powerpoint/2010/main" val="1923434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46" name="正方形/長方形 45">
            <a:extLst>
              <a:ext uri="{FF2B5EF4-FFF2-40B4-BE49-F238E27FC236}">
                <a16:creationId xmlns:a16="http://schemas.microsoft.com/office/drawing/2014/main" id="{189FCAED-A719-4E5D-BF8E-E8C12093D2FC}"/>
              </a:ext>
            </a:extLst>
          </p:cNvPr>
          <p:cNvSpPr>
            <a:spLocks noGrp="1"/>
          </p:cNvSpPr>
          <p:nvPr/>
        </p:nvSpPr>
        <p:spPr>
          <a:xfrm>
            <a:off x="609600" y="381000"/>
            <a:ext cx="5905500" cy="228600"/>
          </a:xfrm>
          <a:prstGeom prst="rect">
            <a:avLst/>
          </a:prstGeom>
          <a:noFill/>
          <a:ln w="0">
            <a:noFill/>
            <a:prstDash val="solid"/>
          </a:ln>
        </p:spPr>
        <p:txBody>
          <a:bodyPr/>
          <a:lstStyle/>
          <a:p>
            <a:pPr algn="l">
              <a:defRPr sz="900" b="1">
                <a:solidFill>
                  <a:srgbClr val="38BDF8"/>
                </a:solidFill>
                <a:latin typeface="Yu Gothic"/>
                <a:ea typeface="Yu Gothic"/>
                <a:cs typeface="Yu Gothic"/>
              </a:defRPr>
            </a:pPr>
            <a:r>
              <a:rPr sz="900" b="1">
                <a:solidFill>
                  <a:srgbClr val="38BDF8"/>
                </a:solidFill>
                <a:latin typeface="Yu Gothic"/>
                <a:ea typeface="Yu Gothic"/>
                <a:cs typeface="Yu Gothic"/>
              </a:rPr>
              <a:t>DATA TO MODEL PIPELINE</a:t>
            </a:r>
          </a:p>
        </p:txBody>
      </p:sp>
      <p:sp>
        <p:nvSpPr>
          <p:cNvPr id="2" name="正方形/長方形 1">
            <a:extLst>
              <a:ext uri="{FF2B5EF4-FFF2-40B4-BE49-F238E27FC236}">
                <a16:creationId xmlns:a16="http://schemas.microsoft.com/office/drawing/2014/main" id="{DC5AFBEC-7900-40DE-A308-286BD094BFD3}"/>
              </a:ext>
            </a:extLst>
          </p:cNvPr>
          <p:cNvSpPr>
            <a:spLocks noGrp="1"/>
          </p:cNvSpPr>
          <p:nvPr/>
        </p:nvSpPr>
        <p:spPr>
          <a:xfrm>
            <a:off x="609600" y="647700"/>
            <a:ext cx="8096250" cy="514350"/>
          </a:xfrm>
          <a:prstGeom prst="rect">
            <a:avLst/>
          </a:prstGeom>
          <a:noFill/>
          <a:ln w="0">
            <a:noFill/>
            <a:prstDash val="solid"/>
          </a:ln>
        </p:spPr>
        <p:txBody>
          <a:bodyPr/>
          <a:lstStyle/>
          <a:p>
            <a:pPr algn="l">
              <a:defRPr sz="2700" b="1">
                <a:solidFill>
                  <a:srgbClr val="FFFFFF"/>
                </a:solidFill>
                <a:latin typeface="Yu Gothic"/>
                <a:ea typeface="Yu Gothic"/>
                <a:cs typeface="Yu Gothic"/>
              </a:defRPr>
            </a:pPr>
            <a:r>
              <a:rPr sz="2700" b="1">
                <a:solidFill>
                  <a:srgbClr val="FFFFFF"/>
                </a:solidFill>
                <a:latin typeface="Yu Gothic"/>
                <a:ea typeface="Yu Gothic"/>
                <a:cs typeface="Yu Gothic"/>
              </a:rPr>
              <a:t>方法</a:t>
            </a:r>
          </a:p>
        </p:txBody>
      </p:sp>
      <p:sp>
        <p:nvSpPr>
          <p:cNvPr id="3" name="正方形/長方形 2">
            <a:extLst>
              <a:ext uri="{FF2B5EF4-FFF2-40B4-BE49-F238E27FC236}">
                <a16:creationId xmlns:a16="http://schemas.microsoft.com/office/drawing/2014/main" id="{F03A6F75-58EB-47E4-9A97-F5474BF693E9}"/>
              </a:ext>
            </a:extLst>
          </p:cNvPr>
          <p:cNvSpPr>
            <a:spLocks noGrp="1"/>
          </p:cNvSpPr>
          <p:nvPr/>
        </p:nvSpPr>
        <p:spPr>
          <a:xfrm>
            <a:off x="609600" y="1200150"/>
            <a:ext cx="742950" cy="38100"/>
          </a:xfrm>
          <a:prstGeom prst="rect">
            <a:avLst/>
          </a:prstGeom>
          <a:solidFill>
            <a:srgbClr val="38BDF8"/>
          </a:solidFill>
          <a:ln w="0">
            <a:noFill/>
            <a:prstDash val="solid"/>
          </a:ln>
        </p:spPr>
        <p:txBody>
          <a:bodyPr/>
          <a:lstStyle/>
          <a:p>
            <a:endParaRPr lang="ja-JP" altLang="en-US"/>
          </a:p>
        </p:txBody>
      </p:sp>
      <p:sp>
        <p:nvSpPr>
          <p:cNvPr id="4" name="正方形/長方形 3">
            <a:extLst>
              <a:ext uri="{FF2B5EF4-FFF2-40B4-BE49-F238E27FC236}">
                <a16:creationId xmlns:a16="http://schemas.microsoft.com/office/drawing/2014/main" id="{5929FC5E-FD05-4D0A-A25B-94E89B2FBD70}"/>
              </a:ext>
            </a:extLst>
          </p:cNvPr>
          <p:cNvSpPr>
            <a:spLocks noGrp="1"/>
          </p:cNvSpPr>
          <p:nvPr/>
        </p:nvSpPr>
        <p:spPr>
          <a:xfrm>
            <a:off x="7810500" y="419100"/>
            <a:ext cx="3771900" cy="228600"/>
          </a:xfrm>
          <a:prstGeom prst="rect">
            <a:avLst/>
          </a:prstGeom>
          <a:noFill/>
          <a:ln w="0">
            <a:noFill/>
            <a:prstDash val="solid"/>
          </a:ln>
        </p:spPr>
        <p:txBody>
          <a:bodyPr/>
          <a:lstStyle/>
          <a:p>
            <a:pPr algn="r">
              <a:defRPr sz="900" b="0">
                <a:solidFill>
                  <a:srgbClr val="94A3B8"/>
                </a:solidFill>
                <a:latin typeface="Yu Gothic"/>
                <a:ea typeface="Yu Gothic"/>
                <a:cs typeface="Yu Gothic"/>
              </a:defRPr>
            </a:pPr>
            <a:r>
              <a:rPr sz="900" b="0">
                <a:solidFill>
                  <a:srgbClr val="94A3B8"/>
                </a:solidFill>
                <a:latin typeface="Yu Gothic"/>
                <a:ea typeface="Yu Gothic"/>
                <a:cs typeface="Yu Gothic"/>
              </a:rPr>
              <a:t>Pose-keypoint unusual activity recognition</a:t>
            </a:r>
          </a:p>
        </p:txBody>
      </p:sp>
      <p:sp>
        <p:nvSpPr>
          <p:cNvPr id="5" name="正方形/長方形 4">
            <a:extLst>
              <a:ext uri="{FF2B5EF4-FFF2-40B4-BE49-F238E27FC236}">
                <a16:creationId xmlns:a16="http://schemas.microsoft.com/office/drawing/2014/main" id="{1AF0D03D-B6F0-417C-A202-96B1934D7368}"/>
              </a:ext>
            </a:extLst>
          </p:cNvPr>
          <p:cNvSpPr>
            <a:spLocks noGrp="1"/>
          </p:cNvSpPr>
          <p:nvPr/>
        </p:nvSpPr>
        <p:spPr>
          <a:xfrm>
            <a:off x="609600" y="6496050"/>
            <a:ext cx="6477000" cy="190500"/>
          </a:xfrm>
          <a:prstGeom prst="rect">
            <a:avLst/>
          </a:prstGeom>
          <a:noFill/>
          <a:ln w="0">
            <a:noFill/>
            <a:prstDash val="solid"/>
          </a:ln>
        </p:spPr>
        <p:txBody>
          <a:bodyPr/>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Sources: specification / LOSO metrics / per-class CSV</a:t>
            </a:r>
          </a:p>
        </p:txBody>
      </p:sp>
      <p:sp>
        <p:nvSpPr>
          <p:cNvPr id="6" name="正方形/長方形 5">
            <a:extLst>
              <a:ext uri="{FF2B5EF4-FFF2-40B4-BE49-F238E27FC236}">
                <a16:creationId xmlns:a16="http://schemas.microsoft.com/office/drawing/2014/main" id="{0E17617F-3032-48D6-B860-D15E74732C93}"/>
              </a:ext>
            </a:extLst>
          </p:cNvPr>
          <p:cNvSpPr>
            <a:spLocks noGrp="1"/>
          </p:cNvSpPr>
          <p:nvPr/>
        </p:nvSpPr>
        <p:spPr>
          <a:xfrm>
            <a:off x="10744200" y="6477000"/>
            <a:ext cx="838200" cy="209550"/>
          </a:xfrm>
          <a:prstGeom prst="rect">
            <a:avLst/>
          </a:prstGeom>
          <a:noFill/>
          <a:ln w="0">
            <a:noFill/>
            <a:prstDash val="solid"/>
          </a:ln>
        </p:spPr>
        <p:txBody>
          <a:bodyPr/>
          <a:lstStyle/>
          <a:p>
            <a:pPr algn="r">
              <a:defRPr sz="900" b="1">
                <a:solidFill>
                  <a:srgbClr val="94A3B8"/>
                </a:solidFill>
                <a:latin typeface="Yu Gothic"/>
                <a:ea typeface="Yu Gothic"/>
                <a:cs typeface="Yu Gothic"/>
              </a:defRPr>
            </a:pPr>
            <a:r>
              <a:rPr sz="900" b="1">
                <a:solidFill>
                  <a:srgbClr val="94A3B8"/>
                </a:solidFill>
                <a:latin typeface="Yu Gothic"/>
                <a:ea typeface="Yu Gothic"/>
                <a:cs typeface="Yu Gothic"/>
              </a:rPr>
              <a:t>5/10</a:t>
            </a:r>
          </a:p>
        </p:txBody>
      </p:sp>
      <p:sp>
        <p:nvSpPr>
          <p:cNvPr id="7" name="角丸四角形 6">
            <a:extLst>
              <a:ext uri="{FF2B5EF4-FFF2-40B4-BE49-F238E27FC236}">
                <a16:creationId xmlns:a16="http://schemas.microsoft.com/office/drawing/2014/main" id="{78471323-7237-4F99-A73A-BB02CCD16B70}"/>
              </a:ext>
            </a:extLst>
          </p:cNvPr>
          <p:cNvSpPr>
            <a:spLocks noGrp="1"/>
          </p:cNvSpPr>
          <p:nvPr/>
        </p:nvSpPr>
        <p:spPr>
          <a:xfrm>
            <a:off x="685800" y="1695450"/>
            <a:ext cx="1752600" cy="1733550"/>
          </a:xfrm>
          <a:prstGeom prst="roundRect">
            <a:avLst>
              <a:gd name="adj" fmla="val 8791"/>
            </a:avLst>
          </a:prstGeom>
          <a:solidFill>
            <a:srgbClr val="111827"/>
          </a:solidFill>
          <a:ln w="9525">
            <a:solidFill>
              <a:srgbClr val="334155"/>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8" name="円/楕円 7">
            <a:extLst>
              <a:ext uri="{FF2B5EF4-FFF2-40B4-BE49-F238E27FC236}">
                <a16:creationId xmlns:a16="http://schemas.microsoft.com/office/drawing/2014/main" id="{3068A8BA-0546-49B4-8BD1-A77D55935BBC}"/>
              </a:ext>
            </a:extLst>
          </p:cNvPr>
          <p:cNvSpPr>
            <a:spLocks noGrp="1"/>
          </p:cNvSpPr>
          <p:nvPr/>
        </p:nvSpPr>
        <p:spPr>
          <a:xfrm>
            <a:off x="876300" y="1924050"/>
            <a:ext cx="361950" cy="361950"/>
          </a:xfrm>
          <a:prstGeom prst="ellipse">
            <a:avLst/>
          </a:prstGeom>
          <a:solidFill>
            <a:srgbClr val="38BDF8"/>
          </a:solidFill>
          <a:ln w="0">
            <a:noFill/>
            <a:prstDash val="solid"/>
          </a:ln>
        </p:spPr>
        <p:txBody>
          <a:bodyPr/>
          <a:lstStyle/>
          <a:p>
            <a:endParaRPr lang="ja-JP" altLang="en-US"/>
          </a:p>
        </p:txBody>
      </p:sp>
      <p:sp>
        <p:nvSpPr>
          <p:cNvPr id="9" name="正方形/長方形 8">
            <a:extLst>
              <a:ext uri="{FF2B5EF4-FFF2-40B4-BE49-F238E27FC236}">
                <a16:creationId xmlns:a16="http://schemas.microsoft.com/office/drawing/2014/main" id="{546CE5F7-B383-4397-BBF8-BCEBD7606AF3}"/>
              </a:ext>
            </a:extLst>
          </p:cNvPr>
          <p:cNvSpPr>
            <a:spLocks noGrp="1"/>
          </p:cNvSpPr>
          <p:nvPr/>
        </p:nvSpPr>
        <p:spPr>
          <a:xfrm>
            <a:off x="876300" y="1971675"/>
            <a:ext cx="361950" cy="266700"/>
          </a:xfrm>
          <a:prstGeom prst="rect">
            <a:avLst/>
          </a:prstGeom>
          <a:noFill/>
          <a:ln w="0">
            <a:noFill/>
            <a:prstDash val="solid"/>
          </a:ln>
        </p:spPr>
        <p:txBody>
          <a:bodyPr/>
          <a:lstStyle/>
          <a:p>
            <a:pPr algn="ctr">
              <a:defRPr sz="1500" b="1">
                <a:solidFill>
                  <a:srgbClr val="0B1220"/>
                </a:solidFill>
                <a:latin typeface="Aptos Display"/>
                <a:ea typeface="Aptos Display"/>
                <a:cs typeface="Aptos Display"/>
              </a:defRPr>
            </a:pPr>
            <a:r>
              <a:rPr sz="1500" b="1">
                <a:solidFill>
                  <a:srgbClr val="0B1220"/>
                </a:solidFill>
                <a:latin typeface="Aptos Display"/>
                <a:ea typeface="Aptos Display"/>
                <a:cs typeface="Aptos Display"/>
              </a:rPr>
              <a:t>1</a:t>
            </a:r>
          </a:p>
        </p:txBody>
      </p:sp>
      <p:sp>
        <p:nvSpPr>
          <p:cNvPr id="10" name="正方形/長方形 9">
            <a:extLst>
              <a:ext uri="{FF2B5EF4-FFF2-40B4-BE49-F238E27FC236}">
                <a16:creationId xmlns:a16="http://schemas.microsoft.com/office/drawing/2014/main" id="{82A797EE-11BC-4FBF-B774-042903330468}"/>
              </a:ext>
            </a:extLst>
          </p:cNvPr>
          <p:cNvSpPr>
            <a:spLocks noGrp="1"/>
          </p:cNvSpPr>
          <p:nvPr/>
        </p:nvSpPr>
        <p:spPr>
          <a:xfrm>
            <a:off x="876300" y="2438400"/>
            <a:ext cx="1371600" cy="285750"/>
          </a:xfrm>
          <a:prstGeom prst="rect">
            <a:avLst/>
          </a:prstGeom>
          <a:noFill/>
          <a:ln w="0">
            <a:noFill/>
            <a:prstDash val="solid"/>
          </a:ln>
        </p:spPr>
        <p:txBody>
          <a:bodyPr/>
          <a:lstStyle/>
          <a:p>
            <a:pPr algn="l">
              <a:defRPr sz="1650" b="1">
                <a:solidFill>
                  <a:srgbClr val="FFFFFF"/>
                </a:solidFill>
                <a:latin typeface="Yu Gothic"/>
                <a:ea typeface="Yu Gothic"/>
                <a:cs typeface="Yu Gothic"/>
              </a:defRPr>
            </a:pPr>
            <a:r>
              <a:rPr sz="1650" b="1">
                <a:solidFill>
                  <a:srgbClr val="FFFFFF"/>
                </a:solidFill>
                <a:latin typeface="Yu Gothic"/>
                <a:ea typeface="Yu Gothic"/>
                <a:cs typeface="Yu Gothic"/>
              </a:rPr>
              <a:t>Data</a:t>
            </a:r>
          </a:p>
        </p:txBody>
      </p:sp>
      <p:sp>
        <p:nvSpPr>
          <p:cNvPr id="11" name="正方形/長方形 10">
            <a:extLst>
              <a:ext uri="{FF2B5EF4-FFF2-40B4-BE49-F238E27FC236}">
                <a16:creationId xmlns:a16="http://schemas.microsoft.com/office/drawing/2014/main" id="{9F9C3832-B103-4E2D-8948-43B65C51907F}"/>
              </a:ext>
            </a:extLst>
          </p:cNvPr>
          <p:cNvSpPr>
            <a:spLocks noGrp="1"/>
          </p:cNvSpPr>
          <p:nvPr/>
        </p:nvSpPr>
        <p:spPr>
          <a:xfrm>
            <a:off x="876300" y="2819400"/>
            <a:ext cx="1371600" cy="476250"/>
          </a:xfrm>
          <a:prstGeom prst="rect">
            <a:avLst/>
          </a:prstGeom>
          <a:noFill/>
          <a:ln w="0">
            <a:noFill/>
            <a:prstDash val="solid"/>
          </a:ln>
        </p:spPr>
        <p:txBody>
          <a:bodyPr/>
          <a:lstStyle/>
          <a:p>
            <a:pPr algn="l">
              <a:defRPr sz="1200" b="0">
                <a:solidFill>
                  <a:srgbClr val="CBD5E1"/>
                </a:solidFill>
                <a:latin typeface="Yu Gothic"/>
                <a:ea typeface="Yu Gothic"/>
                <a:cs typeface="Yu Gothic"/>
              </a:defRPr>
            </a:pPr>
            <a:r>
              <a:rPr sz="1200" b="0">
                <a:solidFill>
                  <a:srgbClr val="CBD5E1"/>
                </a:solidFill>
                <a:latin typeface="Yu Gothic"/>
                <a:ea typeface="Yu Gothic"/>
                <a:cs typeface="Yu Gothic"/>
              </a:rPr>
              <a:t>keypointlabel</a:t>
            </a:r>
          </a:p>
          <a:p>
            <a:pPr algn="l">
              <a:defRPr sz="1200" b="0">
                <a:solidFill>
                  <a:srgbClr val="CBD5E1"/>
                </a:solidFill>
                <a:latin typeface="Yu Gothic"/>
                <a:ea typeface="Yu Gothic"/>
                <a:cs typeface="Yu Gothic"/>
              </a:defRPr>
            </a:pPr>
            <a:r>
              <a:rPr sz="1200" b="0">
                <a:solidFill>
                  <a:srgbClr val="CBD5E1"/>
                </a:solidFill>
                <a:latin typeface="Yu Gothic"/>
                <a:ea typeface="Yu Gothic"/>
                <a:cs typeface="Yu Gothic"/>
              </a:rPr>
              <a:t>4 subjects</a:t>
            </a:r>
          </a:p>
        </p:txBody>
      </p:sp>
      <p:sp>
        <p:nvSpPr>
          <p:cNvPr id="12" name="正方形/長方形 11">
            <a:extLst>
              <a:ext uri="{FF2B5EF4-FFF2-40B4-BE49-F238E27FC236}">
                <a16:creationId xmlns:a16="http://schemas.microsoft.com/office/drawing/2014/main" id="{DEEA47FD-C69D-4E46-910E-2E950C00BBF1}"/>
              </a:ext>
            </a:extLst>
          </p:cNvPr>
          <p:cNvSpPr>
            <a:spLocks noGrp="1"/>
          </p:cNvSpPr>
          <p:nvPr/>
        </p:nvSpPr>
        <p:spPr>
          <a:xfrm>
            <a:off x="2533650" y="2514600"/>
            <a:ext cx="304800" cy="38100"/>
          </a:xfrm>
          <a:prstGeom prst="rect">
            <a:avLst/>
          </a:prstGeom>
          <a:solidFill>
            <a:srgbClr val="475569"/>
          </a:solidFill>
          <a:ln w="0">
            <a:noFill/>
            <a:prstDash val="solid"/>
          </a:ln>
        </p:spPr>
        <p:txBody>
          <a:bodyPr/>
          <a:lstStyle/>
          <a:p>
            <a:endParaRPr lang="ja-JP" altLang="en-US"/>
          </a:p>
        </p:txBody>
      </p:sp>
      <p:sp>
        <p:nvSpPr>
          <p:cNvPr id="13" name="三角形 12">
            <a:extLst>
              <a:ext uri="{FF2B5EF4-FFF2-40B4-BE49-F238E27FC236}">
                <a16:creationId xmlns:a16="http://schemas.microsoft.com/office/drawing/2014/main" id="{A577F01F-AC89-4677-9FFC-A5AE9DCCDE7E}"/>
              </a:ext>
            </a:extLst>
          </p:cNvPr>
          <p:cNvSpPr>
            <a:spLocks noGrp="1"/>
          </p:cNvSpPr>
          <p:nvPr/>
        </p:nvSpPr>
        <p:spPr>
          <a:xfrm>
            <a:off x="2800350" y="2428875"/>
            <a:ext cx="209550" cy="209550"/>
          </a:xfrm>
          <a:prstGeom prst="triangle">
            <a:avLst/>
          </a:prstGeom>
          <a:solidFill>
            <a:srgbClr val="475569"/>
          </a:solidFill>
          <a:ln w="0">
            <a:noFill/>
            <a:prstDash val="solid"/>
          </a:ln>
        </p:spPr>
        <p:txBody>
          <a:bodyPr/>
          <a:lstStyle/>
          <a:p>
            <a:endParaRPr lang="ja-JP" altLang="en-US"/>
          </a:p>
        </p:txBody>
      </p:sp>
      <p:sp>
        <p:nvSpPr>
          <p:cNvPr id="14" name="角丸四角形 13">
            <a:extLst>
              <a:ext uri="{FF2B5EF4-FFF2-40B4-BE49-F238E27FC236}">
                <a16:creationId xmlns:a16="http://schemas.microsoft.com/office/drawing/2014/main" id="{D17D4E83-1192-4BE7-B43C-D6E532A8D02A}"/>
              </a:ext>
            </a:extLst>
          </p:cNvPr>
          <p:cNvSpPr>
            <a:spLocks noGrp="1"/>
          </p:cNvSpPr>
          <p:nvPr/>
        </p:nvSpPr>
        <p:spPr>
          <a:xfrm>
            <a:off x="2933700" y="1695450"/>
            <a:ext cx="1752600" cy="1733550"/>
          </a:xfrm>
          <a:prstGeom prst="roundRect">
            <a:avLst>
              <a:gd name="adj" fmla="val 8791"/>
            </a:avLst>
          </a:prstGeom>
          <a:solidFill>
            <a:srgbClr val="111827"/>
          </a:solidFill>
          <a:ln w="9525">
            <a:solidFill>
              <a:srgbClr val="334155"/>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15" name="円/楕円 14">
            <a:extLst>
              <a:ext uri="{FF2B5EF4-FFF2-40B4-BE49-F238E27FC236}">
                <a16:creationId xmlns:a16="http://schemas.microsoft.com/office/drawing/2014/main" id="{9FCF38BC-5809-4F21-B2A5-61CAE39C8BCC}"/>
              </a:ext>
            </a:extLst>
          </p:cNvPr>
          <p:cNvSpPr>
            <a:spLocks noGrp="1"/>
          </p:cNvSpPr>
          <p:nvPr/>
        </p:nvSpPr>
        <p:spPr>
          <a:xfrm>
            <a:off x="3124200" y="1924050"/>
            <a:ext cx="361950" cy="361950"/>
          </a:xfrm>
          <a:prstGeom prst="ellipse">
            <a:avLst/>
          </a:prstGeom>
          <a:solidFill>
            <a:srgbClr val="38BDF8"/>
          </a:solidFill>
          <a:ln w="0">
            <a:noFill/>
            <a:prstDash val="solid"/>
          </a:ln>
        </p:spPr>
        <p:txBody>
          <a:bodyPr/>
          <a:lstStyle/>
          <a:p>
            <a:endParaRPr lang="ja-JP" altLang="en-US"/>
          </a:p>
        </p:txBody>
      </p:sp>
      <p:sp>
        <p:nvSpPr>
          <p:cNvPr id="16" name="正方形/長方形 15">
            <a:extLst>
              <a:ext uri="{FF2B5EF4-FFF2-40B4-BE49-F238E27FC236}">
                <a16:creationId xmlns:a16="http://schemas.microsoft.com/office/drawing/2014/main" id="{B31BBDA3-BADB-4375-8E49-134C61A245C0}"/>
              </a:ext>
            </a:extLst>
          </p:cNvPr>
          <p:cNvSpPr>
            <a:spLocks noGrp="1"/>
          </p:cNvSpPr>
          <p:nvPr/>
        </p:nvSpPr>
        <p:spPr>
          <a:xfrm>
            <a:off x="3124200" y="1971675"/>
            <a:ext cx="361950" cy="266700"/>
          </a:xfrm>
          <a:prstGeom prst="rect">
            <a:avLst/>
          </a:prstGeom>
          <a:noFill/>
          <a:ln w="0">
            <a:noFill/>
            <a:prstDash val="solid"/>
          </a:ln>
        </p:spPr>
        <p:txBody>
          <a:bodyPr/>
          <a:lstStyle/>
          <a:p>
            <a:pPr algn="ctr">
              <a:defRPr sz="1500" b="1">
                <a:solidFill>
                  <a:srgbClr val="0B1220"/>
                </a:solidFill>
                <a:latin typeface="Aptos Display"/>
                <a:ea typeface="Aptos Display"/>
                <a:cs typeface="Aptos Display"/>
              </a:defRPr>
            </a:pPr>
            <a:r>
              <a:rPr sz="1500" b="1">
                <a:solidFill>
                  <a:srgbClr val="0B1220"/>
                </a:solidFill>
                <a:latin typeface="Aptos Display"/>
                <a:ea typeface="Aptos Display"/>
                <a:cs typeface="Aptos Display"/>
              </a:rPr>
              <a:t>2</a:t>
            </a:r>
          </a:p>
        </p:txBody>
      </p:sp>
      <p:sp>
        <p:nvSpPr>
          <p:cNvPr id="17" name="正方形/長方形 16">
            <a:extLst>
              <a:ext uri="{FF2B5EF4-FFF2-40B4-BE49-F238E27FC236}">
                <a16:creationId xmlns:a16="http://schemas.microsoft.com/office/drawing/2014/main" id="{1B4A7D89-83CE-412F-9620-66BF44B8DEB9}"/>
              </a:ext>
            </a:extLst>
          </p:cNvPr>
          <p:cNvSpPr>
            <a:spLocks noGrp="1"/>
          </p:cNvSpPr>
          <p:nvPr/>
        </p:nvSpPr>
        <p:spPr>
          <a:xfrm>
            <a:off x="3124200" y="2438400"/>
            <a:ext cx="1371600" cy="285750"/>
          </a:xfrm>
          <a:prstGeom prst="rect">
            <a:avLst/>
          </a:prstGeom>
          <a:noFill/>
          <a:ln w="0">
            <a:noFill/>
            <a:prstDash val="solid"/>
          </a:ln>
        </p:spPr>
        <p:txBody>
          <a:bodyPr/>
          <a:lstStyle/>
          <a:p>
            <a:pPr algn="l">
              <a:defRPr sz="1650" b="1">
                <a:solidFill>
                  <a:srgbClr val="FFFFFF"/>
                </a:solidFill>
                <a:latin typeface="Yu Gothic"/>
                <a:ea typeface="Yu Gothic"/>
                <a:cs typeface="Yu Gothic"/>
              </a:defRPr>
            </a:pPr>
            <a:r>
              <a:rPr sz="1650" b="1">
                <a:solidFill>
                  <a:srgbClr val="FFFFFF"/>
                </a:solidFill>
                <a:latin typeface="Yu Gothic"/>
                <a:ea typeface="Yu Gothic"/>
                <a:cs typeface="Yu Gothic"/>
              </a:rPr>
              <a:t>Normalize</a:t>
            </a:r>
          </a:p>
        </p:txBody>
      </p:sp>
      <p:sp>
        <p:nvSpPr>
          <p:cNvPr id="18" name="正方形/長方形 17">
            <a:extLst>
              <a:ext uri="{FF2B5EF4-FFF2-40B4-BE49-F238E27FC236}">
                <a16:creationId xmlns:a16="http://schemas.microsoft.com/office/drawing/2014/main" id="{EB08FC26-2A49-413B-A547-9F9F879B67E4}"/>
              </a:ext>
            </a:extLst>
          </p:cNvPr>
          <p:cNvSpPr>
            <a:spLocks noGrp="1"/>
          </p:cNvSpPr>
          <p:nvPr/>
        </p:nvSpPr>
        <p:spPr>
          <a:xfrm>
            <a:off x="3124200" y="2819400"/>
            <a:ext cx="1371600" cy="476250"/>
          </a:xfrm>
          <a:prstGeom prst="rect">
            <a:avLst/>
          </a:prstGeom>
          <a:noFill/>
          <a:ln w="0">
            <a:noFill/>
            <a:prstDash val="solid"/>
          </a:ln>
        </p:spPr>
        <p:txBody>
          <a:bodyPr/>
          <a:lstStyle/>
          <a:p>
            <a:pPr algn="l">
              <a:defRPr sz="1200" b="0">
                <a:solidFill>
                  <a:srgbClr val="CBD5E1"/>
                </a:solidFill>
                <a:latin typeface="Yu Gothic"/>
                <a:ea typeface="Yu Gothic"/>
                <a:cs typeface="Yu Gothic"/>
              </a:defRPr>
            </a:pPr>
            <a:r>
              <a:rPr sz="1200" b="0">
                <a:solidFill>
                  <a:srgbClr val="CBD5E1"/>
                </a:solidFill>
                <a:latin typeface="Yu Gothic"/>
                <a:ea typeface="Yu Gothic"/>
                <a:cs typeface="Yu Gothic"/>
              </a:rPr>
              <a:t>hip center</a:t>
            </a:r>
          </a:p>
          <a:p>
            <a:pPr algn="l">
              <a:defRPr sz="1200" b="0">
                <a:solidFill>
                  <a:srgbClr val="CBD5E1"/>
                </a:solidFill>
                <a:latin typeface="Yu Gothic"/>
                <a:ea typeface="Yu Gothic"/>
                <a:cs typeface="Yu Gothic"/>
              </a:defRPr>
            </a:pPr>
            <a:r>
              <a:rPr sz="1200" b="0">
                <a:solidFill>
                  <a:srgbClr val="CBD5E1"/>
                </a:solidFill>
                <a:latin typeface="Yu Gothic"/>
                <a:ea typeface="Yu Gothic"/>
                <a:cs typeface="Yu Gothic"/>
              </a:rPr>
              <a:t>body scale</a:t>
            </a:r>
          </a:p>
        </p:txBody>
      </p:sp>
      <p:sp>
        <p:nvSpPr>
          <p:cNvPr id="19" name="正方形/長方形 18">
            <a:extLst>
              <a:ext uri="{FF2B5EF4-FFF2-40B4-BE49-F238E27FC236}">
                <a16:creationId xmlns:a16="http://schemas.microsoft.com/office/drawing/2014/main" id="{6C7F2DDC-EDEE-4086-B37B-5EB804876E00}"/>
              </a:ext>
            </a:extLst>
          </p:cNvPr>
          <p:cNvSpPr>
            <a:spLocks noGrp="1"/>
          </p:cNvSpPr>
          <p:nvPr/>
        </p:nvSpPr>
        <p:spPr>
          <a:xfrm>
            <a:off x="4781550" y="2514600"/>
            <a:ext cx="304800" cy="38100"/>
          </a:xfrm>
          <a:prstGeom prst="rect">
            <a:avLst/>
          </a:prstGeom>
          <a:solidFill>
            <a:srgbClr val="475569"/>
          </a:solidFill>
          <a:ln w="0">
            <a:noFill/>
            <a:prstDash val="solid"/>
          </a:ln>
        </p:spPr>
        <p:txBody>
          <a:bodyPr/>
          <a:lstStyle/>
          <a:p>
            <a:endParaRPr lang="ja-JP" altLang="en-US"/>
          </a:p>
        </p:txBody>
      </p:sp>
      <p:sp>
        <p:nvSpPr>
          <p:cNvPr id="20" name="三角形 19">
            <a:extLst>
              <a:ext uri="{FF2B5EF4-FFF2-40B4-BE49-F238E27FC236}">
                <a16:creationId xmlns:a16="http://schemas.microsoft.com/office/drawing/2014/main" id="{4E23A335-9C7A-4CB1-9CF9-903FFF6C065F}"/>
              </a:ext>
            </a:extLst>
          </p:cNvPr>
          <p:cNvSpPr>
            <a:spLocks noGrp="1"/>
          </p:cNvSpPr>
          <p:nvPr/>
        </p:nvSpPr>
        <p:spPr>
          <a:xfrm>
            <a:off x="5048250" y="2428875"/>
            <a:ext cx="209550" cy="209550"/>
          </a:xfrm>
          <a:prstGeom prst="triangle">
            <a:avLst/>
          </a:prstGeom>
          <a:solidFill>
            <a:srgbClr val="475569"/>
          </a:solidFill>
          <a:ln w="0">
            <a:noFill/>
            <a:prstDash val="solid"/>
          </a:ln>
        </p:spPr>
        <p:txBody>
          <a:bodyPr/>
          <a:lstStyle/>
          <a:p>
            <a:endParaRPr lang="ja-JP" altLang="en-US"/>
          </a:p>
        </p:txBody>
      </p:sp>
      <p:sp>
        <p:nvSpPr>
          <p:cNvPr id="21" name="角丸四角形 20">
            <a:extLst>
              <a:ext uri="{FF2B5EF4-FFF2-40B4-BE49-F238E27FC236}">
                <a16:creationId xmlns:a16="http://schemas.microsoft.com/office/drawing/2014/main" id="{D316BB40-E4DA-4829-815A-010F75E7F27D}"/>
              </a:ext>
            </a:extLst>
          </p:cNvPr>
          <p:cNvSpPr>
            <a:spLocks noGrp="1"/>
          </p:cNvSpPr>
          <p:nvPr/>
        </p:nvSpPr>
        <p:spPr>
          <a:xfrm>
            <a:off x="5181600" y="1695450"/>
            <a:ext cx="1752600" cy="1733550"/>
          </a:xfrm>
          <a:prstGeom prst="roundRect">
            <a:avLst>
              <a:gd name="adj" fmla="val 8791"/>
            </a:avLst>
          </a:prstGeom>
          <a:solidFill>
            <a:srgbClr val="111827"/>
          </a:solidFill>
          <a:ln w="9525">
            <a:solidFill>
              <a:srgbClr val="334155"/>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22" name="円/楕円 21">
            <a:extLst>
              <a:ext uri="{FF2B5EF4-FFF2-40B4-BE49-F238E27FC236}">
                <a16:creationId xmlns:a16="http://schemas.microsoft.com/office/drawing/2014/main" id="{99DDA696-3F8F-494D-AFBD-8F78AAD8D1BA}"/>
              </a:ext>
            </a:extLst>
          </p:cNvPr>
          <p:cNvSpPr>
            <a:spLocks noGrp="1"/>
          </p:cNvSpPr>
          <p:nvPr/>
        </p:nvSpPr>
        <p:spPr>
          <a:xfrm>
            <a:off x="5372100" y="1924050"/>
            <a:ext cx="361950" cy="361950"/>
          </a:xfrm>
          <a:prstGeom prst="ellipse">
            <a:avLst/>
          </a:prstGeom>
          <a:solidFill>
            <a:srgbClr val="38BDF8"/>
          </a:solidFill>
          <a:ln w="0">
            <a:noFill/>
            <a:prstDash val="solid"/>
          </a:ln>
        </p:spPr>
        <p:txBody>
          <a:bodyPr/>
          <a:lstStyle/>
          <a:p>
            <a:endParaRPr lang="ja-JP" altLang="en-US"/>
          </a:p>
        </p:txBody>
      </p:sp>
      <p:sp>
        <p:nvSpPr>
          <p:cNvPr id="23" name="正方形/長方形 22">
            <a:extLst>
              <a:ext uri="{FF2B5EF4-FFF2-40B4-BE49-F238E27FC236}">
                <a16:creationId xmlns:a16="http://schemas.microsoft.com/office/drawing/2014/main" id="{D193F4B1-C052-40E6-9717-8128DF502424}"/>
              </a:ext>
            </a:extLst>
          </p:cNvPr>
          <p:cNvSpPr>
            <a:spLocks noGrp="1"/>
          </p:cNvSpPr>
          <p:nvPr/>
        </p:nvSpPr>
        <p:spPr>
          <a:xfrm>
            <a:off x="5372100" y="1971675"/>
            <a:ext cx="361950" cy="266700"/>
          </a:xfrm>
          <a:prstGeom prst="rect">
            <a:avLst/>
          </a:prstGeom>
          <a:noFill/>
          <a:ln w="0">
            <a:noFill/>
            <a:prstDash val="solid"/>
          </a:ln>
        </p:spPr>
        <p:txBody>
          <a:bodyPr/>
          <a:lstStyle/>
          <a:p>
            <a:pPr algn="ctr">
              <a:defRPr sz="1500" b="1">
                <a:solidFill>
                  <a:srgbClr val="0B1220"/>
                </a:solidFill>
                <a:latin typeface="Aptos Display"/>
                <a:ea typeface="Aptos Display"/>
                <a:cs typeface="Aptos Display"/>
              </a:defRPr>
            </a:pPr>
            <a:r>
              <a:rPr sz="1500" b="1">
                <a:solidFill>
                  <a:srgbClr val="0B1220"/>
                </a:solidFill>
                <a:latin typeface="Aptos Display"/>
                <a:ea typeface="Aptos Display"/>
                <a:cs typeface="Aptos Display"/>
              </a:rPr>
              <a:t>3</a:t>
            </a:r>
          </a:p>
        </p:txBody>
      </p:sp>
      <p:sp>
        <p:nvSpPr>
          <p:cNvPr id="24" name="正方形/長方形 23">
            <a:extLst>
              <a:ext uri="{FF2B5EF4-FFF2-40B4-BE49-F238E27FC236}">
                <a16:creationId xmlns:a16="http://schemas.microsoft.com/office/drawing/2014/main" id="{579D2DDA-8E99-40AA-8B78-2C67A8D8DBB5}"/>
              </a:ext>
            </a:extLst>
          </p:cNvPr>
          <p:cNvSpPr>
            <a:spLocks noGrp="1"/>
          </p:cNvSpPr>
          <p:nvPr/>
        </p:nvSpPr>
        <p:spPr>
          <a:xfrm>
            <a:off x="5372100" y="2438400"/>
            <a:ext cx="1371600" cy="285750"/>
          </a:xfrm>
          <a:prstGeom prst="rect">
            <a:avLst/>
          </a:prstGeom>
          <a:noFill/>
          <a:ln w="0">
            <a:noFill/>
            <a:prstDash val="solid"/>
          </a:ln>
        </p:spPr>
        <p:txBody>
          <a:bodyPr/>
          <a:lstStyle/>
          <a:p>
            <a:pPr algn="l">
              <a:defRPr sz="1650" b="1">
                <a:solidFill>
                  <a:srgbClr val="FFFFFF"/>
                </a:solidFill>
                <a:latin typeface="Yu Gothic"/>
                <a:ea typeface="Yu Gothic"/>
                <a:cs typeface="Yu Gothic"/>
              </a:defRPr>
            </a:pPr>
            <a:r>
              <a:rPr sz="1650" b="1">
                <a:solidFill>
                  <a:srgbClr val="FFFFFF"/>
                </a:solidFill>
                <a:latin typeface="Yu Gothic"/>
                <a:ea typeface="Yu Gothic"/>
                <a:cs typeface="Yu Gothic"/>
              </a:rPr>
              <a:t>Window</a:t>
            </a:r>
          </a:p>
        </p:txBody>
      </p:sp>
      <p:sp>
        <p:nvSpPr>
          <p:cNvPr id="25" name="正方形/長方形 24">
            <a:extLst>
              <a:ext uri="{FF2B5EF4-FFF2-40B4-BE49-F238E27FC236}">
                <a16:creationId xmlns:a16="http://schemas.microsoft.com/office/drawing/2014/main" id="{B759DCCA-1F25-4E43-9F8F-7218CF598323}"/>
              </a:ext>
            </a:extLst>
          </p:cNvPr>
          <p:cNvSpPr>
            <a:spLocks noGrp="1"/>
          </p:cNvSpPr>
          <p:nvPr/>
        </p:nvSpPr>
        <p:spPr>
          <a:xfrm>
            <a:off x="5372100" y="2819400"/>
            <a:ext cx="1371600" cy="476250"/>
          </a:xfrm>
          <a:prstGeom prst="rect">
            <a:avLst/>
          </a:prstGeom>
          <a:noFill/>
          <a:ln w="0">
            <a:noFill/>
            <a:prstDash val="solid"/>
          </a:ln>
        </p:spPr>
        <p:txBody>
          <a:bodyPr/>
          <a:lstStyle/>
          <a:p>
            <a:pPr algn="l">
              <a:defRPr sz="1200" b="0">
                <a:solidFill>
                  <a:srgbClr val="CBD5E1"/>
                </a:solidFill>
                <a:latin typeface="Yu Gothic"/>
                <a:ea typeface="Yu Gothic"/>
                <a:cs typeface="Yu Gothic"/>
              </a:defRPr>
            </a:pPr>
            <a:r>
              <a:rPr sz="1200" b="0">
                <a:solidFill>
                  <a:srgbClr val="CBD5E1"/>
                </a:solidFill>
                <a:latin typeface="Yu Gothic"/>
                <a:ea typeface="Yu Gothic"/>
                <a:cs typeface="Yu Gothic"/>
              </a:rPr>
              <a:t>60 frames</a:t>
            </a:r>
          </a:p>
          <a:p>
            <a:pPr algn="l">
              <a:defRPr sz="1200" b="0">
                <a:solidFill>
                  <a:srgbClr val="CBD5E1"/>
                </a:solidFill>
                <a:latin typeface="Yu Gothic"/>
                <a:ea typeface="Yu Gothic"/>
                <a:cs typeface="Yu Gothic"/>
              </a:defRPr>
            </a:pPr>
            <a:r>
              <a:rPr sz="1200" b="0">
                <a:solidFill>
                  <a:srgbClr val="CBD5E1"/>
                </a:solidFill>
                <a:latin typeface="Yu Gothic"/>
                <a:ea typeface="Yu Gothic"/>
                <a:cs typeface="Yu Gothic"/>
              </a:rPr>
              <a:t>stride 30</a:t>
            </a:r>
          </a:p>
        </p:txBody>
      </p:sp>
      <p:sp>
        <p:nvSpPr>
          <p:cNvPr id="26" name="正方形/長方形 25">
            <a:extLst>
              <a:ext uri="{FF2B5EF4-FFF2-40B4-BE49-F238E27FC236}">
                <a16:creationId xmlns:a16="http://schemas.microsoft.com/office/drawing/2014/main" id="{80246E3A-7B15-42A6-B383-365A35EE39A5}"/>
              </a:ext>
            </a:extLst>
          </p:cNvPr>
          <p:cNvSpPr>
            <a:spLocks noGrp="1"/>
          </p:cNvSpPr>
          <p:nvPr/>
        </p:nvSpPr>
        <p:spPr>
          <a:xfrm>
            <a:off x="7029450" y="2514600"/>
            <a:ext cx="304800" cy="38100"/>
          </a:xfrm>
          <a:prstGeom prst="rect">
            <a:avLst/>
          </a:prstGeom>
          <a:solidFill>
            <a:srgbClr val="475569"/>
          </a:solidFill>
          <a:ln w="0">
            <a:noFill/>
            <a:prstDash val="solid"/>
          </a:ln>
        </p:spPr>
        <p:txBody>
          <a:bodyPr/>
          <a:lstStyle/>
          <a:p>
            <a:endParaRPr lang="ja-JP" altLang="en-US"/>
          </a:p>
        </p:txBody>
      </p:sp>
      <p:sp>
        <p:nvSpPr>
          <p:cNvPr id="27" name="三角形 26">
            <a:extLst>
              <a:ext uri="{FF2B5EF4-FFF2-40B4-BE49-F238E27FC236}">
                <a16:creationId xmlns:a16="http://schemas.microsoft.com/office/drawing/2014/main" id="{F6D7B979-6174-42B6-81E7-5EACBF52867B}"/>
              </a:ext>
            </a:extLst>
          </p:cNvPr>
          <p:cNvSpPr>
            <a:spLocks noGrp="1"/>
          </p:cNvSpPr>
          <p:nvPr/>
        </p:nvSpPr>
        <p:spPr>
          <a:xfrm>
            <a:off x="7296150" y="2428875"/>
            <a:ext cx="209550" cy="209550"/>
          </a:xfrm>
          <a:prstGeom prst="triangle">
            <a:avLst/>
          </a:prstGeom>
          <a:solidFill>
            <a:srgbClr val="475569"/>
          </a:solidFill>
          <a:ln w="0">
            <a:noFill/>
            <a:prstDash val="solid"/>
          </a:ln>
        </p:spPr>
        <p:txBody>
          <a:bodyPr/>
          <a:lstStyle/>
          <a:p>
            <a:endParaRPr lang="ja-JP" altLang="en-US"/>
          </a:p>
        </p:txBody>
      </p:sp>
      <p:sp>
        <p:nvSpPr>
          <p:cNvPr id="28" name="角丸四角形 27">
            <a:extLst>
              <a:ext uri="{FF2B5EF4-FFF2-40B4-BE49-F238E27FC236}">
                <a16:creationId xmlns:a16="http://schemas.microsoft.com/office/drawing/2014/main" id="{04301C87-0467-41AE-9C38-3CAE4D662357}"/>
              </a:ext>
            </a:extLst>
          </p:cNvPr>
          <p:cNvSpPr>
            <a:spLocks noGrp="1"/>
          </p:cNvSpPr>
          <p:nvPr/>
        </p:nvSpPr>
        <p:spPr>
          <a:xfrm>
            <a:off x="7429500" y="1695450"/>
            <a:ext cx="1752600" cy="1733550"/>
          </a:xfrm>
          <a:prstGeom prst="roundRect">
            <a:avLst>
              <a:gd name="adj" fmla="val 8791"/>
            </a:avLst>
          </a:prstGeom>
          <a:solidFill>
            <a:srgbClr val="111827"/>
          </a:solidFill>
          <a:ln w="9525">
            <a:solidFill>
              <a:srgbClr val="334155"/>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29" name="円/楕円 28">
            <a:extLst>
              <a:ext uri="{FF2B5EF4-FFF2-40B4-BE49-F238E27FC236}">
                <a16:creationId xmlns:a16="http://schemas.microsoft.com/office/drawing/2014/main" id="{9AD21170-8039-41C2-904D-EC7E64F5305A}"/>
              </a:ext>
            </a:extLst>
          </p:cNvPr>
          <p:cNvSpPr>
            <a:spLocks noGrp="1"/>
          </p:cNvSpPr>
          <p:nvPr/>
        </p:nvSpPr>
        <p:spPr>
          <a:xfrm>
            <a:off x="7620000" y="1924050"/>
            <a:ext cx="361950" cy="361950"/>
          </a:xfrm>
          <a:prstGeom prst="ellipse">
            <a:avLst/>
          </a:prstGeom>
          <a:solidFill>
            <a:srgbClr val="38BDF8"/>
          </a:solidFill>
          <a:ln w="0">
            <a:noFill/>
            <a:prstDash val="solid"/>
          </a:ln>
        </p:spPr>
        <p:txBody>
          <a:bodyPr/>
          <a:lstStyle/>
          <a:p>
            <a:endParaRPr lang="ja-JP" altLang="en-US"/>
          </a:p>
        </p:txBody>
      </p:sp>
      <p:sp>
        <p:nvSpPr>
          <p:cNvPr id="30" name="正方形/長方形 29">
            <a:extLst>
              <a:ext uri="{FF2B5EF4-FFF2-40B4-BE49-F238E27FC236}">
                <a16:creationId xmlns:a16="http://schemas.microsoft.com/office/drawing/2014/main" id="{0B6313B9-68A9-4D1A-AC4E-AD011A6C6E10}"/>
              </a:ext>
            </a:extLst>
          </p:cNvPr>
          <p:cNvSpPr>
            <a:spLocks noGrp="1"/>
          </p:cNvSpPr>
          <p:nvPr/>
        </p:nvSpPr>
        <p:spPr>
          <a:xfrm>
            <a:off x="7620000" y="1971675"/>
            <a:ext cx="361950" cy="266700"/>
          </a:xfrm>
          <a:prstGeom prst="rect">
            <a:avLst/>
          </a:prstGeom>
          <a:noFill/>
          <a:ln w="0">
            <a:noFill/>
            <a:prstDash val="solid"/>
          </a:ln>
        </p:spPr>
        <p:txBody>
          <a:bodyPr/>
          <a:lstStyle/>
          <a:p>
            <a:pPr algn="ctr">
              <a:defRPr sz="1500" b="1">
                <a:solidFill>
                  <a:srgbClr val="0B1220"/>
                </a:solidFill>
                <a:latin typeface="Aptos Display"/>
                <a:ea typeface="Aptos Display"/>
                <a:cs typeface="Aptos Display"/>
              </a:defRPr>
            </a:pPr>
            <a:r>
              <a:rPr sz="1500" b="1">
                <a:solidFill>
                  <a:srgbClr val="0B1220"/>
                </a:solidFill>
                <a:latin typeface="Aptos Display"/>
                <a:ea typeface="Aptos Display"/>
                <a:cs typeface="Aptos Display"/>
              </a:rPr>
              <a:t>4</a:t>
            </a:r>
          </a:p>
        </p:txBody>
      </p:sp>
      <p:sp>
        <p:nvSpPr>
          <p:cNvPr id="31" name="正方形/長方形 30">
            <a:extLst>
              <a:ext uri="{FF2B5EF4-FFF2-40B4-BE49-F238E27FC236}">
                <a16:creationId xmlns:a16="http://schemas.microsoft.com/office/drawing/2014/main" id="{CB4D765F-964B-4906-812D-A5DBBD54F4FD}"/>
              </a:ext>
            </a:extLst>
          </p:cNvPr>
          <p:cNvSpPr>
            <a:spLocks noGrp="1"/>
          </p:cNvSpPr>
          <p:nvPr/>
        </p:nvSpPr>
        <p:spPr>
          <a:xfrm>
            <a:off x="7620000" y="2438400"/>
            <a:ext cx="1371600" cy="285750"/>
          </a:xfrm>
          <a:prstGeom prst="rect">
            <a:avLst/>
          </a:prstGeom>
          <a:noFill/>
          <a:ln w="0">
            <a:noFill/>
            <a:prstDash val="solid"/>
          </a:ln>
        </p:spPr>
        <p:txBody>
          <a:bodyPr/>
          <a:lstStyle/>
          <a:p>
            <a:pPr algn="l">
              <a:defRPr sz="1650" b="1">
                <a:solidFill>
                  <a:srgbClr val="FFFFFF"/>
                </a:solidFill>
                <a:latin typeface="Yu Gothic"/>
                <a:ea typeface="Yu Gothic"/>
                <a:cs typeface="Yu Gothic"/>
              </a:defRPr>
            </a:pPr>
            <a:r>
              <a:rPr sz="1650" b="1">
                <a:solidFill>
                  <a:srgbClr val="FFFFFF"/>
                </a:solidFill>
                <a:latin typeface="Yu Gothic"/>
                <a:ea typeface="Yu Gothic"/>
                <a:cs typeface="Yu Gothic"/>
              </a:rPr>
              <a:t>Features</a:t>
            </a:r>
          </a:p>
        </p:txBody>
      </p:sp>
      <p:sp>
        <p:nvSpPr>
          <p:cNvPr id="32" name="正方形/長方形 31">
            <a:extLst>
              <a:ext uri="{FF2B5EF4-FFF2-40B4-BE49-F238E27FC236}">
                <a16:creationId xmlns:a16="http://schemas.microsoft.com/office/drawing/2014/main" id="{78344BD5-2724-41C1-A3A4-4F59D7456C71}"/>
              </a:ext>
            </a:extLst>
          </p:cNvPr>
          <p:cNvSpPr>
            <a:spLocks noGrp="1"/>
          </p:cNvSpPr>
          <p:nvPr/>
        </p:nvSpPr>
        <p:spPr>
          <a:xfrm>
            <a:off x="7620000" y="2819400"/>
            <a:ext cx="1371600" cy="476250"/>
          </a:xfrm>
          <a:prstGeom prst="rect">
            <a:avLst/>
          </a:prstGeom>
          <a:noFill/>
          <a:ln w="0">
            <a:noFill/>
            <a:prstDash val="solid"/>
          </a:ln>
        </p:spPr>
        <p:txBody>
          <a:bodyPr/>
          <a:lstStyle/>
          <a:p>
            <a:pPr algn="l">
              <a:defRPr sz="1200" b="0">
                <a:solidFill>
                  <a:srgbClr val="CBD5E1"/>
                </a:solidFill>
                <a:latin typeface="Yu Gothic"/>
                <a:ea typeface="Yu Gothic"/>
                <a:cs typeface="Yu Gothic"/>
              </a:defRPr>
            </a:pPr>
            <a:r>
              <a:rPr sz="1200" b="0">
                <a:solidFill>
                  <a:srgbClr val="CBD5E1"/>
                </a:solidFill>
                <a:latin typeface="Yu Gothic"/>
                <a:ea typeface="Yu Gothic"/>
                <a:cs typeface="Yu Gothic"/>
              </a:rPr>
              <a:t>pose + distance</a:t>
            </a:r>
          </a:p>
          <a:p>
            <a:pPr algn="l">
              <a:defRPr sz="1200" b="0">
                <a:solidFill>
                  <a:srgbClr val="CBD5E1"/>
                </a:solidFill>
                <a:latin typeface="Yu Gothic"/>
                <a:ea typeface="Yu Gothic"/>
                <a:cs typeface="Yu Gothic"/>
              </a:defRPr>
            </a:pPr>
            <a:r>
              <a:rPr sz="1200" b="0">
                <a:solidFill>
                  <a:srgbClr val="CBD5E1"/>
                </a:solidFill>
                <a:latin typeface="Yu Gothic"/>
                <a:ea typeface="Yu Gothic"/>
                <a:cs typeface="Yu Gothic"/>
              </a:rPr>
              <a:t>velocity + accel</a:t>
            </a:r>
          </a:p>
        </p:txBody>
      </p:sp>
      <p:sp>
        <p:nvSpPr>
          <p:cNvPr id="33" name="正方形/長方形 32">
            <a:extLst>
              <a:ext uri="{FF2B5EF4-FFF2-40B4-BE49-F238E27FC236}">
                <a16:creationId xmlns:a16="http://schemas.microsoft.com/office/drawing/2014/main" id="{6FBD1B5A-9B38-4348-BD22-9ABD4EEF2B8F}"/>
              </a:ext>
            </a:extLst>
          </p:cNvPr>
          <p:cNvSpPr>
            <a:spLocks noGrp="1"/>
          </p:cNvSpPr>
          <p:nvPr/>
        </p:nvSpPr>
        <p:spPr>
          <a:xfrm>
            <a:off x="9277350" y="2514600"/>
            <a:ext cx="304800" cy="38100"/>
          </a:xfrm>
          <a:prstGeom prst="rect">
            <a:avLst/>
          </a:prstGeom>
          <a:solidFill>
            <a:srgbClr val="475569"/>
          </a:solidFill>
          <a:ln w="0">
            <a:noFill/>
            <a:prstDash val="solid"/>
          </a:ln>
        </p:spPr>
        <p:txBody>
          <a:bodyPr/>
          <a:lstStyle/>
          <a:p>
            <a:endParaRPr lang="ja-JP" altLang="en-US"/>
          </a:p>
        </p:txBody>
      </p:sp>
      <p:sp>
        <p:nvSpPr>
          <p:cNvPr id="34" name="三角形 33">
            <a:extLst>
              <a:ext uri="{FF2B5EF4-FFF2-40B4-BE49-F238E27FC236}">
                <a16:creationId xmlns:a16="http://schemas.microsoft.com/office/drawing/2014/main" id="{8C4A4D82-DAE6-4FC4-9F9C-62422151D4C9}"/>
              </a:ext>
            </a:extLst>
          </p:cNvPr>
          <p:cNvSpPr>
            <a:spLocks noGrp="1"/>
          </p:cNvSpPr>
          <p:nvPr/>
        </p:nvSpPr>
        <p:spPr>
          <a:xfrm>
            <a:off x="9544050" y="2428875"/>
            <a:ext cx="209550" cy="209550"/>
          </a:xfrm>
          <a:prstGeom prst="triangle">
            <a:avLst/>
          </a:prstGeom>
          <a:solidFill>
            <a:srgbClr val="475569"/>
          </a:solidFill>
          <a:ln w="0">
            <a:noFill/>
            <a:prstDash val="solid"/>
          </a:ln>
        </p:spPr>
        <p:txBody>
          <a:bodyPr/>
          <a:lstStyle/>
          <a:p>
            <a:endParaRPr lang="ja-JP" altLang="en-US"/>
          </a:p>
        </p:txBody>
      </p:sp>
      <p:sp>
        <p:nvSpPr>
          <p:cNvPr id="35" name="角丸四角形 34">
            <a:extLst>
              <a:ext uri="{FF2B5EF4-FFF2-40B4-BE49-F238E27FC236}">
                <a16:creationId xmlns:a16="http://schemas.microsoft.com/office/drawing/2014/main" id="{E3860B8A-C9E8-47CF-9791-0A8E50734841}"/>
              </a:ext>
            </a:extLst>
          </p:cNvPr>
          <p:cNvSpPr>
            <a:spLocks noGrp="1"/>
          </p:cNvSpPr>
          <p:nvPr/>
        </p:nvSpPr>
        <p:spPr>
          <a:xfrm>
            <a:off x="9677400" y="1695450"/>
            <a:ext cx="1752600" cy="1733550"/>
          </a:xfrm>
          <a:prstGeom prst="roundRect">
            <a:avLst>
              <a:gd name="adj" fmla="val 8791"/>
            </a:avLst>
          </a:prstGeom>
          <a:solidFill>
            <a:srgbClr val="111827"/>
          </a:solidFill>
          <a:ln w="9525">
            <a:solidFill>
              <a:srgbClr val="334155"/>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36" name="円/楕円 35">
            <a:extLst>
              <a:ext uri="{FF2B5EF4-FFF2-40B4-BE49-F238E27FC236}">
                <a16:creationId xmlns:a16="http://schemas.microsoft.com/office/drawing/2014/main" id="{A231BC1D-47E1-428E-99F3-C9D3A7A61E5F}"/>
              </a:ext>
            </a:extLst>
          </p:cNvPr>
          <p:cNvSpPr>
            <a:spLocks noGrp="1"/>
          </p:cNvSpPr>
          <p:nvPr/>
        </p:nvSpPr>
        <p:spPr>
          <a:xfrm>
            <a:off x="9867900" y="1924050"/>
            <a:ext cx="361950" cy="361950"/>
          </a:xfrm>
          <a:prstGeom prst="ellipse">
            <a:avLst/>
          </a:prstGeom>
          <a:solidFill>
            <a:srgbClr val="F97316"/>
          </a:solidFill>
          <a:ln w="0">
            <a:noFill/>
            <a:prstDash val="solid"/>
          </a:ln>
        </p:spPr>
        <p:txBody>
          <a:bodyPr/>
          <a:lstStyle/>
          <a:p>
            <a:endParaRPr lang="ja-JP" altLang="en-US"/>
          </a:p>
        </p:txBody>
      </p:sp>
      <p:sp>
        <p:nvSpPr>
          <p:cNvPr id="37" name="正方形/長方形 36">
            <a:extLst>
              <a:ext uri="{FF2B5EF4-FFF2-40B4-BE49-F238E27FC236}">
                <a16:creationId xmlns:a16="http://schemas.microsoft.com/office/drawing/2014/main" id="{6853ACB5-59B3-4E7A-8F52-F4E77EBE79F3}"/>
              </a:ext>
            </a:extLst>
          </p:cNvPr>
          <p:cNvSpPr>
            <a:spLocks noGrp="1"/>
          </p:cNvSpPr>
          <p:nvPr/>
        </p:nvSpPr>
        <p:spPr>
          <a:xfrm>
            <a:off x="9867900" y="1971675"/>
            <a:ext cx="361950" cy="266700"/>
          </a:xfrm>
          <a:prstGeom prst="rect">
            <a:avLst/>
          </a:prstGeom>
          <a:noFill/>
          <a:ln w="0">
            <a:noFill/>
            <a:prstDash val="solid"/>
          </a:ln>
        </p:spPr>
        <p:txBody>
          <a:bodyPr/>
          <a:lstStyle/>
          <a:p>
            <a:pPr algn="ctr">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5</a:t>
            </a:r>
          </a:p>
        </p:txBody>
      </p:sp>
      <p:sp>
        <p:nvSpPr>
          <p:cNvPr id="38" name="正方形/長方形 37">
            <a:extLst>
              <a:ext uri="{FF2B5EF4-FFF2-40B4-BE49-F238E27FC236}">
                <a16:creationId xmlns:a16="http://schemas.microsoft.com/office/drawing/2014/main" id="{0594D5FA-C429-4563-8F13-2AD41F278B1A}"/>
              </a:ext>
            </a:extLst>
          </p:cNvPr>
          <p:cNvSpPr>
            <a:spLocks noGrp="1"/>
          </p:cNvSpPr>
          <p:nvPr/>
        </p:nvSpPr>
        <p:spPr>
          <a:xfrm>
            <a:off x="9867900" y="2438400"/>
            <a:ext cx="1371600" cy="285750"/>
          </a:xfrm>
          <a:prstGeom prst="rect">
            <a:avLst/>
          </a:prstGeom>
          <a:noFill/>
          <a:ln w="0">
            <a:noFill/>
            <a:prstDash val="solid"/>
          </a:ln>
        </p:spPr>
        <p:txBody>
          <a:bodyPr/>
          <a:lstStyle/>
          <a:p>
            <a:pPr algn="l">
              <a:defRPr sz="1650" b="1">
                <a:solidFill>
                  <a:srgbClr val="FFFFFF"/>
                </a:solidFill>
                <a:latin typeface="Yu Gothic"/>
                <a:ea typeface="Yu Gothic"/>
                <a:cs typeface="Yu Gothic"/>
              </a:defRPr>
            </a:pPr>
            <a:r>
              <a:rPr sz="1650" b="1">
                <a:solidFill>
                  <a:srgbClr val="FFFFFF"/>
                </a:solidFill>
                <a:latin typeface="Yu Gothic"/>
                <a:ea typeface="Yu Gothic"/>
                <a:cs typeface="Yu Gothic"/>
              </a:rPr>
              <a:t>Models</a:t>
            </a:r>
          </a:p>
        </p:txBody>
      </p:sp>
      <p:sp>
        <p:nvSpPr>
          <p:cNvPr id="39" name="正方形/長方形 38">
            <a:extLst>
              <a:ext uri="{FF2B5EF4-FFF2-40B4-BE49-F238E27FC236}">
                <a16:creationId xmlns:a16="http://schemas.microsoft.com/office/drawing/2014/main" id="{1ABAFE3F-891B-441E-806B-BF280741DC9E}"/>
              </a:ext>
            </a:extLst>
          </p:cNvPr>
          <p:cNvSpPr>
            <a:spLocks noGrp="1"/>
          </p:cNvSpPr>
          <p:nvPr/>
        </p:nvSpPr>
        <p:spPr>
          <a:xfrm>
            <a:off x="9867900" y="2819400"/>
            <a:ext cx="1371600" cy="476250"/>
          </a:xfrm>
          <a:prstGeom prst="rect">
            <a:avLst/>
          </a:prstGeom>
          <a:noFill/>
          <a:ln w="0">
            <a:noFill/>
            <a:prstDash val="solid"/>
          </a:ln>
        </p:spPr>
        <p:txBody>
          <a:bodyPr/>
          <a:lstStyle/>
          <a:p>
            <a:pPr algn="l">
              <a:defRPr sz="1200" b="0">
                <a:solidFill>
                  <a:srgbClr val="CBD5E1"/>
                </a:solidFill>
                <a:latin typeface="Yu Gothic"/>
                <a:ea typeface="Yu Gothic"/>
                <a:cs typeface="Yu Gothic"/>
              </a:defRPr>
            </a:pPr>
            <a:r>
              <a:rPr sz="1200" b="0">
                <a:solidFill>
                  <a:srgbClr val="CBD5E1"/>
                </a:solidFill>
                <a:latin typeface="Yu Gothic"/>
                <a:ea typeface="Yu Gothic"/>
                <a:cs typeface="Yu Gothic"/>
              </a:rPr>
              <a:t>8-class ExtraTrees</a:t>
            </a:r>
          </a:p>
          <a:p>
            <a:pPr algn="l">
              <a:defRPr sz="1200" b="0">
                <a:solidFill>
                  <a:srgbClr val="CBD5E1"/>
                </a:solidFill>
                <a:latin typeface="Yu Gothic"/>
                <a:ea typeface="Yu Gothic"/>
                <a:cs typeface="Yu Gothic"/>
              </a:defRPr>
            </a:pPr>
            <a:r>
              <a:rPr sz="1200" b="0">
                <a:solidFill>
                  <a:srgbClr val="CBD5E1"/>
                </a:solidFill>
                <a:latin typeface="Yu Gothic"/>
                <a:ea typeface="Yu Gothic"/>
                <a:cs typeface="Yu Gothic"/>
              </a:rPr>
              <a:t>binary gate</a:t>
            </a:r>
          </a:p>
        </p:txBody>
      </p:sp>
      <p:sp>
        <p:nvSpPr>
          <p:cNvPr id="40" name="角丸四角形 39">
            <a:extLst>
              <a:ext uri="{FF2B5EF4-FFF2-40B4-BE49-F238E27FC236}">
                <a16:creationId xmlns:a16="http://schemas.microsoft.com/office/drawing/2014/main" id="{13512D41-A2F4-4BF6-AB2B-27861DE05A2B}"/>
              </a:ext>
            </a:extLst>
          </p:cNvPr>
          <p:cNvSpPr>
            <a:spLocks noGrp="1"/>
          </p:cNvSpPr>
          <p:nvPr/>
        </p:nvSpPr>
        <p:spPr>
          <a:xfrm>
            <a:off x="933450" y="4191000"/>
            <a:ext cx="4800600" cy="1123950"/>
          </a:xfrm>
          <a:prstGeom prst="roundRect">
            <a:avLst>
              <a:gd name="adj" fmla="val 13559"/>
            </a:avLst>
          </a:prstGeom>
          <a:solidFill>
            <a:srgbClr val="172033"/>
          </a:solidFill>
          <a:ln w="9525">
            <a:solidFill>
              <a:srgbClr val="334155"/>
            </a:solidFill>
            <a:prstDash val="solid"/>
          </a:ln>
        </p:spPr>
        <p:txBody>
          <a:bodyPr/>
          <a:lstStyle/>
          <a:p>
            <a:endParaRPr lang="ja-JP" altLang="en-US"/>
          </a:p>
        </p:txBody>
      </p:sp>
      <p:sp>
        <p:nvSpPr>
          <p:cNvPr id="41" name="正方形/長方形 40">
            <a:extLst>
              <a:ext uri="{FF2B5EF4-FFF2-40B4-BE49-F238E27FC236}">
                <a16:creationId xmlns:a16="http://schemas.microsoft.com/office/drawing/2014/main" id="{4DCDF200-469E-4B36-84F1-CEB84A34C2C5}"/>
              </a:ext>
            </a:extLst>
          </p:cNvPr>
          <p:cNvSpPr>
            <a:spLocks noGrp="1"/>
          </p:cNvSpPr>
          <p:nvPr/>
        </p:nvSpPr>
        <p:spPr>
          <a:xfrm>
            <a:off x="1181100" y="4419600"/>
            <a:ext cx="1143000" cy="266700"/>
          </a:xfrm>
          <a:prstGeom prst="rect">
            <a:avLst/>
          </a:prstGeom>
          <a:noFill/>
          <a:ln w="0">
            <a:noFill/>
            <a:prstDash val="solid"/>
          </a:ln>
        </p:spPr>
        <p:txBody>
          <a:bodyPr/>
          <a:lstStyle/>
          <a:p>
            <a:pPr algn="l">
              <a:defRPr sz="1500" b="1">
                <a:solidFill>
                  <a:srgbClr val="38BDF8"/>
                </a:solidFill>
                <a:latin typeface="Yu Gothic"/>
                <a:ea typeface="Yu Gothic"/>
                <a:cs typeface="Yu Gothic"/>
              </a:defRPr>
            </a:pPr>
            <a:r>
              <a:rPr sz="1500" b="1">
                <a:solidFill>
                  <a:srgbClr val="38BDF8"/>
                </a:solidFill>
                <a:latin typeface="Yu Gothic"/>
                <a:ea typeface="Yu Gothic"/>
                <a:cs typeface="Yu Gothic"/>
              </a:rPr>
              <a:t>入力</a:t>
            </a:r>
          </a:p>
        </p:txBody>
      </p:sp>
      <p:sp>
        <p:nvSpPr>
          <p:cNvPr id="42" name="正方形/長方形 41">
            <a:extLst>
              <a:ext uri="{FF2B5EF4-FFF2-40B4-BE49-F238E27FC236}">
                <a16:creationId xmlns:a16="http://schemas.microsoft.com/office/drawing/2014/main" id="{0B1F58E5-6871-48AB-9538-12C59295B02E}"/>
              </a:ext>
            </a:extLst>
          </p:cNvPr>
          <p:cNvSpPr>
            <a:spLocks noGrp="1"/>
          </p:cNvSpPr>
          <p:nvPr/>
        </p:nvSpPr>
        <p:spPr>
          <a:xfrm>
            <a:off x="1181100" y="4743450"/>
            <a:ext cx="4057650" cy="419100"/>
          </a:xfrm>
          <a:prstGeom prst="rect">
            <a:avLst/>
          </a:prstGeom>
          <a:noFill/>
          <a:ln w="0">
            <a:noFill/>
            <a:prstDash val="solid"/>
          </a:ln>
        </p:spPr>
        <p:txBody>
          <a:bodyPr/>
          <a:lstStyle/>
          <a:p>
            <a:pPr algn="l">
              <a:defRPr sz="1350" b="0">
                <a:solidFill>
                  <a:srgbClr val="FFFFFF"/>
                </a:solidFill>
                <a:latin typeface="Yu Gothic"/>
                <a:ea typeface="Yu Gothic"/>
                <a:cs typeface="Yu Gothic"/>
              </a:defRPr>
            </a:pPr>
            <a:r>
              <a:rPr sz="1350" b="0">
                <a:solidFill>
                  <a:srgbClr val="FFFFFF"/>
                </a:solidFill>
                <a:latin typeface="Yu Gothic"/>
                <a:ea typeface="Yu Gothic"/>
                <a:cs typeface="Yu Gothic"/>
              </a:rPr>
              <a:t>17関節 x/y = 34座標列</a:t>
            </a:r>
          </a:p>
          <a:p>
            <a:pPr algn="l">
              <a:defRPr sz="1350" b="0">
                <a:solidFill>
                  <a:srgbClr val="FFFFFF"/>
                </a:solidFill>
                <a:latin typeface="Yu Gothic"/>
                <a:ea typeface="Yu Gothic"/>
                <a:cs typeface="Yu Gothic"/>
              </a:defRPr>
            </a:pPr>
            <a:r>
              <a:rPr sz="1350" b="0">
                <a:solidFill>
                  <a:srgbClr val="FFFFFF"/>
                </a:solidFill>
                <a:latin typeface="Yu Gothic"/>
                <a:ea typeface="Yu Gothic"/>
                <a:cs typeface="Yu Gothic"/>
              </a:rPr>
              <a:t>Action Label付きCSVのみを学習に使用</a:t>
            </a:r>
          </a:p>
        </p:txBody>
      </p:sp>
      <p:sp>
        <p:nvSpPr>
          <p:cNvPr id="43" name="角丸四角形 42">
            <a:extLst>
              <a:ext uri="{FF2B5EF4-FFF2-40B4-BE49-F238E27FC236}">
                <a16:creationId xmlns:a16="http://schemas.microsoft.com/office/drawing/2014/main" id="{25E94221-6227-470E-81D8-985FB56C93CF}"/>
              </a:ext>
            </a:extLst>
          </p:cNvPr>
          <p:cNvSpPr>
            <a:spLocks noGrp="1"/>
          </p:cNvSpPr>
          <p:nvPr/>
        </p:nvSpPr>
        <p:spPr>
          <a:xfrm>
            <a:off x="6457950" y="4191000"/>
            <a:ext cx="4800600" cy="1123950"/>
          </a:xfrm>
          <a:prstGeom prst="roundRect">
            <a:avLst>
              <a:gd name="adj" fmla="val 13559"/>
            </a:avLst>
          </a:prstGeom>
          <a:solidFill>
            <a:srgbClr val="172033"/>
          </a:solidFill>
          <a:ln w="9525">
            <a:solidFill>
              <a:srgbClr val="334155"/>
            </a:solidFill>
            <a:prstDash val="solid"/>
          </a:ln>
        </p:spPr>
        <p:txBody>
          <a:bodyPr/>
          <a:lstStyle/>
          <a:p>
            <a:endParaRPr lang="ja-JP" altLang="en-US"/>
          </a:p>
        </p:txBody>
      </p:sp>
      <p:sp>
        <p:nvSpPr>
          <p:cNvPr id="44" name="正方形/長方形 43">
            <a:extLst>
              <a:ext uri="{FF2B5EF4-FFF2-40B4-BE49-F238E27FC236}">
                <a16:creationId xmlns:a16="http://schemas.microsoft.com/office/drawing/2014/main" id="{83EFAF0A-5C93-4EC3-8290-4AE472154366}"/>
              </a:ext>
            </a:extLst>
          </p:cNvPr>
          <p:cNvSpPr>
            <a:spLocks noGrp="1"/>
          </p:cNvSpPr>
          <p:nvPr/>
        </p:nvSpPr>
        <p:spPr>
          <a:xfrm>
            <a:off x="6705600" y="4419600"/>
            <a:ext cx="1143000" cy="266700"/>
          </a:xfrm>
          <a:prstGeom prst="rect">
            <a:avLst/>
          </a:prstGeom>
          <a:noFill/>
          <a:ln w="0">
            <a:noFill/>
            <a:prstDash val="solid"/>
          </a:ln>
        </p:spPr>
        <p:txBody>
          <a:bodyPr/>
          <a:lstStyle/>
          <a:p>
            <a:pPr algn="l">
              <a:defRPr sz="1500" b="1">
                <a:solidFill>
                  <a:srgbClr val="F97316"/>
                </a:solidFill>
                <a:latin typeface="Yu Gothic"/>
                <a:ea typeface="Yu Gothic"/>
                <a:cs typeface="Yu Gothic"/>
              </a:defRPr>
            </a:pPr>
            <a:r>
              <a:rPr sz="1500" b="1">
                <a:solidFill>
                  <a:srgbClr val="F97316"/>
                </a:solidFill>
                <a:latin typeface="Yu Gothic"/>
                <a:ea typeface="Yu Gothic"/>
                <a:cs typeface="Yu Gothic"/>
              </a:rPr>
              <a:t>出力</a:t>
            </a:r>
          </a:p>
        </p:txBody>
      </p:sp>
      <p:sp>
        <p:nvSpPr>
          <p:cNvPr id="45" name="正方形/長方形 44">
            <a:extLst>
              <a:ext uri="{FF2B5EF4-FFF2-40B4-BE49-F238E27FC236}">
                <a16:creationId xmlns:a16="http://schemas.microsoft.com/office/drawing/2014/main" id="{5381447F-6110-4844-A512-05E3BA4943FA}"/>
              </a:ext>
            </a:extLst>
          </p:cNvPr>
          <p:cNvSpPr>
            <a:spLocks noGrp="1"/>
          </p:cNvSpPr>
          <p:nvPr/>
        </p:nvSpPr>
        <p:spPr>
          <a:xfrm>
            <a:off x="6705600" y="4743450"/>
            <a:ext cx="4057650" cy="419100"/>
          </a:xfrm>
          <a:prstGeom prst="rect">
            <a:avLst/>
          </a:prstGeom>
          <a:noFill/>
          <a:ln w="0">
            <a:noFill/>
            <a:prstDash val="solid"/>
          </a:ln>
        </p:spPr>
        <p:txBody>
          <a:bodyPr/>
          <a:lstStyle/>
          <a:p>
            <a:pPr algn="l">
              <a:defRPr sz="1350" b="0">
                <a:solidFill>
                  <a:srgbClr val="FFFFFF"/>
                </a:solidFill>
                <a:latin typeface="Yu Gothic"/>
                <a:ea typeface="Yu Gothic"/>
                <a:cs typeface="Yu Gothic"/>
              </a:defRPr>
            </a:pPr>
            <a:r>
              <a:rPr sz="1350" b="0">
                <a:solidFill>
                  <a:srgbClr val="FFFFFF"/>
                </a:solidFill>
                <a:latin typeface="Yu Gothic"/>
                <a:ea typeface="Yu Gothic"/>
                <a:cs typeface="Yu Gothic"/>
              </a:rPr>
              <a:t>8クラス予測 + Normal / Unusual</a:t>
            </a:r>
          </a:p>
          <a:p>
            <a:pPr algn="l">
              <a:defRPr sz="1350" b="0">
                <a:solidFill>
                  <a:srgbClr val="FFFFFF"/>
                </a:solidFill>
                <a:latin typeface="Yu Gothic"/>
                <a:ea typeface="Yu Gothic"/>
                <a:cs typeface="Yu Gothic"/>
              </a:defRPr>
            </a:pPr>
            <a:r>
              <a:rPr sz="1350" b="0">
                <a:solidFill>
                  <a:srgbClr val="FFFFFF"/>
                </a:solidFill>
                <a:latin typeface="Yu Gothic"/>
                <a:ea typeface="Yu Gothic"/>
                <a:cs typeface="Yu Gothic"/>
              </a:rPr>
              <a:t>窓予測をフレーム行へ展開</a:t>
            </a:r>
          </a:p>
        </p:txBody>
      </p:sp>
    </p:spTree>
    <p:extLst>
      <p:ext uri="{BB962C8B-B14F-4D97-AF65-F5344CB8AC3E}">
        <p14:creationId xmlns:p14="http://schemas.microsoft.com/office/powerpoint/2010/main" val="1862038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55" name="正方形/長方形 54">
            <a:extLst>
              <a:ext uri="{FF2B5EF4-FFF2-40B4-BE49-F238E27FC236}">
                <a16:creationId xmlns:a16="http://schemas.microsoft.com/office/drawing/2014/main" id="{1092446B-DB19-4EB1-890C-44A242EB5640}"/>
              </a:ext>
            </a:extLst>
          </p:cNvPr>
          <p:cNvSpPr>
            <a:spLocks noGrp="1"/>
          </p:cNvSpPr>
          <p:nvPr/>
        </p:nvSpPr>
        <p:spPr>
          <a:xfrm>
            <a:off x="609600" y="381000"/>
            <a:ext cx="5905500" cy="228600"/>
          </a:xfrm>
          <a:prstGeom prst="rect">
            <a:avLst/>
          </a:prstGeom>
          <a:noFill/>
          <a:ln w="0">
            <a:noFill/>
            <a:prstDash val="solid"/>
          </a:ln>
        </p:spPr>
        <p:txBody>
          <a:bodyPr/>
          <a:lstStyle/>
          <a:p>
            <a:pPr algn="l">
              <a:defRPr sz="900" b="1">
                <a:solidFill>
                  <a:srgbClr val="0EA5E9"/>
                </a:solidFill>
                <a:latin typeface="Yu Gothic"/>
                <a:ea typeface="Yu Gothic"/>
                <a:cs typeface="Yu Gothic"/>
              </a:defRPr>
            </a:pPr>
            <a:r>
              <a:rPr sz="900" b="1">
                <a:solidFill>
                  <a:srgbClr val="0EA5E9"/>
                </a:solidFill>
                <a:latin typeface="Yu Gothic"/>
                <a:ea typeface="Yu Gothic"/>
                <a:cs typeface="Yu Gothic"/>
              </a:rPr>
              <a:t>OVERALL LOSO RESULTS</a:t>
            </a:r>
          </a:p>
        </p:txBody>
      </p:sp>
      <p:sp>
        <p:nvSpPr>
          <p:cNvPr id="2" name="正方形/長方形 1">
            <a:extLst>
              <a:ext uri="{FF2B5EF4-FFF2-40B4-BE49-F238E27FC236}">
                <a16:creationId xmlns:a16="http://schemas.microsoft.com/office/drawing/2014/main" id="{5C81C281-C652-40A2-B411-CB6E3A6E8CDA}"/>
              </a:ext>
            </a:extLst>
          </p:cNvPr>
          <p:cNvSpPr>
            <a:spLocks noGrp="1"/>
          </p:cNvSpPr>
          <p:nvPr/>
        </p:nvSpPr>
        <p:spPr>
          <a:xfrm>
            <a:off x="609600" y="647700"/>
            <a:ext cx="8096250" cy="514350"/>
          </a:xfrm>
          <a:prstGeom prst="rect">
            <a:avLst/>
          </a:prstGeom>
          <a:noFill/>
          <a:ln w="0">
            <a:noFill/>
            <a:prstDash val="solid"/>
          </a:ln>
        </p:spPr>
        <p:txBody>
          <a:bodyPr/>
          <a:lstStyle/>
          <a:p>
            <a:pPr algn="l">
              <a:defRPr sz="2700" b="1">
                <a:solidFill>
                  <a:srgbClr val="0B1220"/>
                </a:solidFill>
                <a:latin typeface="Yu Gothic"/>
                <a:ea typeface="Yu Gothic"/>
                <a:cs typeface="Yu Gothic"/>
              </a:defRPr>
            </a:pPr>
            <a:r>
              <a:rPr sz="2700" b="1">
                <a:solidFill>
                  <a:srgbClr val="0B1220"/>
                </a:solidFill>
                <a:latin typeface="Yu Gothic"/>
                <a:ea typeface="Yu Gothic"/>
                <a:cs typeface="Yu Gothic"/>
              </a:rPr>
              <a:t>結果 1: 全体性能</a:t>
            </a:r>
          </a:p>
        </p:txBody>
      </p:sp>
      <p:sp>
        <p:nvSpPr>
          <p:cNvPr id="3" name="正方形/長方形 2">
            <a:extLst>
              <a:ext uri="{FF2B5EF4-FFF2-40B4-BE49-F238E27FC236}">
                <a16:creationId xmlns:a16="http://schemas.microsoft.com/office/drawing/2014/main" id="{0E32A5B1-B845-4E76-8BE3-546E018077F2}"/>
              </a:ext>
            </a:extLst>
          </p:cNvPr>
          <p:cNvSpPr>
            <a:spLocks noGrp="1"/>
          </p:cNvSpPr>
          <p:nvPr/>
        </p:nvSpPr>
        <p:spPr>
          <a:xfrm>
            <a:off x="609600" y="1200150"/>
            <a:ext cx="742950" cy="38100"/>
          </a:xfrm>
          <a:prstGeom prst="rect">
            <a:avLst/>
          </a:prstGeom>
          <a:solidFill>
            <a:srgbClr val="38BDF8"/>
          </a:solidFill>
          <a:ln w="0">
            <a:noFill/>
            <a:prstDash val="solid"/>
          </a:ln>
        </p:spPr>
        <p:txBody>
          <a:bodyPr/>
          <a:lstStyle/>
          <a:p>
            <a:endParaRPr lang="ja-JP" altLang="en-US"/>
          </a:p>
        </p:txBody>
      </p:sp>
      <p:sp>
        <p:nvSpPr>
          <p:cNvPr id="4" name="正方形/長方形 3">
            <a:extLst>
              <a:ext uri="{FF2B5EF4-FFF2-40B4-BE49-F238E27FC236}">
                <a16:creationId xmlns:a16="http://schemas.microsoft.com/office/drawing/2014/main" id="{A0BB345D-E029-47CC-A359-0F8D54FCF8AD}"/>
              </a:ext>
            </a:extLst>
          </p:cNvPr>
          <p:cNvSpPr>
            <a:spLocks noGrp="1"/>
          </p:cNvSpPr>
          <p:nvPr/>
        </p:nvSpPr>
        <p:spPr>
          <a:xfrm>
            <a:off x="7810500" y="419100"/>
            <a:ext cx="3771900" cy="228600"/>
          </a:xfrm>
          <a:prstGeom prst="rect">
            <a:avLst/>
          </a:prstGeom>
          <a:noFill/>
          <a:ln w="0">
            <a:noFill/>
            <a:prstDash val="solid"/>
          </a:ln>
        </p:spPr>
        <p:txBody>
          <a:bodyPr/>
          <a:lstStyle/>
          <a:p>
            <a:pPr algn="r">
              <a:defRPr sz="900" b="0">
                <a:solidFill>
                  <a:srgbClr val="64748B"/>
                </a:solidFill>
                <a:latin typeface="Yu Gothic"/>
                <a:ea typeface="Yu Gothic"/>
                <a:cs typeface="Yu Gothic"/>
              </a:defRPr>
            </a:pPr>
            <a:r>
              <a:rPr sz="900" b="0">
                <a:solidFill>
                  <a:srgbClr val="64748B"/>
                </a:solidFill>
                <a:latin typeface="Yu Gothic"/>
                <a:ea typeface="Yu Gothic"/>
                <a:cs typeface="Yu Gothic"/>
              </a:rPr>
              <a:t>Pose-keypoint unusual activity recognition</a:t>
            </a:r>
          </a:p>
        </p:txBody>
      </p:sp>
      <p:sp>
        <p:nvSpPr>
          <p:cNvPr id="5" name="正方形/長方形 4">
            <a:extLst>
              <a:ext uri="{FF2B5EF4-FFF2-40B4-BE49-F238E27FC236}">
                <a16:creationId xmlns:a16="http://schemas.microsoft.com/office/drawing/2014/main" id="{D1E8C724-CB0E-4AF4-BAA9-E9D48BACFF07}"/>
              </a:ext>
            </a:extLst>
          </p:cNvPr>
          <p:cNvSpPr>
            <a:spLocks noGrp="1"/>
          </p:cNvSpPr>
          <p:nvPr/>
        </p:nvSpPr>
        <p:spPr>
          <a:xfrm>
            <a:off x="609600" y="6496050"/>
            <a:ext cx="6477000" cy="190500"/>
          </a:xfrm>
          <a:prstGeom prst="rect">
            <a:avLst/>
          </a:prstGeom>
          <a:noFill/>
          <a:ln w="0">
            <a:noFill/>
            <a:prstDash val="solid"/>
          </a:ln>
        </p:spPr>
        <p:txBody>
          <a:bodyPr/>
          <a:lstStyle/>
          <a:p>
            <a:pPr algn="l">
              <a:defRPr sz="750" b="0">
                <a:solidFill>
                  <a:srgbClr val="64748B"/>
                </a:solidFill>
                <a:latin typeface="Yu Gothic"/>
                <a:ea typeface="Yu Gothic"/>
                <a:cs typeface="Yu Gothic"/>
              </a:defRPr>
            </a:pPr>
            <a:r>
              <a:rPr sz="750" b="0">
                <a:solidFill>
                  <a:srgbClr val="64748B"/>
                </a:solidFill>
                <a:latin typeface="Yu Gothic"/>
                <a:ea typeface="Yu Gothic"/>
                <a:cs typeface="Yu Gothic"/>
              </a:rPr>
              <a:t>Sources: specification / LOSO metrics / per-class CSV</a:t>
            </a:r>
          </a:p>
        </p:txBody>
      </p:sp>
      <p:sp>
        <p:nvSpPr>
          <p:cNvPr id="6" name="正方形/長方形 5">
            <a:extLst>
              <a:ext uri="{FF2B5EF4-FFF2-40B4-BE49-F238E27FC236}">
                <a16:creationId xmlns:a16="http://schemas.microsoft.com/office/drawing/2014/main" id="{77EA57B3-3CD6-42E0-A0B1-D5D9290B9963}"/>
              </a:ext>
            </a:extLst>
          </p:cNvPr>
          <p:cNvSpPr>
            <a:spLocks noGrp="1"/>
          </p:cNvSpPr>
          <p:nvPr/>
        </p:nvSpPr>
        <p:spPr>
          <a:xfrm>
            <a:off x="10744200" y="6477000"/>
            <a:ext cx="838200" cy="209550"/>
          </a:xfrm>
          <a:prstGeom prst="rect">
            <a:avLst/>
          </a:prstGeom>
          <a:noFill/>
          <a:ln w="0">
            <a:noFill/>
            <a:prstDash val="solid"/>
          </a:ln>
        </p:spPr>
        <p:txBody>
          <a:bodyPr/>
          <a:lstStyle/>
          <a:p>
            <a:pPr algn="r">
              <a:defRPr sz="900" b="1">
                <a:solidFill>
                  <a:srgbClr val="64748B"/>
                </a:solidFill>
                <a:latin typeface="Yu Gothic"/>
                <a:ea typeface="Yu Gothic"/>
                <a:cs typeface="Yu Gothic"/>
              </a:defRPr>
            </a:pPr>
            <a:r>
              <a:rPr sz="900" b="1">
                <a:solidFill>
                  <a:srgbClr val="64748B"/>
                </a:solidFill>
                <a:latin typeface="Yu Gothic"/>
                <a:ea typeface="Yu Gothic"/>
                <a:cs typeface="Yu Gothic"/>
              </a:rPr>
              <a:t>6/10</a:t>
            </a:r>
          </a:p>
        </p:txBody>
      </p:sp>
      <p:sp>
        <p:nvSpPr>
          <p:cNvPr id="7" name="角丸四角形 6">
            <a:extLst>
              <a:ext uri="{FF2B5EF4-FFF2-40B4-BE49-F238E27FC236}">
                <a16:creationId xmlns:a16="http://schemas.microsoft.com/office/drawing/2014/main" id="{5B124C01-E91B-46A0-9875-CCB84CDA3A24}"/>
              </a:ext>
            </a:extLst>
          </p:cNvPr>
          <p:cNvSpPr>
            <a:spLocks noGrp="1"/>
          </p:cNvSpPr>
          <p:nvPr/>
        </p:nvSpPr>
        <p:spPr>
          <a:xfrm>
            <a:off x="704850" y="1466850"/>
            <a:ext cx="2438400" cy="1466850"/>
          </a:xfrm>
          <a:prstGeom prst="roundRect">
            <a:avLst>
              <a:gd name="adj" fmla="val 10390"/>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8" name="正方形/長方形 7">
            <a:extLst>
              <a:ext uri="{FF2B5EF4-FFF2-40B4-BE49-F238E27FC236}">
                <a16:creationId xmlns:a16="http://schemas.microsoft.com/office/drawing/2014/main" id="{FB34CE12-DF02-4792-81FD-BD851E26D514}"/>
              </a:ext>
            </a:extLst>
          </p:cNvPr>
          <p:cNvSpPr>
            <a:spLocks noGrp="1"/>
          </p:cNvSpPr>
          <p:nvPr/>
        </p:nvSpPr>
        <p:spPr>
          <a:xfrm>
            <a:off x="895350" y="1638300"/>
            <a:ext cx="2057400" cy="228600"/>
          </a:xfrm>
          <a:prstGeom prst="rect">
            <a:avLst/>
          </a:prstGeom>
          <a:noFill/>
          <a:ln w="0">
            <a:noFill/>
            <a:prstDash val="solid"/>
          </a:ln>
        </p:spPr>
        <p:txBody>
          <a:bodyPr/>
          <a:lstStyle/>
          <a:p>
            <a:pPr algn="l">
              <a:defRPr sz="1050" b="1">
                <a:solidFill>
                  <a:srgbClr val="64748B"/>
                </a:solidFill>
                <a:latin typeface="Yu Gothic"/>
                <a:ea typeface="Yu Gothic"/>
                <a:cs typeface="Yu Gothic"/>
              </a:defRPr>
            </a:pPr>
            <a:r>
              <a:rPr sz="1050" b="1">
                <a:solidFill>
                  <a:srgbClr val="64748B"/>
                </a:solidFill>
                <a:latin typeface="Yu Gothic"/>
                <a:ea typeface="Yu Gothic"/>
                <a:cs typeface="Yu Gothic"/>
              </a:rPr>
              <a:t>Accuracy</a:t>
            </a:r>
          </a:p>
        </p:txBody>
      </p:sp>
      <p:sp>
        <p:nvSpPr>
          <p:cNvPr id="9" name="正方形/長方形 8">
            <a:extLst>
              <a:ext uri="{FF2B5EF4-FFF2-40B4-BE49-F238E27FC236}">
                <a16:creationId xmlns:a16="http://schemas.microsoft.com/office/drawing/2014/main" id="{889B6823-84AC-4DB1-8804-45FA7EEF0CF5}"/>
              </a:ext>
            </a:extLst>
          </p:cNvPr>
          <p:cNvSpPr>
            <a:spLocks noGrp="1"/>
          </p:cNvSpPr>
          <p:nvPr/>
        </p:nvSpPr>
        <p:spPr>
          <a:xfrm>
            <a:off x="895350" y="1905000"/>
            <a:ext cx="2057400" cy="552450"/>
          </a:xfrm>
          <a:prstGeom prst="rect">
            <a:avLst/>
          </a:prstGeom>
          <a:noFill/>
          <a:ln w="0">
            <a:noFill/>
            <a:prstDash val="solid"/>
          </a:ln>
        </p:spPr>
        <p:txBody>
          <a:bodyPr/>
          <a:lstStyle/>
          <a:p>
            <a:pPr algn="l">
              <a:defRPr sz="3300" b="1">
                <a:solidFill>
                  <a:srgbClr val="0EA5E9"/>
                </a:solidFill>
                <a:latin typeface="Aptos Display"/>
                <a:ea typeface="Aptos Display"/>
                <a:cs typeface="Aptos Display"/>
              </a:defRPr>
            </a:pPr>
            <a:r>
              <a:rPr sz="3300" b="1">
                <a:solidFill>
                  <a:srgbClr val="0EA5E9"/>
                </a:solidFill>
                <a:latin typeface="Aptos Display"/>
                <a:ea typeface="Aptos Display"/>
                <a:cs typeface="Aptos Display"/>
              </a:rPr>
              <a:t>0.6295</a:t>
            </a:r>
          </a:p>
        </p:txBody>
      </p:sp>
      <p:sp>
        <p:nvSpPr>
          <p:cNvPr id="10" name="正方形/長方形 9">
            <a:extLst>
              <a:ext uri="{FF2B5EF4-FFF2-40B4-BE49-F238E27FC236}">
                <a16:creationId xmlns:a16="http://schemas.microsoft.com/office/drawing/2014/main" id="{5114DAFC-C3F9-4D1B-94AC-6F389FA3B690}"/>
              </a:ext>
            </a:extLst>
          </p:cNvPr>
          <p:cNvSpPr>
            <a:spLocks noGrp="1"/>
          </p:cNvSpPr>
          <p:nvPr/>
        </p:nvSpPr>
        <p:spPr>
          <a:xfrm>
            <a:off x="895350" y="2514600"/>
            <a:ext cx="2057400" cy="400050"/>
          </a:xfrm>
          <a:prstGeom prst="rect">
            <a:avLst/>
          </a:prstGeom>
          <a:noFill/>
          <a:ln w="0">
            <a:noFill/>
            <a:prstDash val="solid"/>
          </a:ln>
        </p:spPr>
        <p:txBody>
          <a:bodyPr/>
          <a:lstStyle/>
          <a:p>
            <a:pPr algn="l">
              <a:defRPr sz="1050" b="0">
                <a:solidFill>
                  <a:srgbClr val="334155"/>
                </a:solidFill>
                <a:latin typeface="Yu Gothic"/>
                <a:ea typeface="Yu Gothic"/>
                <a:cs typeface="Yu Gothic"/>
              </a:defRPr>
            </a:pPr>
            <a:r>
              <a:rPr sz="1050" b="0">
                <a:solidFill>
                  <a:srgbClr val="334155"/>
                </a:solidFill>
                <a:latin typeface="Yu Gothic"/>
                <a:ea typeface="Yu Gothic"/>
                <a:cs typeface="Yu Gothic"/>
              </a:rPr>
              <a:t>+0.0795 vs previous</a:t>
            </a:r>
          </a:p>
        </p:txBody>
      </p:sp>
      <p:sp>
        <p:nvSpPr>
          <p:cNvPr id="11" name="角丸四角形 10">
            <a:extLst>
              <a:ext uri="{FF2B5EF4-FFF2-40B4-BE49-F238E27FC236}">
                <a16:creationId xmlns:a16="http://schemas.microsoft.com/office/drawing/2014/main" id="{0AFDDE3B-AC16-4F04-9362-8DF3F1C68BED}"/>
              </a:ext>
            </a:extLst>
          </p:cNvPr>
          <p:cNvSpPr>
            <a:spLocks noGrp="1"/>
          </p:cNvSpPr>
          <p:nvPr/>
        </p:nvSpPr>
        <p:spPr>
          <a:xfrm>
            <a:off x="3429000" y="1466850"/>
            <a:ext cx="2438400" cy="1466850"/>
          </a:xfrm>
          <a:prstGeom prst="roundRect">
            <a:avLst>
              <a:gd name="adj" fmla="val 10390"/>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12" name="正方形/長方形 11">
            <a:extLst>
              <a:ext uri="{FF2B5EF4-FFF2-40B4-BE49-F238E27FC236}">
                <a16:creationId xmlns:a16="http://schemas.microsoft.com/office/drawing/2014/main" id="{91BD628B-5AFA-4C14-A514-42F145DC89CA}"/>
              </a:ext>
            </a:extLst>
          </p:cNvPr>
          <p:cNvSpPr>
            <a:spLocks noGrp="1"/>
          </p:cNvSpPr>
          <p:nvPr/>
        </p:nvSpPr>
        <p:spPr>
          <a:xfrm>
            <a:off x="3619500" y="1638300"/>
            <a:ext cx="2057400" cy="228600"/>
          </a:xfrm>
          <a:prstGeom prst="rect">
            <a:avLst/>
          </a:prstGeom>
          <a:noFill/>
          <a:ln w="0">
            <a:noFill/>
            <a:prstDash val="solid"/>
          </a:ln>
        </p:spPr>
        <p:txBody>
          <a:bodyPr/>
          <a:lstStyle/>
          <a:p>
            <a:pPr algn="l">
              <a:defRPr sz="1050" b="1">
                <a:solidFill>
                  <a:srgbClr val="64748B"/>
                </a:solidFill>
                <a:latin typeface="Yu Gothic"/>
                <a:ea typeface="Yu Gothic"/>
                <a:cs typeface="Yu Gothic"/>
              </a:defRPr>
            </a:pPr>
            <a:r>
              <a:rPr sz="1050" b="1">
                <a:solidFill>
                  <a:srgbClr val="64748B"/>
                </a:solidFill>
                <a:latin typeface="Yu Gothic"/>
                <a:ea typeface="Yu Gothic"/>
                <a:cs typeface="Yu Gothic"/>
              </a:rPr>
              <a:t>Macro-F1</a:t>
            </a:r>
          </a:p>
        </p:txBody>
      </p:sp>
      <p:sp>
        <p:nvSpPr>
          <p:cNvPr id="13" name="正方形/長方形 12">
            <a:extLst>
              <a:ext uri="{FF2B5EF4-FFF2-40B4-BE49-F238E27FC236}">
                <a16:creationId xmlns:a16="http://schemas.microsoft.com/office/drawing/2014/main" id="{D9D76F27-AB14-4C64-8757-B2D68B65C250}"/>
              </a:ext>
            </a:extLst>
          </p:cNvPr>
          <p:cNvSpPr>
            <a:spLocks noGrp="1"/>
          </p:cNvSpPr>
          <p:nvPr/>
        </p:nvSpPr>
        <p:spPr>
          <a:xfrm>
            <a:off x="3619500" y="1905000"/>
            <a:ext cx="2057400" cy="552450"/>
          </a:xfrm>
          <a:prstGeom prst="rect">
            <a:avLst/>
          </a:prstGeom>
          <a:noFill/>
          <a:ln w="0">
            <a:noFill/>
            <a:prstDash val="solid"/>
          </a:ln>
        </p:spPr>
        <p:txBody>
          <a:bodyPr/>
          <a:lstStyle/>
          <a:p>
            <a:pPr algn="l">
              <a:defRPr sz="3300" b="1">
                <a:solidFill>
                  <a:srgbClr val="8B5CF6"/>
                </a:solidFill>
                <a:latin typeface="Aptos Display"/>
                <a:ea typeface="Aptos Display"/>
                <a:cs typeface="Aptos Display"/>
              </a:defRPr>
            </a:pPr>
            <a:r>
              <a:rPr sz="3300" b="1">
                <a:solidFill>
                  <a:srgbClr val="8B5CF6"/>
                </a:solidFill>
                <a:latin typeface="Aptos Display"/>
                <a:ea typeface="Aptos Display"/>
                <a:cs typeface="Aptos Display"/>
              </a:rPr>
              <a:t>0.6279</a:t>
            </a:r>
          </a:p>
        </p:txBody>
      </p:sp>
      <p:sp>
        <p:nvSpPr>
          <p:cNvPr id="14" name="正方形/長方形 13">
            <a:extLst>
              <a:ext uri="{FF2B5EF4-FFF2-40B4-BE49-F238E27FC236}">
                <a16:creationId xmlns:a16="http://schemas.microsoft.com/office/drawing/2014/main" id="{FD5F1C6E-C674-42AB-83BA-AAEB994403F5}"/>
              </a:ext>
            </a:extLst>
          </p:cNvPr>
          <p:cNvSpPr>
            <a:spLocks noGrp="1"/>
          </p:cNvSpPr>
          <p:nvPr/>
        </p:nvSpPr>
        <p:spPr>
          <a:xfrm>
            <a:off x="3619500" y="2514600"/>
            <a:ext cx="2057400" cy="400050"/>
          </a:xfrm>
          <a:prstGeom prst="rect">
            <a:avLst/>
          </a:prstGeom>
          <a:noFill/>
          <a:ln w="0">
            <a:noFill/>
            <a:prstDash val="solid"/>
          </a:ln>
        </p:spPr>
        <p:txBody>
          <a:bodyPr/>
          <a:lstStyle/>
          <a:p>
            <a:pPr algn="l">
              <a:defRPr sz="1050" b="0">
                <a:solidFill>
                  <a:srgbClr val="334155"/>
                </a:solidFill>
                <a:latin typeface="Yu Gothic"/>
                <a:ea typeface="Yu Gothic"/>
                <a:cs typeface="Yu Gothic"/>
              </a:defRPr>
            </a:pPr>
            <a:r>
              <a:rPr sz="1050" b="0">
                <a:solidFill>
                  <a:srgbClr val="334155"/>
                </a:solidFill>
                <a:latin typeface="Yu Gothic"/>
                <a:ea typeface="Yu Gothic"/>
                <a:cs typeface="Yu Gothic"/>
              </a:rPr>
              <a:t>+0.1141 vs previous</a:t>
            </a:r>
          </a:p>
        </p:txBody>
      </p:sp>
      <p:sp>
        <p:nvSpPr>
          <p:cNvPr id="15" name="角丸四角形 14">
            <a:extLst>
              <a:ext uri="{FF2B5EF4-FFF2-40B4-BE49-F238E27FC236}">
                <a16:creationId xmlns:a16="http://schemas.microsoft.com/office/drawing/2014/main" id="{7B3E0DFF-5300-4DF8-ABB7-27D461B302E4}"/>
              </a:ext>
            </a:extLst>
          </p:cNvPr>
          <p:cNvSpPr>
            <a:spLocks noGrp="1"/>
          </p:cNvSpPr>
          <p:nvPr/>
        </p:nvSpPr>
        <p:spPr>
          <a:xfrm>
            <a:off x="6153150" y="1466850"/>
            <a:ext cx="2438400" cy="1466850"/>
          </a:xfrm>
          <a:prstGeom prst="roundRect">
            <a:avLst>
              <a:gd name="adj" fmla="val 10390"/>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16" name="正方形/長方形 15">
            <a:extLst>
              <a:ext uri="{FF2B5EF4-FFF2-40B4-BE49-F238E27FC236}">
                <a16:creationId xmlns:a16="http://schemas.microsoft.com/office/drawing/2014/main" id="{C8DED13F-594D-45E7-B7DC-121EED920E44}"/>
              </a:ext>
            </a:extLst>
          </p:cNvPr>
          <p:cNvSpPr>
            <a:spLocks noGrp="1"/>
          </p:cNvSpPr>
          <p:nvPr/>
        </p:nvSpPr>
        <p:spPr>
          <a:xfrm>
            <a:off x="6343650" y="1638300"/>
            <a:ext cx="2057400" cy="228600"/>
          </a:xfrm>
          <a:prstGeom prst="rect">
            <a:avLst/>
          </a:prstGeom>
          <a:noFill/>
          <a:ln w="0">
            <a:noFill/>
            <a:prstDash val="solid"/>
          </a:ln>
        </p:spPr>
        <p:txBody>
          <a:bodyPr/>
          <a:lstStyle/>
          <a:p>
            <a:pPr algn="l">
              <a:defRPr sz="1050" b="1">
                <a:solidFill>
                  <a:srgbClr val="64748B"/>
                </a:solidFill>
                <a:latin typeface="Yu Gothic"/>
                <a:ea typeface="Yu Gothic"/>
                <a:cs typeface="Yu Gothic"/>
              </a:defRPr>
            </a:pPr>
            <a:r>
              <a:rPr sz="1050" b="1">
                <a:solidFill>
                  <a:srgbClr val="64748B"/>
                </a:solidFill>
                <a:latin typeface="Yu Gothic"/>
                <a:ea typeface="Yu Gothic"/>
                <a:cs typeface="Yu Gothic"/>
              </a:rPr>
              <a:t>Abnormal F1</a:t>
            </a:r>
          </a:p>
        </p:txBody>
      </p:sp>
      <p:sp>
        <p:nvSpPr>
          <p:cNvPr id="17" name="正方形/長方形 16">
            <a:extLst>
              <a:ext uri="{FF2B5EF4-FFF2-40B4-BE49-F238E27FC236}">
                <a16:creationId xmlns:a16="http://schemas.microsoft.com/office/drawing/2014/main" id="{266E0EF2-EBDC-40FC-8C8C-2B030C7F59D5}"/>
              </a:ext>
            </a:extLst>
          </p:cNvPr>
          <p:cNvSpPr>
            <a:spLocks noGrp="1"/>
          </p:cNvSpPr>
          <p:nvPr/>
        </p:nvSpPr>
        <p:spPr>
          <a:xfrm>
            <a:off x="6343650" y="1905000"/>
            <a:ext cx="2057400" cy="552450"/>
          </a:xfrm>
          <a:prstGeom prst="rect">
            <a:avLst/>
          </a:prstGeom>
          <a:noFill/>
          <a:ln w="0">
            <a:noFill/>
            <a:prstDash val="solid"/>
          </a:ln>
        </p:spPr>
        <p:txBody>
          <a:bodyPr/>
          <a:lstStyle/>
          <a:p>
            <a:pPr algn="l">
              <a:defRPr sz="3300" b="1">
                <a:solidFill>
                  <a:srgbClr val="F97316"/>
                </a:solidFill>
                <a:latin typeface="Aptos Display"/>
                <a:ea typeface="Aptos Display"/>
                <a:cs typeface="Aptos Display"/>
              </a:defRPr>
            </a:pPr>
            <a:r>
              <a:rPr sz="3300" b="1">
                <a:solidFill>
                  <a:srgbClr val="F97316"/>
                </a:solidFill>
                <a:latin typeface="Aptos Display"/>
                <a:ea typeface="Aptos Display"/>
                <a:cs typeface="Aptos Display"/>
              </a:rPr>
              <a:t>0.7574</a:t>
            </a:r>
          </a:p>
        </p:txBody>
      </p:sp>
      <p:sp>
        <p:nvSpPr>
          <p:cNvPr id="18" name="正方形/長方形 17">
            <a:extLst>
              <a:ext uri="{FF2B5EF4-FFF2-40B4-BE49-F238E27FC236}">
                <a16:creationId xmlns:a16="http://schemas.microsoft.com/office/drawing/2014/main" id="{09635B0D-0373-4DFE-ADEE-09337B1C12F1}"/>
              </a:ext>
            </a:extLst>
          </p:cNvPr>
          <p:cNvSpPr>
            <a:spLocks noGrp="1"/>
          </p:cNvSpPr>
          <p:nvPr/>
        </p:nvSpPr>
        <p:spPr>
          <a:xfrm>
            <a:off x="6343650" y="2514600"/>
            <a:ext cx="2057400" cy="400050"/>
          </a:xfrm>
          <a:prstGeom prst="rect">
            <a:avLst/>
          </a:prstGeom>
          <a:noFill/>
          <a:ln w="0">
            <a:noFill/>
            <a:prstDash val="solid"/>
          </a:ln>
        </p:spPr>
        <p:txBody>
          <a:bodyPr/>
          <a:lstStyle/>
          <a:p>
            <a:pPr algn="l">
              <a:defRPr sz="1050" b="0">
                <a:solidFill>
                  <a:srgbClr val="334155"/>
                </a:solidFill>
                <a:latin typeface="Yu Gothic"/>
                <a:ea typeface="Yu Gothic"/>
                <a:cs typeface="Yu Gothic"/>
              </a:defRPr>
            </a:pPr>
            <a:r>
              <a:rPr sz="1050" b="0">
                <a:solidFill>
                  <a:srgbClr val="334155"/>
                </a:solidFill>
                <a:latin typeface="Yu Gothic"/>
                <a:ea typeface="Yu Gothic"/>
                <a:cs typeface="Yu Gothic"/>
              </a:rPr>
              <a:t>+0.1295 vs previous</a:t>
            </a:r>
          </a:p>
        </p:txBody>
      </p:sp>
      <p:sp>
        <p:nvSpPr>
          <p:cNvPr id="19" name="角丸四角形 18">
            <a:extLst>
              <a:ext uri="{FF2B5EF4-FFF2-40B4-BE49-F238E27FC236}">
                <a16:creationId xmlns:a16="http://schemas.microsoft.com/office/drawing/2014/main" id="{61E69170-3FA3-4B89-B692-FFF9A3F9C034}"/>
              </a:ext>
            </a:extLst>
          </p:cNvPr>
          <p:cNvSpPr>
            <a:spLocks noGrp="1"/>
          </p:cNvSpPr>
          <p:nvPr/>
        </p:nvSpPr>
        <p:spPr>
          <a:xfrm>
            <a:off x="8877300" y="1466850"/>
            <a:ext cx="2438400" cy="1466850"/>
          </a:xfrm>
          <a:prstGeom prst="roundRect">
            <a:avLst>
              <a:gd name="adj" fmla="val 10390"/>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20" name="正方形/長方形 19">
            <a:extLst>
              <a:ext uri="{FF2B5EF4-FFF2-40B4-BE49-F238E27FC236}">
                <a16:creationId xmlns:a16="http://schemas.microsoft.com/office/drawing/2014/main" id="{E1FD279D-761E-4D1C-9623-158B40A63181}"/>
              </a:ext>
            </a:extLst>
          </p:cNvPr>
          <p:cNvSpPr>
            <a:spLocks noGrp="1"/>
          </p:cNvSpPr>
          <p:nvPr/>
        </p:nvSpPr>
        <p:spPr>
          <a:xfrm>
            <a:off x="9067800" y="1638300"/>
            <a:ext cx="2057400" cy="228600"/>
          </a:xfrm>
          <a:prstGeom prst="rect">
            <a:avLst/>
          </a:prstGeom>
          <a:noFill/>
          <a:ln w="0">
            <a:noFill/>
            <a:prstDash val="solid"/>
          </a:ln>
        </p:spPr>
        <p:txBody>
          <a:bodyPr/>
          <a:lstStyle/>
          <a:p>
            <a:pPr algn="l">
              <a:defRPr sz="1050" b="1">
                <a:solidFill>
                  <a:srgbClr val="64748B"/>
                </a:solidFill>
                <a:latin typeface="Yu Gothic"/>
                <a:ea typeface="Yu Gothic"/>
                <a:cs typeface="Yu Gothic"/>
              </a:defRPr>
            </a:pPr>
            <a:r>
              <a:rPr sz="1050" b="1">
                <a:solidFill>
                  <a:srgbClr val="64748B"/>
                </a:solidFill>
                <a:latin typeface="Yu Gothic"/>
                <a:ea typeface="Yu Gothic"/>
                <a:cs typeface="Yu Gothic"/>
              </a:rPr>
              <a:t>Abnormal Precision</a:t>
            </a:r>
          </a:p>
        </p:txBody>
      </p:sp>
      <p:sp>
        <p:nvSpPr>
          <p:cNvPr id="21" name="正方形/長方形 20">
            <a:extLst>
              <a:ext uri="{FF2B5EF4-FFF2-40B4-BE49-F238E27FC236}">
                <a16:creationId xmlns:a16="http://schemas.microsoft.com/office/drawing/2014/main" id="{CD376A18-9DF9-4873-A868-02D0406B165A}"/>
              </a:ext>
            </a:extLst>
          </p:cNvPr>
          <p:cNvSpPr>
            <a:spLocks noGrp="1"/>
          </p:cNvSpPr>
          <p:nvPr/>
        </p:nvSpPr>
        <p:spPr>
          <a:xfrm>
            <a:off x="9067800" y="1905000"/>
            <a:ext cx="2057400" cy="552450"/>
          </a:xfrm>
          <a:prstGeom prst="rect">
            <a:avLst/>
          </a:prstGeom>
          <a:noFill/>
          <a:ln w="0">
            <a:noFill/>
            <a:prstDash val="solid"/>
          </a:ln>
        </p:spPr>
        <p:txBody>
          <a:bodyPr/>
          <a:lstStyle/>
          <a:p>
            <a:pPr algn="l">
              <a:defRPr sz="3300" b="1">
                <a:solidFill>
                  <a:srgbClr val="22C55E"/>
                </a:solidFill>
                <a:latin typeface="Aptos Display"/>
                <a:ea typeface="Aptos Display"/>
                <a:cs typeface="Aptos Display"/>
              </a:defRPr>
            </a:pPr>
            <a:r>
              <a:rPr sz="3300" b="1">
                <a:solidFill>
                  <a:srgbClr val="22C55E"/>
                </a:solidFill>
                <a:latin typeface="Aptos Display"/>
                <a:ea typeface="Aptos Display"/>
                <a:cs typeface="Aptos Display"/>
              </a:rPr>
              <a:t>0.8825</a:t>
            </a:r>
          </a:p>
        </p:txBody>
      </p:sp>
      <p:sp>
        <p:nvSpPr>
          <p:cNvPr id="22" name="正方形/長方形 21">
            <a:extLst>
              <a:ext uri="{FF2B5EF4-FFF2-40B4-BE49-F238E27FC236}">
                <a16:creationId xmlns:a16="http://schemas.microsoft.com/office/drawing/2014/main" id="{668088BE-3736-4504-B93A-0819376C71CC}"/>
              </a:ext>
            </a:extLst>
          </p:cNvPr>
          <p:cNvSpPr>
            <a:spLocks noGrp="1"/>
          </p:cNvSpPr>
          <p:nvPr/>
        </p:nvSpPr>
        <p:spPr>
          <a:xfrm>
            <a:off x="9067800" y="2514600"/>
            <a:ext cx="2057400" cy="400050"/>
          </a:xfrm>
          <a:prstGeom prst="rect">
            <a:avLst/>
          </a:prstGeom>
          <a:noFill/>
          <a:ln w="0">
            <a:noFill/>
            <a:prstDash val="solid"/>
          </a:ln>
        </p:spPr>
        <p:txBody>
          <a:bodyPr/>
          <a:lstStyle/>
          <a:p>
            <a:pPr algn="l">
              <a:defRPr sz="1050" b="0">
                <a:solidFill>
                  <a:srgbClr val="334155"/>
                </a:solidFill>
                <a:latin typeface="Yu Gothic"/>
                <a:ea typeface="Yu Gothic"/>
                <a:cs typeface="Yu Gothic"/>
              </a:defRPr>
            </a:pPr>
            <a:r>
              <a:rPr sz="1050" b="0">
                <a:solidFill>
                  <a:srgbClr val="334155"/>
                </a:solidFill>
                <a:latin typeface="Yu Gothic"/>
                <a:ea typeface="Yu Gothic"/>
                <a:cs typeface="Yu Gothic"/>
              </a:rPr>
              <a:t>Recall 0.6634</a:t>
            </a:r>
          </a:p>
        </p:txBody>
      </p:sp>
      <p:sp>
        <p:nvSpPr>
          <p:cNvPr id="23" name="正方形/長方形 22">
            <a:extLst>
              <a:ext uri="{FF2B5EF4-FFF2-40B4-BE49-F238E27FC236}">
                <a16:creationId xmlns:a16="http://schemas.microsoft.com/office/drawing/2014/main" id="{0F719322-C901-4A2B-95E1-8598BD7955F6}"/>
              </a:ext>
            </a:extLst>
          </p:cNvPr>
          <p:cNvSpPr>
            <a:spLocks noGrp="1"/>
          </p:cNvSpPr>
          <p:nvPr/>
        </p:nvSpPr>
        <p:spPr>
          <a:xfrm>
            <a:off x="895350" y="3505200"/>
            <a:ext cx="2667000" cy="266700"/>
          </a:xfrm>
          <a:prstGeom prst="rect">
            <a:avLst/>
          </a:prstGeom>
          <a:noFill/>
          <a:ln w="0">
            <a:noFill/>
            <a:prstDash val="solid"/>
          </a:ln>
        </p:spPr>
        <p:txBody>
          <a:bodyPr/>
          <a:lstStyle/>
          <a:p>
            <a:pPr algn="l">
              <a:defRPr sz="1650" b="1">
                <a:solidFill>
                  <a:srgbClr val="0B1220"/>
                </a:solidFill>
                <a:latin typeface="Yu Gothic"/>
                <a:ea typeface="Yu Gothic"/>
                <a:cs typeface="Yu Gothic"/>
              </a:defRPr>
            </a:pPr>
            <a:r>
              <a:rPr sz="1650" b="1">
                <a:solidFill>
                  <a:srgbClr val="0B1220"/>
                </a:solidFill>
                <a:latin typeface="Yu Gothic"/>
                <a:ea typeface="Yu Gothic"/>
                <a:cs typeface="Yu Gothic"/>
              </a:rPr>
              <a:t>改善前との比較</a:t>
            </a:r>
          </a:p>
        </p:txBody>
      </p:sp>
      <p:sp>
        <p:nvSpPr>
          <p:cNvPr id="24" name="正方形/長方形 23">
            <a:extLst>
              <a:ext uri="{FF2B5EF4-FFF2-40B4-BE49-F238E27FC236}">
                <a16:creationId xmlns:a16="http://schemas.microsoft.com/office/drawing/2014/main" id="{360E5935-D1DA-4392-87AF-E756099DE7E9}"/>
              </a:ext>
            </a:extLst>
          </p:cNvPr>
          <p:cNvSpPr>
            <a:spLocks noGrp="1"/>
          </p:cNvSpPr>
          <p:nvPr/>
        </p:nvSpPr>
        <p:spPr>
          <a:xfrm>
            <a:off x="952500" y="3924300"/>
            <a:ext cx="1219200" cy="228600"/>
          </a:xfrm>
          <a:prstGeom prst="rect">
            <a:avLst/>
          </a:prstGeom>
          <a:noFill/>
          <a:ln w="0">
            <a:noFill/>
            <a:prstDash val="solid"/>
          </a:ln>
        </p:spPr>
        <p:txBody>
          <a:bodyPr/>
          <a:lstStyle/>
          <a:p>
            <a:pPr algn="l">
              <a:defRPr sz="1275" b="1">
                <a:solidFill>
                  <a:srgbClr val="0B1220"/>
                </a:solidFill>
                <a:latin typeface="Yu Gothic"/>
                <a:ea typeface="Yu Gothic"/>
                <a:cs typeface="Yu Gothic"/>
              </a:defRPr>
            </a:pPr>
            <a:r>
              <a:rPr sz="1275" b="1">
                <a:solidFill>
                  <a:srgbClr val="0B1220"/>
                </a:solidFill>
                <a:latin typeface="Yu Gothic"/>
                <a:ea typeface="Yu Gothic"/>
                <a:cs typeface="Yu Gothic"/>
              </a:rPr>
              <a:t>Accuracy</a:t>
            </a:r>
          </a:p>
        </p:txBody>
      </p:sp>
      <p:sp>
        <p:nvSpPr>
          <p:cNvPr id="25" name="正方形/長方形 24">
            <a:extLst>
              <a:ext uri="{FF2B5EF4-FFF2-40B4-BE49-F238E27FC236}">
                <a16:creationId xmlns:a16="http://schemas.microsoft.com/office/drawing/2014/main" id="{AB5B1392-FBFD-4CE4-8571-47ABCDC97059}"/>
              </a:ext>
            </a:extLst>
          </p:cNvPr>
          <p:cNvSpPr>
            <a:spLocks noGrp="1"/>
          </p:cNvSpPr>
          <p:nvPr/>
        </p:nvSpPr>
        <p:spPr>
          <a:xfrm>
            <a:off x="2266950" y="3790950"/>
            <a:ext cx="666750" cy="171450"/>
          </a:xfrm>
          <a:prstGeom prst="rect">
            <a:avLst/>
          </a:prstGeom>
          <a:noFill/>
          <a:ln w="0">
            <a:noFill/>
            <a:prstDash val="solid"/>
          </a:ln>
        </p:spPr>
        <p:txBody>
          <a:bodyPr/>
          <a:lstStyle/>
          <a:p>
            <a:pPr algn="l">
              <a:defRPr sz="825" b="0">
                <a:solidFill>
                  <a:srgbClr val="64748B"/>
                </a:solidFill>
                <a:latin typeface="Yu Gothic"/>
                <a:ea typeface="Yu Gothic"/>
                <a:cs typeface="Yu Gothic"/>
              </a:defRPr>
            </a:pPr>
            <a:r>
              <a:rPr sz="825" b="0">
                <a:solidFill>
                  <a:srgbClr val="64748B"/>
                </a:solidFill>
                <a:latin typeface="Yu Gothic"/>
                <a:ea typeface="Yu Gothic"/>
                <a:cs typeface="Yu Gothic"/>
              </a:rPr>
              <a:t>before</a:t>
            </a:r>
          </a:p>
        </p:txBody>
      </p:sp>
      <p:sp>
        <p:nvSpPr>
          <p:cNvPr id="26" name="角丸四角形 25">
            <a:extLst>
              <a:ext uri="{FF2B5EF4-FFF2-40B4-BE49-F238E27FC236}">
                <a16:creationId xmlns:a16="http://schemas.microsoft.com/office/drawing/2014/main" id="{8E297FE5-1F58-4408-A6B5-A4F66BD96928}"/>
              </a:ext>
            </a:extLst>
          </p:cNvPr>
          <p:cNvSpPr>
            <a:spLocks noGrp="1"/>
          </p:cNvSpPr>
          <p:nvPr/>
        </p:nvSpPr>
        <p:spPr>
          <a:xfrm>
            <a:off x="2266950" y="3981450"/>
            <a:ext cx="2952750" cy="114300"/>
          </a:xfrm>
          <a:prstGeom prst="roundRect">
            <a:avLst>
              <a:gd name="adj" fmla="val 50000"/>
            </a:avLst>
          </a:prstGeom>
          <a:solidFill>
            <a:srgbClr val="E2E8F0"/>
          </a:solidFill>
          <a:ln w="0">
            <a:noFill/>
            <a:prstDash val="solid"/>
          </a:ln>
        </p:spPr>
        <p:txBody>
          <a:bodyPr/>
          <a:lstStyle/>
          <a:p>
            <a:endParaRPr lang="ja-JP" altLang="en-US"/>
          </a:p>
        </p:txBody>
      </p:sp>
      <p:sp>
        <p:nvSpPr>
          <p:cNvPr id="27" name="角丸四角形 26">
            <a:extLst>
              <a:ext uri="{FF2B5EF4-FFF2-40B4-BE49-F238E27FC236}">
                <a16:creationId xmlns:a16="http://schemas.microsoft.com/office/drawing/2014/main" id="{100EDCFD-A73D-4742-B3A0-A9E5C5AA1C2C}"/>
              </a:ext>
            </a:extLst>
          </p:cNvPr>
          <p:cNvSpPr>
            <a:spLocks noGrp="1"/>
          </p:cNvSpPr>
          <p:nvPr/>
        </p:nvSpPr>
        <p:spPr>
          <a:xfrm>
            <a:off x="2266950" y="3981450"/>
            <a:ext cx="1624013" cy="114300"/>
          </a:xfrm>
          <a:prstGeom prst="roundRect">
            <a:avLst>
              <a:gd name="adj" fmla="val 50000"/>
            </a:avLst>
          </a:prstGeom>
          <a:solidFill>
            <a:srgbClr val="94A3B8"/>
          </a:solidFill>
          <a:ln w="0">
            <a:noFill/>
            <a:prstDash val="solid"/>
          </a:ln>
        </p:spPr>
        <p:txBody>
          <a:bodyPr/>
          <a:lstStyle/>
          <a:p>
            <a:endParaRPr lang="ja-JP" altLang="en-US"/>
          </a:p>
        </p:txBody>
      </p:sp>
      <p:sp>
        <p:nvSpPr>
          <p:cNvPr id="28" name="正方形/長方形 27">
            <a:extLst>
              <a:ext uri="{FF2B5EF4-FFF2-40B4-BE49-F238E27FC236}">
                <a16:creationId xmlns:a16="http://schemas.microsoft.com/office/drawing/2014/main" id="{6B488459-D799-45A4-BE35-F53536323283}"/>
              </a:ext>
            </a:extLst>
          </p:cNvPr>
          <p:cNvSpPr>
            <a:spLocks noGrp="1"/>
          </p:cNvSpPr>
          <p:nvPr/>
        </p:nvSpPr>
        <p:spPr>
          <a:xfrm>
            <a:off x="5353050" y="3924300"/>
            <a:ext cx="762000" cy="228600"/>
          </a:xfrm>
          <a:prstGeom prst="rect">
            <a:avLst/>
          </a:prstGeom>
          <a:noFill/>
          <a:ln w="0">
            <a:noFill/>
            <a:prstDash val="solid"/>
          </a:ln>
        </p:spPr>
        <p:txBody>
          <a:bodyPr/>
          <a:lstStyle/>
          <a:p>
            <a:pPr algn="l">
              <a:defRPr sz="1125" b="0">
                <a:solidFill>
                  <a:srgbClr val="334155"/>
                </a:solidFill>
                <a:latin typeface="Yu Gothic"/>
                <a:ea typeface="Yu Gothic"/>
                <a:cs typeface="Yu Gothic"/>
              </a:defRPr>
            </a:pPr>
            <a:r>
              <a:rPr sz="1125" b="0">
                <a:solidFill>
                  <a:srgbClr val="334155"/>
                </a:solidFill>
                <a:latin typeface="Yu Gothic"/>
                <a:ea typeface="Yu Gothic"/>
                <a:cs typeface="Yu Gothic"/>
              </a:rPr>
              <a:t>0.5500</a:t>
            </a:r>
          </a:p>
        </p:txBody>
      </p:sp>
      <p:sp>
        <p:nvSpPr>
          <p:cNvPr id="29" name="正方形/長方形 28">
            <a:extLst>
              <a:ext uri="{FF2B5EF4-FFF2-40B4-BE49-F238E27FC236}">
                <a16:creationId xmlns:a16="http://schemas.microsoft.com/office/drawing/2014/main" id="{4698F081-56F8-44F6-87CD-53D6037BD538}"/>
              </a:ext>
            </a:extLst>
          </p:cNvPr>
          <p:cNvSpPr>
            <a:spLocks noGrp="1"/>
          </p:cNvSpPr>
          <p:nvPr/>
        </p:nvSpPr>
        <p:spPr>
          <a:xfrm>
            <a:off x="6286500" y="3790950"/>
            <a:ext cx="666750" cy="171450"/>
          </a:xfrm>
          <a:prstGeom prst="rect">
            <a:avLst/>
          </a:prstGeom>
          <a:noFill/>
          <a:ln w="0">
            <a:noFill/>
            <a:prstDash val="solid"/>
          </a:ln>
        </p:spPr>
        <p:txBody>
          <a:bodyPr/>
          <a:lstStyle/>
          <a:p>
            <a:pPr algn="l">
              <a:defRPr sz="825" b="0">
                <a:solidFill>
                  <a:srgbClr val="64748B"/>
                </a:solidFill>
                <a:latin typeface="Yu Gothic"/>
                <a:ea typeface="Yu Gothic"/>
                <a:cs typeface="Yu Gothic"/>
              </a:defRPr>
            </a:pPr>
            <a:r>
              <a:rPr sz="825" b="0">
                <a:solidFill>
                  <a:srgbClr val="64748B"/>
                </a:solidFill>
                <a:latin typeface="Yu Gothic"/>
                <a:ea typeface="Yu Gothic"/>
                <a:cs typeface="Yu Gothic"/>
              </a:rPr>
              <a:t>after</a:t>
            </a:r>
          </a:p>
        </p:txBody>
      </p:sp>
      <p:sp>
        <p:nvSpPr>
          <p:cNvPr id="30" name="角丸四角形 29">
            <a:extLst>
              <a:ext uri="{FF2B5EF4-FFF2-40B4-BE49-F238E27FC236}">
                <a16:creationId xmlns:a16="http://schemas.microsoft.com/office/drawing/2014/main" id="{C9D7FAD5-6218-4471-96CC-A9D1B9DD3DAF}"/>
              </a:ext>
            </a:extLst>
          </p:cNvPr>
          <p:cNvSpPr>
            <a:spLocks noGrp="1"/>
          </p:cNvSpPr>
          <p:nvPr/>
        </p:nvSpPr>
        <p:spPr>
          <a:xfrm>
            <a:off x="6286500" y="3981450"/>
            <a:ext cx="2952750" cy="114300"/>
          </a:xfrm>
          <a:prstGeom prst="roundRect">
            <a:avLst>
              <a:gd name="adj" fmla="val 50000"/>
            </a:avLst>
          </a:prstGeom>
          <a:solidFill>
            <a:srgbClr val="E2E8F0"/>
          </a:solidFill>
          <a:ln w="0">
            <a:noFill/>
            <a:prstDash val="solid"/>
          </a:ln>
        </p:spPr>
        <p:txBody>
          <a:bodyPr/>
          <a:lstStyle/>
          <a:p>
            <a:endParaRPr lang="ja-JP" altLang="en-US"/>
          </a:p>
        </p:txBody>
      </p:sp>
      <p:sp>
        <p:nvSpPr>
          <p:cNvPr id="31" name="角丸四角形 30">
            <a:extLst>
              <a:ext uri="{FF2B5EF4-FFF2-40B4-BE49-F238E27FC236}">
                <a16:creationId xmlns:a16="http://schemas.microsoft.com/office/drawing/2014/main" id="{2E78BB57-AE8C-484B-A6D8-D0311BA07F44}"/>
              </a:ext>
            </a:extLst>
          </p:cNvPr>
          <p:cNvSpPr>
            <a:spLocks noGrp="1"/>
          </p:cNvSpPr>
          <p:nvPr/>
        </p:nvSpPr>
        <p:spPr>
          <a:xfrm>
            <a:off x="6286500" y="3981450"/>
            <a:ext cx="1858668" cy="114300"/>
          </a:xfrm>
          <a:prstGeom prst="roundRect">
            <a:avLst>
              <a:gd name="adj" fmla="val 50000"/>
            </a:avLst>
          </a:prstGeom>
          <a:solidFill>
            <a:srgbClr val="0EA5E9"/>
          </a:solidFill>
          <a:ln w="0">
            <a:noFill/>
            <a:prstDash val="solid"/>
          </a:ln>
        </p:spPr>
        <p:txBody>
          <a:bodyPr/>
          <a:lstStyle/>
          <a:p>
            <a:endParaRPr lang="ja-JP" altLang="en-US"/>
          </a:p>
        </p:txBody>
      </p:sp>
      <p:sp>
        <p:nvSpPr>
          <p:cNvPr id="32" name="正方形/長方形 31">
            <a:extLst>
              <a:ext uri="{FF2B5EF4-FFF2-40B4-BE49-F238E27FC236}">
                <a16:creationId xmlns:a16="http://schemas.microsoft.com/office/drawing/2014/main" id="{8CABEDC0-9968-480E-BF73-9FFC92B93EAA}"/>
              </a:ext>
            </a:extLst>
          </p:cNvPr>
          <p:cNvSpPr>
            <a:spLocks noGrp="1"/>
          </p:cNvSpPr>
          <p:nvPr/>
        </p:nvSpPr>
        <p:spPr>
          <a:xfrm>
            <a:off x="9372600" y="3924300"/>
            <a:ext cx="762000" cy="228600"/>
          </a:xfrm>
          <a:prstGeom prst="rect">
            <a:avLst/>
          </a:prstGeom>
          <a:noFill/>
          <a:ln w="0">
            <a:noFill/>
            <a:prstDash val="solid"/>
          </a:ln>
        </p:spPr>
        <p:txBody>
          <a:bodyPr/>
          <a:lstStyle/>
          <a:p>
            <a:pPr algn="l">
              <a:defRPr sz="1125" b="1">
                <a:solidFill>
                  <a:srgbClr val="0EA5E9"/>
                </a:solidFill>
                <a:latin typeface="Yu Gothic"/>
                <a:ea typeface="Yu Gothic"/>
                <a:cs typeface="Yu Gothic"/>
              </a:defRPr>
            </a:pPr>
            <a:r>
              <a:rPr sz="1125" b="1">
                <a:solidFill>
                  <a:srgbClr val="0EA5E9"/>
                </a:solidFill>
                <a:latin typeface="Yu Gothic"/>
                <a:ea typeface="Yu Gothic"/>
                <a:cs typeface="Yu Gothic"/>
              </a:rPr>
              <a:t>0.6295</a:t>
            </a:r>
          </a:p>
        </p:txBody>
      </p:sp>
      <p:sp>
        <p:nvSpPr>
          <p:cNvPr id="33" name="正方形/長方形 32">
            <a:extLst>
              <a:ext uri="{FF2B5EF4-FFF2-40B4-BE49-F238E27FC236}">
                <a16:creationId xmlns:a16="http://schemas.microsoft.com/office/drawing/2014/main" id="{4DB108E5-1BAD-4AFB-9491-F7E79A4FDC10}"/>
              </a:ext>
            </a:extLst>
          </p:cNvPr>
          <p:cNvSpPr>
            <a:spLocks noGrp="1"/>
          </p:cNvSpPr>
          <p:nvPr/>
        </p:nvSpPr>
        <p:spPr>
          <a:xfrm>
            <a:off x="10382250" y="3924300"/>
            <a:ext cx="876300" cy="228600"/>
          </a:xfrm>
          <a:prstGeom prst="rect">
            <a:avLst/>
          </a:prstGeom>
          <a:noFill/>
          <a:ln w="0">
            <a:noFill/>
            <a:prstDash val="solid"/>
          </a:ln>
        </p:spPr>
        <p:txBody>
          <a:bodyPr/>
          <a:lstStyle/>
          <a:p>
            <a:pPr algn="r">
              <a:defRPr sz="1125" b="1">
                <a:solidFill>
                  <a:srgbClr val="22C55E"/>
                </a:solidFill>
                <a:latin typeface="Yu Gothic"/>
                <a:ea typeface="Yu Gothic"/>
                <a:cs typeface="Yu Gothic"/>
              </a:defRPr>
            </a:pPr>
            <a:r>
              <a:rPr sz="1125" b="1">
                <a:solidFill>
                  <a:srgbClr val="22C55E"/>
                </a:solidFill>
                <a:latin typeface="Yu Gothic"/>
                <a:ea typeface="Yu Gothic"/>
                <a:cs typeface="Yu Gothic"/>
              </a:rPr>
              <a:t>+0.0795</a:t>
            </a:r>
          </a:p>
        </p:txBody>
      </p:sp>
      <p:sp>
        <p:nvSpPr>
          <p:cNvPr id="34" name="正方形/長方形 33">
            <a:extLst>
              <a:ext uri="{FF2B5EF4-FFF2-40B4-BE49-F238E27FC236}">
                <a16:creationId xmlns:a16="http://schemas.microsoft.com/office/drawing/2014/main" id="{98D0E1DD-DB7B-44CF-A33D-606BB5CBB8C1}"/>
              </a:ext>
            </a:extLst>
          </p:cNvPr>
          <p:cNvSpPr>
            <a:spLocks noGrp="1"/>
          </p:cNvSpPr>
          <p:nvPr/>
        </p:nvSpPr>
        <p:spPr>
          <a:xfrm>
            <a:off x="952500" y="4514850"/>
            <a:ext cx="1219200" cy="228600"/>
          </a:xfrm>
          <a:prstGeom prst="rect">
            <a:avLst/>
          </a:prstGeom>
          <a:noFill/>
          <a:ln w="0">
            <a:noFill/>
            <a:prstDash val="solid"/>
          </a:ln>
        </p:spPr>
        <p:txBody>
          <a:bodyPr/>
          <a:lstStyle/>
          <a:p>
            <a:pPr algn="l">
              <a:defRPr sz="1275" b="1">
                <a:solidFill>
                  <a:srgbClr val="0B1220"/>
                </a:solidFill>
                <a:latin typeface="Yu Gothic"/>
                <a:ea typeface="Yu Gothic"/>
                <a:cs typeface="Yu Gothic"/>
              </a:defRPr>
            </a:pPr>
            <a:r>
              <a:rPr sz="1275" b="1">
                <a:solidFill>
                  <a:srgbClr val="0B1220"/>
                </a:solidFill>
                <a:latin typeface="Yu Gothic"/>
                <a:ea typeface="Yu Gothic"/>
                <a:cs typeface="Yu Gothic"/>
              </a:rPr>
              <a:t>Macro-F1</a:t>
            </a:r>
          </a:p>
        </p:txBody>
      </p:sp>
      <p:sp>
        <p:nvSpPr>
          <p:cNvPr id="35" name="正方形/長方形 34">
            <a:extLst>
              <a:ext uri="{FF2B5EF4-FFF2-40B4-BE49-F238E27FC236}">
                <a16:creationId xmlns:a16="http://schemas.microsoft.com/office/drawing/2014/main" id="{A3101CD1-5BDE-4AA9-A558-8686BBD00709}"/>
              </a:ext>
            </a:extLst>
          </p:cNvPr>
          <p:cNvSpPr>
            <a:spLocks noGrp="1"/>
          </p:cNvSpPr>
          <p:nvPr/>
        </p:nvSpPr>
        <p:spPr>
          <a:xfrm>
            <a:off x="2266950" y="4381500"/>
            <a:ext cx="666750" cy="171450"/>
          </a:xfrm>
          <a:prstGeom prst="rect">
            <a:avLst/>
          </a:prstGeom>
          <a:noFill/>
          <a:ln w="0">
            <a:noFill/>
            <a:prstDash val="solid"/>
          </a:ln>
        </p:spPr>
        <p:txBody>
          <a:bodyPr/>
          <a:lstStyle/>
          <a:p>
            <a:pPr algn="l">
              <a:defRPr sz="825" b="0">
                <a:solidFill>
                  <a:srgbClr val="64748B"/>
                </a:solidFill>
                <a:latin typeface="Yu Gothic"/>
                <a:ea typeface="Yu Gothic"/>
                <a:cs typeface="Yu Gothic"/>
              </a:defRPr>
            </a:pPr>
            <a:r>
              <a:rPr sz="825" b="0">
                <a:solidFill>
                  <a:srgbClr val="64748B"/>
                </a:solidFill>
                <a:latin typeface="Yu Gothic"/>
                <a:ea typeface="Yu Gothic"/>
                <a:cs typeface="Yu Gothic"/>
              </a:rPr>
              <a:t>before</a:t>
            </a:r>
          </a:p>
        </p:txBody>
      </p:sp>
      <p:sp>
        <p:nvSpPr>
          <p:cNvPr id="36" name="角丸四角形 35">
            <a:extLst>
              <a:ext uri="{FF2B5EF4-FFF2-40B4-BE49-F238E27FC236}">
                <a16:creationId xmlns:a16="http://schemas.microsoft.com/office/drawing/2014/main" id="{525A3474-F3E3-4224-9FE1-4F98DD236057}"/>
              </a:ext>
            </a:extLst>
          </p:cNvPr>
          <p:cNvSpPr>
            <a:spLocks noGrp="1"/>
          </p:cNvSpPr>
          <p:nvPr/>
        </p:nvSpPr>
        <p:spPr>
          <a:xfrm>
            <a:off x="2266950" y="4572000"/>
            <a:ext cx="2952750" cy="114300"/>
          </a:xfrm>
          <a:prstGeom prst="roundRect">
            <a:avLst>
              <a:gd name="adj" fmla="val 50000"/>
            </a:avLst>
          </a:prstGeom>
          <a:solidFill>
            <a:srgbClr val="E2E8F0"/>
          </a:solidFill>
          <a:ln w="0">
            <a:noFill/>
            <a:prstDash val="solid"/>
          </a:ln>
        </p:spPr>
        <p:txBody>
          <a:bodyPr/>
          <a:lstStyle/>
          <a:p>
            <a:endParaRPr lang="ja-JP" altLang="en-US"/>
          </a:p>
        </p:txBody>
      </p:sp>
      <p:sp>
        <p:nvSpPr>
          <p:cNvPr id="37" name="角丸四角形 36">
            <a:extLst>
              <a:ext uri="{FF2B5EF4-FFF2-40B4-BE49-F238E27FC236}">
                <a16:creationId xmlns:a16="http://schemas.microsoft.com/office/drawing/2014/main" id="{7425FE21-67E0-412E-B07D-34540092C085}"/>
              </a:ext>
            </a:extLst>
          </p:cNvPr>
          <p:cNvSpPr>
            <a:spLocks noGrp="1"/>
          </p:cNvSpPr>
          <p:nvPr/>
        </p:nvSpPr>
        <p:spPr>
          <a:xfrm>
            <a:off x="2266950" y="4572000"/>
            <a:ext cx="1517123" cy="114300"/>
          </a:xfrm>
          <a:prstGeom prst="roundRect">
            <a:avLst>
              <a:gd name="adj" fmla="val 50000"/>
            </a:avLst>
          </a:prstGeom>
          <a:solidFill>
            <a:srgbClr val="94A3B8"/>
          </a:solidFill>
          <a:ln w="0">
            <a:noFill/>
            <a:prstDash val="solid"/>
          </a:ln>
        </p:spPr>
        <p:txBody>
          <a:bodyPr/>
          <a:lstStyle/>
          <a:p>
            <a:endParaRPr lang="ja-JP" altLang="en-US"/>
          </a:p>
        </p:txBody>
      </p:sp>
      <p:sp>
        <p:nvSpPr>
          <p:cNvPr id="38" name="正方形/長方形 37">
            <a:extLst>
              <a:ext uri="{FF2B5EF4-FFF2-40B4-BE49-F238E27FC236}">
                <a16:creationId xmlns:a16="http://schemas.microsoft.com/office/drawing/2014/main" id="{9140997F-BDEC-4217-BEAC-C21E297A9F5B}"/>
              </a:ext>
            </a:extLst>
          </p:cNvPr>
          <p:cNvSpPr>
            <a:spLocks noGrp="1"/>
          </p:cNvSpPr>
          <p:nvPr/>
        </p:nvSpPr>
        <p:spPr>
          <a:xfrm>
            <a:off x="5353050" y="4514850"/>
            <a:ext cx="762000" cy="228600"/>
          </a:xfrm>
          <a:prstGeom prst="rect">
            <a:avLst/>
          </a:prstGeom>
          <a:noFill/>
          <a:ln w="0">
            <a:noFill/>
            <a:prstDash val="solid"/>
          </a:ln>
        </p:spPr>
        <p:txBody>
          <a:bodyPr/>
          <a:lstStyle/>
          <a:p>
            <a:pPr algn="l">
              <a:defRPr sz="1125" b="0">
                <a:solidFill>
                  <a:srgbClr val="334155"/>
                </a:solidFill>
                <a:latin typeface="Yu Gothic"/>
                <a:ea typeface="Yu Gothic"/>
                <a:cs typeface="Yu Gothic"/>
              </a:defRPr>
            </a:pPr>
            <a:r>
              <a:rPr sz="1125" b="0">
                <a:solidFill>
                  <a:srgbClr val="334155"/>
                </a:solidFill>
                <a:latin typeface="Yu Gothic"/>
                <a:ea typeface="Yu Gothic"/>
                <a:cs typeface="Yu Gothic"/>
              </a:rPr>
              <a:t>0.5138</a:t>
            </a:r>
          </a:p>
        </p:txBody>
      </p:sp>
      <p:sp>
        <p:nvSpPr>
          <p:cNvPr id="39" name="正方形/長方形 38">
            <a:extLst>
              <a:ext uri="{FF2B5EF4-FFF2-40B4-BE49-F238E27FC236}">
                <a16:creationId xmlns:a16="http://schemas.microsoft.com/office/drawing/2014/main" id="{EA5C1CAA-9598-4792-9880-19D3EEDEAAB0}"/>
              </a:ext>
            </a:extLst>
          </p:cNvPr>
          <p:cNvSpPr>
            <a:spLocks noGrp="1"/>
          </p:cNvSpPr>
          <p:nvPr/>
        </p:nvSpPr>
        <p:spPr>
          <a:xfrm>
            <a:off x="6286500" y="4381500"/>
            <a:ext cx="666750" cy="171450"/>
          </a:xfrm>
          <a:prstGeom prst="rect">
            <a:avLst/>
          </a:prstGeom>
          <a:noFill/>
          <a:ln w="0">
            <a:noFill/>
            <a:prstDash val="solid"/>
          </a:ln>
        </p:spPr>
        <p:txBody>
          <a:bodyPr/>
          <a:lstStyle/>
          <a:p>
            <a:pPr algn="l">
              <a:defRPr sz="825" b="0">
                <a:solidFill>
                  <a:srgbClr val="64748B"/>
                </a:solidFill>
                <a:latin typeface="Yu Gothic"/>
                <a:ea typeface="Yu Gothic"/>
                <a:cs typeface="Yu Gothic"/>
              </a:defRPr>
            </a:pPr>
            <a:r>
              <a:rPr sz="825" b="0">
                <a:solidFill>
                  <a:srgbClr val="64748B"/>
                </a:solidFill>
                <a:latin typeface="Yu Gothic"/>
                <a:ea typeface="Yu Gothic"/>
                <a:cs typeface="Yu Gothic"/>
              </a:rPr>
              <a:t>after</a:t>
            </a:r>
          </a:p>
        </p:txBody>
      </p:sp>
      <p:sp>
        <p:nvSpPr>
          <p:cNvPr id="40" name="角丸四角形 39">
            <a:extLst>
              <a:ext uri="{FF2B5EF4-FFF2-40B4-BE49-F238E27FC236}">
                <a16:creationId xmlns:a16="http://schemas.microsoft.com/office/drawing/2014/main" id="{BB9D1E2C-0FE3-4DCC-8F93-F8969BF868BC}"/>
              </a:ext>
            </a:extLst>
          </p:cNvPr>
          <p:cNvSpPr>
            <a:spLocks noGrp="1"/>
          </p:cNvSpPr>
          <p:nvPr/>
        </p:nvSpPr>
        <p:spPr>
          <a:xfrm>
            <a:off x="6286500" y="4572000"/>
            <a:ext cx="2952750" cy="114300"/>
          </a:xfrm>
          <a:prstGeom prst="roundRect">
            <a:avLst>
              <a:gd name="adj" fmla="val 50000"/>
            </a:avLst>
          </a:prstGeom>
          <a:solidFill>
            <a:srgbClr val="E2E8F0"/>
          </a:solidFill>
          <a:ln w="0">
            <a:noFill/>
            <a:prstDash val="solid"/>
          </a:ln>
        </p:spPr>
        <p:txBody>
          <a:bodyPr/>
          <a:lstStyle/>
          <a:p>
            <a:endParaRPr lang="ja-JP" altLang="en-US"/>
          </a:p>
        </p:txBody>
      </p:sp>
      <p:sp>
        <p:nvSpPr>
          <p:cNvPr id="41" name="角丸四角形 40">
            <a:extLst>
              <a:ext uri="{FF2B5EF4-FFF2-40B4-BE49-F238E27FC236}">
                <a16:creationId xmlns:a16="http://schemas.microsoft.com/office/drawing/2014/main" id="{68979F0F-4CFF-46FC-B37A-57E3BCDD5B5A}"/>
              </a:ext>
            </a:extLst>
          </p:cNvPr>
          <p:cNvSpPr>
            <a:spLocks noGrp="1"/>
          </p:cNvSpPr>
          <p:nvPr/>
        </p:nvSpPr>
        <p:spPr>
          <a:xfrm>
            <a:off x="6286500" y="4572000"/>
            <a:ext cx="1853898" cy="114300"/>
          </a:xfrm>
          <a:prstGeom prst="roundRect">
            <a:avLst>
              <a:gd name="adj" fmla="val 50000"/>
            </a:avLst>
          </a:prstGeom>
          <a:solidFill>
            <a:srgbClr val="8B5CF6"/>
          </a:solidFill>
          <a:ln w="0">
            <a:noFill/>
            <a:prstDash val="solid"/>
          </a:ln>
        </p:spPr>
        <p:txBody>
          <a:bodyPr/>
          <a:lstStyle/>
          <a:p>
            <a:endParaRPr lang="ja-JP" altLang="en-US"/>
          </a:p>
        </p:txBody>
      </p:sp>
      <p:sp>
        <p:nvSpPr>
          <p:cNvPr id="42" name="正方形/長方形 41">
            <a:extLst>
              <a:ext uri="{FF2B5EF4-FFF2-40B4-BE49-F238E27FC236}">
                <a16:creationId xmlns:a16="http://schemas.microsoft.com/office/drawing/2014/main" id="{C6BC81A7-84A3-4903-B1E6-22A6B2CAA0F5}"/>
              </a:ext>
            </a:extLst>
          </p:cNvPr>
          <p:cNvSpPr>
            <a:spLocks noGrp="1"/>
          </p:cNvSpPr>
          <p:nvPr/>
        </p:nvSpPr>
        <p:spPr>
          <a:xfrm>
            <a:off x="9372600" y="4514850"/>
            <a:ext cx="762000" cy="228600"/>
          </a:xfrm>
          <a:prstGeom prst="rect">
            <a:avLst/>
          </a:prstGeom>
          <a:noFill/>
          <a:ln w="0">
            <a:noFill/>
            <a:prstDash val="solid"/>
          </a:ln>
        </p:spPr>
        <p:txBody>
          <a:bodyPr/>
          <a:lstStyle/>
          <a:p>
            <a:pPr algn="l">
              <a:defRPr sz="1125" b="1">
                <a:solidFill>
                  <a:srgbClr val="8B5CF6"/>
                </a:solidFill>
                <a:latin typeface="Yu Gothic"/>
                <a:ea typeface="Yu Gothic"/>
                <a:cs typeface="Yu Gothic"/>
              </a:defRPr>
            </a:pPr>
            <a:r>
              <a:rPr sz="1125" b="1">
                <a:solidFill>
                  <a:srgbClr val="8B5CF6"/>
                </a:solidFill>
                <a:latin typeface="Yu Gothic"/>
                <a:ea typeface="Yu Gothic"/>
                <a:cs typeface="Yu Gothic"/>
              </a:rPr>
              <a:t>0.6279</a:t>
            </a:r>
          </a:p>
        </p:txBody>
      </p:sp>
      <p:sp>
        <p:nvSpPr>
          <p:cNvPr id="43" name="正方形/長方形 42">
            <a:extLst>
              <a:ext uri="{FF2B5EF4-FFF2-40B4-BE49-F238E27FC236}">
                <a16:creationId xmlns:a16="http://schemas.microsoft.com/office/drawing/2014/main" id="{72530AA4-6480-41FE-AB47-8252DD6F3678}"/>
              </a:ext>
            </a:extLst>
          </p:cNvPr>
          <p:cNvSpPr>
            <a:spLocks noGrp="1"/>
          </p:cNvSpPr>
          <p:nvPr/>
        </p:nvSpPr>
        <p:spPr>
          <a:xfrm>
            <a:off x="10382250" y="4514850"/>
            <a:ext cx="876300" cy="228600"/>
          </a:xfrm>
          <a:prstGeom prst="rect">
            <a:avLst/>
          </a:prstGeom>
          <a:noFill/>
          <a:ln w="0">
            <a:noFill/>
            <a:prstDash val="solid"/>
          </a:ln>
        </p:spPr>
        <p:txBody>
          <a:bodyPr/>
          <a:lstStyle/>
          <a:p>
            <a:pPr algn="r">
              <a:defRPr sz="1125" b="1">
                <a:solidFill>
                  <a:srgbClr val="22C55E"/>
                </a:solidFill>
                <a:latin typeface="Yu Gothic"/>
                <a:ea typeface="Yu Gothic"/>
                <a:cs typeface="Yu Gothic"/>
              </a:defRPr>
            </a:pPr>
            <a:r>
              <a:rPr sz="1125" b="1">
                <a:solidFill>
                  <a:srgbClr val="22C55E"/>
                </a:solidFill>
                <a:latin typeface="Yu Gothic"/>
                <a:ea typeface="Yu Gothic"/>
                <a:cs typeface="Yu Gothic"/>
              </a:rPr>
              <a:t>+0.1141</a:t>
            </a:r>
          </a:p>
        </p:txBody>
      </p:sp>
      <p:sp>
        <p:nvSpPr>
          <p:cNvPr id="44" name="正方形/長方形 43">
            <a:extLst>
              <a:ext uri="{FF2B5EF4-FFF2-40B4-BE49-F238E27FC236}">
                <a16:creationId xmlns:a16="http://schemas.microsoft.com/office/drawing/2014/main" id="{1C06BFEB-B8C0-4A43-A37B-4B9B5EB1A01F}"/>
              </a:ext>
            </a:extLst>
          </p:cNvPr>
          <p:cNvSpPr>
            <a:spLocks noGrp="1"/>
          </p:cNvSpPr>
          <p:nvPr/>
        </p:nvSpPr>
        <p:spPr>
          <a:xfrm>
            <a:off x="952500" y="5105400"/>
            <a:ext cx="1219200" cy="228600"/>
          </a:xfrm>
          <a:prstGeom prst="rect">
            <a:avLst/>
          </a:prstGeom>
          <a:noFill/>
          <a:ln w="0">
            <a:noFill/>
            <a:prstDash val="solid"/>
          </a:ln>
        </p:spPr>
        <p:txBody>
          <a:bodyPr/>
          <a:lstStyle/>
          <a:p>
            <a:pPr algn="l">
              <a:defRPr sz="1275" b="1">
                <a:solidFill>
                  <a:srgbClr val="0B1220"/>
                </a:solidFill>
                <a:latin typeface="Yu Gothic"/>
                <a:ea typeface="Yu Gothic"/>
                <a:cs typeface="Yu Gothic"/>
              </a:defRPr>
            </a:pPr>
            <a:r>
              <a:rPr sz="1275" b="1">
                <a:solidFill>
                  <a:srgbClr val="0B1220"/>
                </a:solidFill>
                <a:latin typeface="Yu Gothic"/>
                <a:ea typeface="Yu Gothic"/>
                <a:cs typeface="Yu Gothic"/>
              </a:rPr>
              <a:t>異常F1</a:t>
            </a:r>
          </a:p>
        </p:txBody>
      </p:sp>
      <p:sp>
        <p:nvSpPr>
          <p:cNvPr id="45" name="正方形/長方形 44">
            <a:extLst>
              <a:ext uri="{FF2B5EF4-FFF2-40B4-BE49-F238E27FC236}">
                <a16:creationId xmlns:a16="http://schemas.microsoft.com/office/drawing/2014/main" id="{07718CEC-FB7B-4919-935B-33375123303A}"/>
              </a:ext>
            </a:extLst>
          </p:cNvPr>
          <p:cNvSpPr>
            <a:spLocks noGrp="1"/>
          </p:cNvSpPr>
          <p:nvPr/>
        </p:nvSpPr>
        <p:spPr>
          <a:xfrm>
            <a:off x="2266950" y="4972050"/>
            <a:ext cx="666750" cy="171450"/>
          </a:xfrm>
          <a:prstGeom prst="rect">
            <a:avLst/>
          </a:prstGeom>
          <a:noFill/>
          <a:ln w="0">
            <a:noFill/>
            <a:prstDash val="solid"/>
          </a:ln>
        </p:spPr>
        <p:txBody>
          <a:bodyPr/>
          <a:lstStyle/>
          <a:p>
            <a:pPr algn="l">
              <a:defRPr sz="825" b="0">
                <a:solidFill>
                  <a:srgbClr val="64748B"/>
                </a:solidFill>
                <a:latin typeface="Yu Gothic"/>
                <a:ea typeface="Yu Gothic"/>
                <a:cs typeface="Yu Gothic"/>
              </a:defRPr>
            </a:pPr>
            <a:r>
              <a:rPr sz="825" b="0">
                <a:solidFill>
                  <a:srgbClr val="64748B"/>
                </a:solidFill>
                <a:latin typeface="Yu Gothic"/>
                <a:ea typeface="Yu Gothic"/>
                <a:cs typeface="Yu Gothic"/>
              </a:rPr>
              <a:t>before</a:t>
            </a:r>
          </a:p>
        </p:txBody>
      </p:sp>
      <p:sp>
        <p:nvSpPr>
          <p:cNvPr id="46" name="角丸四角形 45">
            <a:extLst>
              <a:ext uri="{FF2B5EF4-FFF2-40B4-BE49-F238E27FC236}">
                <a16:creationId xmlns:a16="http://schemas.microsoft.com/office/drawing/2014/main" id="{76F500F6-0787-459D-BA2A-7F1B7C506E72}"/>
              </a:ext>
            </a:extLst>
          </p:cNvPr>
          <p:cNvSpPr>
            <a:spLocks noGrp="1"/>
          </p:cNvSpPr>
          <p:nvPr/>
        </p:nvSpPr>
        <p:spPr>
          <a:xfrm>
            <a:off x="2266950" y="5162550"/>
            <a:ext cx="2952750" cy="114300"/>
          </a:xfrm>
          <a:prstGeom prst="roundRect">
            <a:avLst>
              <a:gd name="adj" fmla="val 50000"/>
            </a:avLst>
          </a:prstGeom>
          <a:solidFill>
            <a:srgbClr val="E2E8F0"/>
          </a:solidFill>
          <a:ln w="0">
            <a:noFill/>
            <a:prstDash val="solid"/>
          </a:ln>
        </p:spPr>
        <p:txBody>
          <a:bodyPr/>
          <a:lstStyle/>
          <a:p>
            <a:endParaRPr lang="ja-JP" altLang="en-US"/>
          </a:p>
        </p:txBody>
      </p:sp>
      <p:sp>
        <p:nvSpPr>
          <p:cNvPr id="47" name="角丸四角形 46">
            <a:extLst>
              <a:ext uri="{FF2B5EF4-FFF2-40B4-BE49-F238E27FC236}">
                <a16:creationId xmlns:a16="http://schemas.microsoft.com/office/drawing/2014/main" id="{62638CA2-CDCD-44AC-B859-83279A37433B}"/>
              </a:ext>
            </a:extLst>
          </p:cNvPr>
          <p:cNvSpPr>
            <a:spLocks noGrp="1"/>
          </p:cNvSpPr>
          <p:nvPr/>
        </p:nvSpPr>
        <p:spPr>
          <a:xfrm>
            <a:off x="2266950" y="5162550"/>
            <a:ext cx="1854032" cy="114300"/>
          </a:xfrm>
          <a:prstGeom prst="roundRect">
            <a:avLst>
              <a:gd name="adj" fmla="val 50000"/>
            </a:avLst>
          </a:prstGeom>
          <a:solidFill>
            <a:srgbClr val="94A3B8"/>
          </a:solidFill>
          <a:ln w="0">
            <a:noFill/>
            <a:prstDash val="solid"/>
          </a:ln>
        </p:spPr>
        <p:txBody>
          <a:bodyPr/>
          <a:lstStyle/>
          <a:p>
            <a:endParaRPr lang="ja-JP" altLang="en-US"/>
          </a:p>
        </p:txBody>
      </p:sp>
      <p:sp>
        <p:nvSpPr>
          <p:cNvPr id="48" name="正方形/長方形 47">
            <a:extLst>
              <a:ext uri="{FF2B5EF4-FFF2-40B4-BE49-F238E27FC236}">
                <a16:creationId xmlns:a16="http://schemas.microsoft.com/office/drawing/2014/main" id="{6EC1CCFC-E6B5-403D-9F60-435000A3A857}"/>
              </a:ext>
            </a:extLst>
          </p:cNvPr>
          <p:cNvSpPr>
            <a:spLocks noGrp="1"/>
          </p:cNvSpPr>
          <p:nvPr/>
        </p:nvSpPr>
        <p:spPr>
          <a:xfrm>
            <a:off x="5353050" y="5105400"/>
            <a:ext cx="762000" cy="228600"/>
          </a:xfrm>
          <a:prstGeom prst="rect">
            <a:avLst/>
          </a:prstGeom>
          <a:noFill/>
          <a:ln w="0">
            <a:noFill/>
            <a:prstDash val="solid"/>
          </a:ln>
        </p:spPr>
        <p:txBody>
          <a:bodyPr/>
          <a:lstStyle/>
          <a:p>
            <a:pPr algn="l">
              <a:defRPr sz="1125" b="0">
                <a:solidFill>
                  <a:srgbClr val="334155"/>
                </a:solidFill>
                <a:latin typeface="Yu Gothic"/>
                <a:ea typeface="Yu Gothic"/>
                <a:cs typeface="Yu Gothic"/>
              </a:defRPr>
            </a:pPr>
            <a:r>
              <a:rPr sz="1125" b="0">
                <a:solidFill>
                  <a:srgbClr val="334155"/>
                </a:solidFill>
                <a:latin typeface="Yu Gothic"/>
                <a:ea typeface="Yu Gothic"/>
                <a:cs typeface="Yu Gothic"/>
              </a:rPr>
              <a:t>0.6279</a:t>
            </a:r>
          </a:p>
        </p:txBody>
      </p:sp>
      <p:sp>
        <p:nvSpPr>
          <p:cNvPr id="49" name="正方形/長方形 48">
            <a:extLst>
              <a:ext uri="{FF2B5EF4-FFF2-40B4-BE49-F238E27FC236}">
                <a16:creationId xmlns:a16="http://schemas.microsoft.com/office/drawing/2014/main" id="{F2710CDE-C145-4284-B9AE-5654CB1566BB}"/>
              </a:ext>
            </a:extLst>
          </p:cNvPr>
          <p:cNvSpPr>
            <a:spLocks noGrp="1"/>
          </p:cNvSpPr>
          <p:nvPr/>
        </p:nvSpPr>
        <p:spPr>
          <a:xfrm>
            <a:off x="6286500" y="4972050"/>
            <a:ext cx="666750" cy="171450"/>
          </a:xfrm>
          <a:prstGeom prst="rect">
            <a:avLst/>
          </a:prstGeom>
          <a:noFill/>
          <a:ln w="0">
            <a:noFill/>
            <a:prstDash val="solid"/>
          </a:ln>
        </p:spPr>
        <p:txBody>
          <a:bodyPr/>
          <a:lstStyle/>
          <a:p>
            <a:pPr algn="l">
              <a:defRPr sz="825" b="0">
                <a:solidFill>
                  <a:srgbClr val="64748B"/>
                </a:solidFill>
                <a:latin typeface="Yu Gothic"/>
                <a:ea typeface="Yu Gothic"/>
                <a:cs typeface="Yu Gothic"/>
              </a:defRPr>
            </a:pPr>
            <a:r>
              <a:rPr sz="825" b="0">
                <a:solidFill>
                  <a:srgbClr val="64748B"/>
                </a:solidFill>
                <a:latin typeface="Yu Gothic"/>
                <a:ea typeface="Yu Gothic"/>
                <a:cs typeface="Yu Gothic"/>
              </a:rPr>
              <a:t>after</a:t>
            </a:r>
          </a:p>
        </p:txBody>
      </p:sp>
      <p:sp>
        <p:nvSpPr>
          <p:cNvPr id="50" name="角丸四角形 49">
            <a:extLst>
              <a:ext uri="{FF2B5EF4-FFF2-40B4-BE49-F238E27FC236}">
                <a16:creationId xmlns:a16="http://schemas.microsoft.com/office/drawing/2014/main" id="{A1E41213-13B8-4E6F-B0DC-9C540308758E}"/>
              </a:ext>
            </a:extLst>
          </p:cNvPr>
          <p:cNvSpPr>
            <a:spLocks noGrp="1"/>
          </p:cNvSpPr>
          <p:nvPr/>
        </p:nvSpPr>
        <p:spPr>
          <a:xfrm>
            <a:off x="6286500" y="5162550"/>
            <a:ext cx="2952750" cy="114300"/>
          </a:xfrm>
          <a:prstGeom prst="roundRect">
            <a:avLst>
              <a:gd name="adj" fmla="val 50000"/>
            </a:avLst>
          </a:prstGeom>
          <a:solidFill>
            <a:srgbClr val="E2E8F0"/>
          </a:solidFill>
          <a:ln w="0">
            <a:noFill/>
            <a:prstDash val="solid"/>
          </a:ln>
        </p:spPr>
        <p:txBody>
          <a:bodyPr/>
          <a:lstStyle/>
          <a:p>
            <a:endParaRPr lang="ja-JP" altLang="en-US"/>
          </a:p>
        </p:txBody>
      </p:sp>
      <p:sp>
        <p:nvSpPr>
          <p:cNvPr id="51" name="角丸四角形 50">
            <a:extLst>
              <a:ext uri="{FF2B5EF4-FFF2-40B4-BE49-F238E27FC236}">
                <a16:creationId xmlns:a16="http://schemas.microsoft.com/office/drawing/2014/main" id="{44A32A22-75F2-4EAD-A1BF-D6995B7C601A}"/>
              </a:ext>
            </a:extLst>
          </p:cNvPr>
          <p:cNvSpPr>
            <a:spLocks noGrp="1"/>
          </p:cNvSpPr>
          <p:nvPr/>
        </p:nvSpPr>
        <p:spPr>
          <a:xfrm>
            <a:off x="6286500" y="5162550"/>
            <a:ext cx="2236489" cy="114300"/>
          </a:xfrm>
          <a:prstGeom prst="roundRect">
            <a:avLst>
              <a:gd name="adj" fmla="val 50000"/>
            </a:avLst>
          </a:prstGeom>
          <a:solidFill>
            <a:srgbClr val="F97316"/>
          </a:solidFill>
          <a:ln w="0">
            <a:noFill/>
            <a:prstDash val="solid"/>
          </a:ln>
        </p:spPr>
        <p:txBody>
          <a:bodyPr/>
          <a:lstStyle/>
          <a:p>
            <a:endParaRPr lang="ja-JP" altLang="en-US"/>
          </a:p>
        </p:txBody>
      </p:sp>
      <p:sp>
        <p:nvSpPr>
          <p:cNvPr id="52" name="正方形/長方形 51">
            <a:extLst>
              <a:ext uri="{FF2B5EF4-FFF2-40B4-BE49-F238E27FC236}">
                <a16:creationId xmlns:a16="http://schemas.microsoft.com/office/drawing/2014/main" id="{C76E3AAC-FC33-4B65-9F90-0DC59E496814}"/>
              </a:ext>
            </a:extLst>
          </p:cNvPr>
          <p:cNvSpPr>
            <a:spLocks noGrp="1"/>
          </p:cNvSpPr>
          <p:nvPr/>
        </p:nvSpPr>
        <p:spPr>
          <a:xfrm>
            <a:off x="9372600" y="5105400"/>
            <a:ext cx="762000" cy="228600"/>
          </a:xfrm>
          <a:prstGeom prst="rect">
            <a:avLst/>
          </a:prstGeom>
          <a:noFill/>
          <a:ln w="0">
            <a:noFill/>
            <a:prstDash val="solid"/>
          </a:ln>
        </p:spPr>
        <p:txBody>
          <a:bodyPr/>
          <a:lstStyle/>
          <a:p>
            <a:pPr algn="l">
              <a:defRPr sz="1125" b="1">
                <a:solidFill>
                  <a:srgbClr val="F97316"/>
                </a:solidFill>
                <a:latin typeface="Yu Gothic"/>
                <a:ea typeface="Yu Gothic"/>
                <a:cs typeface="Yu Gothic"/>
              </a:defRPr>
            </a:pPr>
            <a:r>
              <a:rPr sz="1125" b="1">
                <a:solidFill>
                  <a:srgbClr val="F97316"/>
                </a:solidFill>
                <a:latin typeface="Yu Gothic"/>
                <a:ea typeface="Yu Gothic"/>
                <a:cs typeface="Yu Gothic"/>
              </a:rPr>
              <a:t>0.7574</a:t>
            </a:r>
          </a:p>
        </p:txBody>
      </p:sp>
      <p:sp>
        <p:nvSpPr>
          <p:cNvPr id="53" name="正方形/長方形 52">
            <a:extLst>
              <a:ext uri="{FF2B5EF4-FFF2-40B4-BE49-F238E27FC236}">
                <a16:creationId xmlns:a16="http://schemas.microsoft.com/office/drawing/2014/main" id="{60058CBB-D377-47DC-A1D3-48FE298F42B9}"/>
              </a:ext>
            </a:extLst>
          </p:cNvPr>
          <p:cNvSpPr>
            <a:spLocks noGrp="1"/>
          </p:cNvSpPr>
          <p:nvPr/>
        </p:nvSpPr>
        <p:spPr>
          <a:xfrm>
            <a:off x="10382250" y="5105400"/>
            <a:ext cx="876300" cy="228600"/>
          </a:xfrm>
          <a:prstGeom prst="rect">
            <a:avLst/>
          </a:prstGeom>
          <a:noFill/>
          <a:ln w="0">
            <a:noFill/>
            <a:prstDash val="solid"/>
          </a:ln>
        </p:spPr>
        <p:txBody>
          <a:bodyPr/>
          <a:lstStyle/>
          <a:p>
            <a:pPr algn="r">
              <a:defRPr sz="1125" b="1">
                <a:solidFill>
                  <a:srgbClr val="22C55E"/>
                </a:solidFill>
                <a:latin typeface="Yu Gothic"/>
                <a:ea typeface="Yu Gothic"/>
                <a:cs typeface="Yu Gothic"/>
              </a:defRPr>
            </a:pPr>
            <a:r>
              <a:rPr sz="1125" b="1">
                <a:solidFill>
                  <a:srgbClr val="22C55E"/>
                </a:solidFill>
                <a:latin typeface="Yu Gothic"/>
                <a:ea typeface="Yu Gothic"/>
                <a:cs typeface="Yu Gothic"/>
              </a:rPr>
              <a:t>+0.1295</a:t>
            </a:r>
          </a:p>
        </p:txBody>
      </p:sp>
      <p:sp>
        <p:nvSpPr>
          <p:cNvPr id="54" name="正方形/長方形 53">
            <a:extLst>
              <a:ext uri="{FF2B5EF4-FFF2-40B4-BE49-F238E27FC236}">
                <a16:creationId xmlns:a16="http://schemas.microsoft.com/office/drawing/2014/main" id="{165FA8F0-0E90-498A-BE6A-5C4DB773979F}"/>
              </a:ext>
            </a:extLst>
          </p:cNvPr>
          <p:cNvSpPr>
            <a:spLocks noGrp="1"/>
          </p:cNvSpPr>
          <p:nvPr/>
        </p:nvSpPr>
        <p:spPr>
          <a:xfrm>
            <a:off x="1295400" y="5867400"/>
            <a:ext cx="9601200" cy="266700"/>
          </a:xfrm>
          <a:prstGeom prst="rect">
            <a:avLst/>
          </a:prstGeom>
          <a:noFill/>
          <a:ln w="0">
            <a:noFill/>
            <a:prstDash val="solid"/>
          </a:ln>
        </p:spPr>
        <p:txBody>
          <a:bodyPr/>
          <a:lstStyle/>
          <a:p>
            <a:pPr algn="ctr">
              <a:defRPr sz="1350" b="1">
                <a:solidFill>
                  <a:srgbClr val="0B1220"/>
                </a:solidFill>
                <a:latin typeface="Yu Gothic"/>
                <a:ea typeface="Yu Gothic"/>
                <a:cs typeface="Yu Gothic"/>
              </a:defRPr>
            </a:pPr>
            <a:r>
              <a:rPr sz="1350" b="1">
                <a:solidFill>
                  <a:srgbClr val="0B1220"/>
                </a:solidFill>
                <a:latin typeface="Yu Gothic"/>
                <a:ea typeface="Yu Gothic"/>
                <a:cs typeface="Yu Gothic"/>
              </a:rPr>
              <a:t>改善の中心: 被験者単位z-score、上半身関節間距離、Normal/Unusualゲート</a:t>
            </a:r>
          </a:p>
        </p:txBody>
      </p:sp>
    </p:spTree>
    <p:extLst>
      <p:ext uri="{BB962C8B-B14F-4D97-AF65-F5344CB8AC3E}">
        <p14:creationId xmlns:p14="http://schemas.microsoft.com/office/powerpoint/2010/main" val="1459697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1" name="正方形/長方形 70">
            <a:extLst>
              <a:ext uri="{FF2B5EF4-FFF2-40B4-BE49-F238E27FC236}">
                <a16:creationId xmlns:a16="http://schemas.microsoft.com/office/drawing/2014/main" id="{480469B0-03BF-4DCB-93F2-94530C638CC7}"/>
              </a:ext>
            </a:extLst>
          </p:cNvPr>
          <p:cNvSpPr>
            <a:spLocks noGrp="1"/>
          </p:cNvSpPr>
          <p:nvPr/>
        </p:nvSpPr>
        <p:spPr>
          <a:xfrm>
            <a:off x="609600" y="381000"/>
            <a:ext cx="5905500" cy="228600"/>
          </a:xfrm>
          <a:prstGeom prst="rect">
            <a:avLst/>
          </a:prstGeom>
          <a:noFill/>
          <a:ln w="0">
            <a:noFill/>
            <a:prstDash val="solid"/>
          </a:ln>
        </p:spPr>
        <p:txBody>
          <a:bodyPr/>
          <a:lstStyle/>
          <a:p>
            <a:pPr algn="l">
              <a:defRPr sz="900" b="1">
                <a:solidFill>
                  <a:srgbClr val="0EA5E9"/>
                </a:solidFill>
                <a:latin typeface="Yu Gothic"/>
                <a:ea typeface="Yu Gothic"/>
                <a:cs typeface="Yu Gothic"/>
              </a:defRPr>
            </a:pPr>
            <a:r>
              <a:rPr sz="900" b="1">
                <a:solidFill>
                  <a:srgbClr val="0EA5E9"/>
                </a:solidFill>
                <a:latin typeface="Yu Gothic"/>
                <a:ea typeface="Yu Gothic"/>
                <a:cs typeface="Yu Gothic"/>
              </a:rPr>
              <a:t>HELD-OUT SUBJECT GENERALIZATION</a:t>
            </a:r>
          </a:p>
        </p:txBody>
      </p:sp>
      <p:sp>
        <p:nvSpPr>
          <p:cNvPr id="2" name="正方形/長方形 1">
            <a:extLst>
              <a:ext uri="{FF2B5EF4-FFF2-40B4-BE49-F238E27FC236}">
                <a16:creationId xmlns:a16="http://schemas.microsoft.com/office/drawing/2014/main" id="{7D49C969-86EA-4F3C-8135-343AFD9A6725}"/>
              </a:ext>
            </a:extLst>
          </p:cNvPr>
          <p:cNvSpPr>
            <a:spLocks noGrp="1"/>
          </p:cNvSpPr>
          <p:nvPr/>
        </p:nvSpPr>
        <p:spPr>
          <a:xfrm>
            <a:off x="609600" y="647700"/>
            <a:ext cx="8096250" cy="514350"/>
          </a:xfrm>
          <a:prstGeom prst="rect">
            <a:avLst/>
          </a:prstGeom>
          <a:noFill/>
          <a:ln w="0">
            <a:noFill/>
            <a:prstDash val="solid"/>
          </a:ln>
        </p:spPr>
        <p:txBody>
          <a:bodyPr/>
          <a:lstStyle/>
          <a:p>
            <a:pPr algn="l">
              <a:defRPr sz="2700" b="1">
                <a:solidFill>
                  <a:srgbClr val="0B1220"/>
                </a:solidFill>
                <a:latin typeface="Yu Gothic"/>
                <a:ea typeface="Yu Gothic"/>
                <a:cs typeface="Yu Gothic"/>
              </a:defRPr>
            </a:pPr>
            <a:r>
              <a:rPr sz="2700" b="1">
                <a:solidFill>
                  <a:srgbClr val="0B1220"/>
                </a:solidFill>
                <a:latin typeface="Yu Gothic"/>
                <a:ea typeface="Yu Gothic"/>
                <a:cs typeface="Yu Gothic"/>
              </a:rPr>
              <a:t>結果 2: Subject別LOSO</a:t>
            </a:r>
          </a:p>
        </p:txBody>
      </p:sp>
      <p:sp>
        <p:nvSpPr>
          <p:cNvPr id="3" name="正方形/長方形 2">
            <a:extLst>
              <a:ext uri="{FF2B5EF4-FFF2-40B4-BE49-F238E27FC236}">
                <a16:creationId xmlns:a16="http://schemas.microsoft.com/office/drawing/2014/main" id="{CD215811-EFE5-4884-8252-8786924E4653}"/>
              </a:ext>
            </a:extLst>
          </p:cNvPr>
          <p:cNvSpPr>
            <a:spLocks noGrp="1"/>
          </p:cNvSpPr>
          <p:nvPr/>
        </p:nvSpPr>
        <p:spPr>
          <a:xfrm>
            <a:off x="609600" y="1200150"/>
            <a:ext cx="742950" cy="38100"/>
          </a:xfrm>
          <a:prstGeom prst="rect">
            <a:avLst/>
          </a:prstGeom>
          <a:solidFill>
            <a:srgbClr val="38BDF8"/>
          </a:solidFill>
          <a:ln w="0">
            <a:noFill/>
            <a:prstDash val="solid"/>
          </a:ln>
        </p:spPr>
        <p:txBody>
          <a:bodyPr/>
          <a:lstStyle/>
          <a:p>
            <a:endParaRPr lang="ja-JP" altLang="en-US"/>
          </a:p>
        </p:txBody>
      </p:sp>
      <p:sp>
        <p:nvSpPr>
          <p:cNvPr id="4" name="正方形/長方形 3">
            <a:extLst>
              <a:ext uri="{FF2B5EF4-FFF2-40B4-BE49-F238E27FC236}">
                <a16:creationId xmlns:a16="http://schemas.microsoft.com/office/drawing/2014/main" id="{7836B85B-2523-47AE-8365-325DE640D3FC}"/>
              </a:ext>
            </a:extLst>
          </p:cNvPr>
          <p:cNvSpPr>
            <a:spLocks noGrp="1"/>
          </p:cNvSpPr>
          <p:nvPr/>
        </p:nvSpPr>
        <p:spPr>
          <a:xfrm>
            <a:off x="7810500" y="419100"/>
            <a:ext cx="3771900" cy="228600"/>
          </a:xfrm>
          <a:prstGeom prst="rect">
            <a:avLst/>
          </a:prstGeom>
          <a:noFill/>
          <a:ln w="0">
            <a:noFill/>
            <a:prstDash val="solid"/>
          </a:ln>
        </p:spPr>
        <p:txBody>
          <a:bodyPr/>
          <a:lstStyle/>
          <a:p>
            <a:pPr algn="r">
              <a:defRPr sz="900" b="0">
                <a:solidFill>
                  <a:srgbClr val="64748B"/>
                </a:solidFill>
                <a:latin typeface="Yu Gothic"/>
                <a:ea typeface="Yu Gothic"/>
                <a:cs typeface="Yu Gothic"/>
              </a:defRPr>
            </a:pPr>
            <a:r>
              <a:rPr sz="900" b="0">
                <a:solidFill>
                  <a:srgbClr val="64748B"/>
                </a:solidFill>
                <a:latin typeface="Yu Gothic"/>
                <a:ea typeface="Yu Gothic"/>
                <a:cs typeface="Yu Gothic"/>
              </a:rPr>
              <a:t>Pose-keypoint unusual activity recognition</a:t>
            </a:r>
          </a:p>
        </p:txBody>
      </p:sp>
      <p:sp>
        <p:nvSpPr>
          <p:cNvPr id="5" name="正方形/長方形 4">
            <a:extLst>
              <a:ext uri="{FF2B5EF4-FFF2-40B4-BE49-F238E27FC236}">
                <a16:creationId xmlns:a16="http://schemas.microsoft.com/office/drawing/2014/main" id="{18C41FC4-46BD-4B94-A46F-60DF8C9E013F}"/>
              </a:ext>
            </a:extLst>
          </p:cNvPr>
          <p:cNvSpPr>
            <a:spLocks noGrp="1"/>
          </p:cNvSpPr>
          <p:nvPr/>
        </p:nvSpPr>
        <p:spPr>
          <a:xfrm>
            <a:off x="609600" y="6496050"/>
            <a:ext cx="6477000" cy="190500"/>
          </a:xfrm>
          <a:prstGeom prst="rect">
            <a:avLst/>
          </a:prstGeom>
          <a:noFill/>
          <a:ln w="0">
            <a:noFill/>
            <a:prstDash val="solid"/>
          </a:ln>
        </p:spPr>
        <p:txBody>
          <a:bodyPr/>
          <a:lstStyle/>
          <a:p>
            <a:pPr algn="l">
              <a:defRPr sz="750" b="0">
                <a:solidFill>
                  <a:srgbClr val="64748B"/>
                </a:solidFill>
                <a:latin typeface="Yu Gothic"/>
                <a:ea typeface="Yu Gothic"/>
                <a:cs typeface="Yu Gothic"/>
              </a:defRPr>
            </a:pPr>
            <a:r>
              <a:rPr sz="750" b="0">
                <a:solidFill>
                  <a:srgbClr val="64748B"/>
                </a:solidFill>
                <a:latin typeface="Yu Gothic"/>
                <a:ea typeface="Yu Gothic"/>
                <a:cs typeface="Yu Gothic"/>
              </a:rPr>
              <a:t>Sources: specification / LOSO metrics / per-class CSV</a:t>
            </a:r>
          </a:p>
        </p:txBody>
      </p:sp>
      <p:sp>
        <p:nvSpPr>
          <p:cNvPr id="6" name="正方形/長方形 5">
            <a:extLst>
              <a:ext uri="{FF2B5EF4-FFF2-40B4-BE49-F238E27FC236}">
                <a16:creationId xmlns:a16="http://schemas.microsoft.com/office/drawing/2014/main" id="{6A75416B-E954-4D7F-8820-75EA9DEC475C}"/>
              </a:ext>
            </a:extLst>
          </p:cNvPr>
          <p:cNvSpPr>
            <a:spLocks noGrp="1"/>
          </p:cNvSpPr>
          <p:nvPr/>
        </p:nvSpPr>
        <p:spPr>
          <a:xfrm>
            <a:off x="10744200" y="6477000"/>
            <a:ext cx="838200" cy="209550"/>
          </a:xfrm>
          <a:prstGeom prst="rect">
            <a:avLst/>
          </a:prstGeom>
          <a:noFill/>
          <a:ln w="0">
            <a:noFill/>
            <a:prstDash val="solid"/>
          </a:ln>
        </p:spPr>
        <p:txBody>
          <a:bodyPr/>
          <a:lstStyle/>
          <a:p>
            <a:pPr algn="r">
              <a:defRPr sz="900" b="1">
                <a:solidFill>
                  <a:srgbClr val="64748B"/>
                </a:solidFill>
                <a:latin typeface="Yu Gothic"/>
                <a:ea typeface="Yu Gothic"/>
                <a:cs typeface="Yu Gothic"/>
              </a:defRPr>
            </a:pPr>
            <a:r>
              <a:rPr sz="900" b="1">
                <a:solidFill>
                  <a:srgbClr val="64748B"/>
                </a:solidFill>
                <a:latin typeface="Yu Gothic"/>
                <a:ea typeface="Yu Gothic"/>
                <a:cs typeface="Yu Gothic"/>
              </a:rPr>
              <a:t>7/10</a:t>
            </a:r>
          </a:p>
        </p:txBody>
      </p:sp>
      <p:sp>
        <p:nvSpPr>
          <p:cNvPr id="7" name="角丸四角形 6">
            <a:extLst>
              <a:ext uri="{FF2B5EF4-FFF2-40B4-BE49-F238E27FC236}">
                <a16:creationId xmlns:a16="http://schemas.microsoft.com/office/drawing/2014/main" id="{495CB29B-BD35-491C-8F32-0F092E175D52}"/>
              </a:ext>
            </a:extLst>
          </p:cNvPr>
          <p:cNvSpPr>
            <a:spLocks noGrp="1"/>
          </p:cNvSpPr>
          <p:nvPr/>
        </p:nvSpPr>
        <p:spPr>
          <a:xfrm>
            <a:off x="742950" y="1524000"/>
            <a:ext cx="2324100" cy="3181350"/>
          </a:xfrm>
          <a:prstGeom prst="roundRect">
            <a:avLst>
              <a:gd name="adj" fmla="val 6557"/>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8" name="正方形/長方形 7">
            <a:extLst>
              <a:ext uri="{FF2B5EF4-FFF2-40B4-BE49-F238E27FC236}">
                <a16:creationId xmlns:a16="http://schemas.microsoft.com/office/drawing/2014/main" id="{0F614ED5-BF66-4E4D-824B-142DE070A9B2}"/>
              </a:ext>
            </a:extLst>
          </p:cNvPr>
          <p:cNvSpPr>
            <a:spLocks noGrp="1"/>
          </p:cNvSpPr>
          <p:nvPr/>
        </p:nvSpPr>
        <p:spPr>
          <a:xfrm>
            <a:off x="952500" y="1733550"/>
            <a:ext cx="1524000" cy="285750"/>
          </a:xfrm>
          <a:prstGeom prst="rect">
            <a:avLst/>
          </a:prstGeom>
          <a:noFill/>
          <a:ln w="0">
            <a:noFill/>
            <a:prstDash val="solid"/>
          </a:ln>
        </p:spPr>
        <p:txBody>
          <a:bodyPr/>
          <a:lstStyle/>
          <a:p>
            <a:pPr algn="l">
              <a:defRPr sz="1725" b="1">
                <a:solidFill>
                  <a:srgbClr val="0B1220"/>
                </a:solidFill>
                <a:latin typeface="Yu Gothic"/>
                <a:ea typeface="Yu Gothic"/>
                <a:cs typeface="Yu Gothic"/>
              </a:defRPr>
            </a:pPr>
            <a:r>
              <a:rPr sz="1725" b="1">
                <a:solidFill>
                  <a:srgbClr val="0B1220"/>
                </a:solidFill>
                <a:latin typeface="Yu Gothic"/>
                <a:ea typeface="Yu Gothic"/>
                <a:cs typeface="Yu Gothic"/>
              </a:rPr>
              <a:t>Subject 1</a:t>
            </a:r>
          </a:p>
        </p:txBody>
      </p:sp>
      <p:sp>
        <p:nvSpPr>
          <p:cNvPr id="9" name="正方形/長方形 8">
            <a:extLst>
              <a:ext uri="{FF2B5EF4-FFF2-40B4-BE49-F238E27FC236}">
                <a16:creationId xmlns:a16="http://schemas.microsoft.com/office/drawing/2014/main" id="{D4C026D5-9A2B-4306-9ACE-F05379E78C6A}"/>
              </a:ext>
            </a:extLst>
          </p:cNvPr>
          <p:cNvSpPr>
            <a:spLocks noGrp="1"/>
          </p:cNvSpPr>
          <p:nvPr/>
        </p:nvSpPr>
        <p:spPr>
          <a:xfrm>
            <a:off x="952500" y="2076450"/>
            <a:ext cx="1714500" cy="209550"/>
          </a:xfrm>
          <a:prstGeom prst="rect">
            <a:avLst/>
          </a:prstGeom>
          <a:noFill/>
          <a:ln w="0">
            <a:noFill/>
            <a:prstDash val="solid"/>
          </a:ln>
        </p:spPr>
        <p:txBody>
          <a:bodyPr/>
          <a:lstStyle/>
          <a:p>
            <a:pPr algn="l">
              <a:defRPr sz="975" b="0">
                <a:solidFill>
                  <a:srgbClr val="64748B"/>
                </a:solidFill>
                <a:latin typeface="Yu Gothic"/>
                <a:ea typeface="Yu Gothic"/>
                <a:cs typeface="Yu Gothic"/>
              </a:defRPr>
            </a:pPr>
            <a:r>
              <a:rPr sz="975" b="0">
                <a:solidFill>
                  <a:srgbClr val="64748B"/>
                </a:solidFill>
                <a:latin typeface="Yu Gothic"/>
                <a:ea typeface="Yu Gothic"/>
                <a:cs typeface="Yu Gothic"/>
              </a:rPr>
              <a:t>2,419 windows</a:t>
            </a:r>
          </a:p>
        </p:txBody>
      </p:sp>
      <p:sp>
        <p:nvSpPr>
          <p:cNvPr id="10" name="正方形/長方形 9">
            <a:extLst>
              <a:ext uri="{FF2B5EF4-FFF2-40B4-BE49-F238E27FC236}">
                <a16:creationId xmlns:a16="http://schemas.microsoft.com/office/drawing/2014/main" id="{68DBE74A-C3B4-4ADA-B8AA-BD1A106D5E0E}"/>
              </a:ext>
            </a:extLst>
          </p:cNvPr>
          <p:cNvSpPr>
            <a:spLocks noGrp="1"/>
          </p:cNvSpPr>
          <p:nvPr/>
        </p:nvSpPr>
        <p:spPr>
          <a:xfrm>
            <a:off x="952500" y="2476500"/>
            <a:ext cx="857250" cy="209550"/>
          </a:xfrm>
          <a:prstGeom prst="rect">
            <a:avLst/>
          </a:prstGeom>
          <a:noFill/>
          <a:ln w="0">
            <a:noFill/>
            <a:prstDash val="solid"/>
          </a:ln>
        </p:spPr>
        <p:txBody>
          <a:bodyPr/>
          <a:lstStyle/>
          <a:p>
            <a:pPr algn="l">
              <a:defRPr sz="1050" b="1">
                <a:solidFill>
                  <a:srgbClr val="334155"/>
                </a:solidFill>
                <a:latin typeface="Yu Gothic"/>
                <a:ea typeface="Yu Gothic"/>
                <a:cs typeface="Yu Gothic"/>
              </a:defRPr>
            </a:pPr>
            <a:r>
              <a:rPr sz="1050" b="1">
                <a:solidFill>
                  <a:srgbClr val="334155"/>
                </a:solidFill>
                <a:latin typeface="Yu Gothic"/>
                <a:ea typeface="Yu Gothic"/>
                <a:cs typeface="Yu Gothic"/>
              </a:rPr>
              <a:t>Accuracy</a:t>
            </a:r>
          </a:p>
        </p:txBody>
      </p:sp>
      <p:sp>
        <p:nvSpPr>
          <p:cNvPr id="11" name="角丸四角形 10">
            <a:extLst>
              <a:ext uri="{FF2B5EF4-FFF2-40B4-BE49-F238E27FC236}">
                <a16:creationId xmlns:a16="http://schemas.microsoft.com/office/drawing/2014/main" id="{13ECF2AC-7290-49D9-970A-5A053A55A42E}"/>
              </a:ext>
            </a:extLst>
          </p:cNvPr>
          <p:cNvSpPr>
            <a:spLocks noGrp="1"/>
          </p:cNvSpPr>
          <p:nvPr/>
        </p:nvSpPr>
        <p:spPr>
          <a:xfrm>
            <a:off x="952500" y="2743200"/>
            <a:ext cx="1524000" cy="114300"/>
          </a:xfrm>
          <a:prstGeom prst="roundRect">
            <a:avLst>
              <a:gd name="adj" fmla="val 50000"/>
            </a:avLst>
          </a:prstGeom>
          <a:solidFill>
            <a:srgbClr val="E2E8F0"/>
          </a:solidFill>
          <a:ln w="0">
            <a:noFill/>
            <a:prstDash val="solid"/>
          </a:ln>
        </p:spPr>
        <p:txBody>
          <a:bodyPr/>
          <a:lstStyle/>
          <a:p>
            <a:endParaRPr lang="ja-JP" altLang="en-US"/>
          </a:p>
        </p:txBody>
      </p:sp>
      <p:sp>
        <p:nvSpPr>
          <p:cNvPr id="12" name="角丸四角形 11">
            <a:extLst>
              <a:ext uri="{FF2B5EF4-FFF2-40B4-BE49-F238E27FC236}">
                <a16:creationId xmlns:a16="http://schemas.microsoft.com/office/drawing/2014/main" id="{157EC0EA-6880-4413-84E0-BA9081AF1E8E}"/>
              </a:ext>
            </a:extLst>
          </p:cNvPr>
          <p:cNvSpPr>
            <a:spLocks noGrp="1"/>
          </p:cNvSpPr>
          <p:nvPr/>
        </p:nvSpPr>
        <p:spPr>
          <a:xfrm>
            <a:off x="952500" y="2743200"/>
            <a:ext cx="1014950" cy="114300"/>
          </a:xfrm>
          <a:prstGeom prst="roundRect">
            <a:avLst>
              <a:gd name="adj" fmla="val 50000"/>
            </a:avLst>
          </a:prstGeom>
          <a:solidFill>
            <a:srgbClr val="0EA5E9"/>
          </a:solidFill>
          <a:ln w="0">
            <a:noFill/>
            <a:prstDash val="solid"/>
          </a:ln>
        </p:spPr>
        <p:txBody>
          <a:bodyPr/>
          <a:lstStyle/>
          <a:p>
            <a:endParaRPr lang="ja-JP" altLang="en-US"/>
          </a:p>
        </p:txBody>
      </p:sp>
      <p:sp>
        <p:nvSpPr>
          <p:cNvPr id="13" name="正方形/長方形 12">
            <a:extLst>
              <a:ext uri="{FF2B5EF4-FFF2-40B4-BE49-F238E27FC236}">
                <a16:creationId xmlns:a16="http://schemas.microsoft.com/office/drawing/2014/main" id="{EF7D7CEA-EFE7-4F55-9C77-0EB5B6B4DF0A}"/>
              </a:ext>
            </a:extLst>
          </p:cNvPr>
          <p:cNvSpPr>
            <a:spLocks noGrp="1"/>
          </p:cNvSpPr>
          <p:nvPr/>
        </p:nvSpPr>
        <p:spPr>
          <a:xfrm>
            <a:off x="1943100" y="2476500"/>
            <a:ext cx="876300" cy="209550"/>
          </a:xfrm>
          <a:prstGeom prst="rect">
            <a:avLst/>
          </a:prstGeom>
          <a:noFill/>
          <a:ln w="0">
            <a:noFill/>
            <a:prstDash val="solid"/>
          </a:ln>
        </p:spPr>
        <p:txBody>
          <a:bodyPr/>
          <a:lstStyle/>
          <a:p>
            <a:pPr algn="r">
              <a:defRPr sz="1125" b="1">
                <a:solidFill>
                  <a:srgbClr val="0EA5E9"/>
                </a:solidFill>
                <a:latin typeface="Yu Gothic"/>
                <a:ea typeface="Yu Gothic"/>
                <a:cs typeface="Yu Gothic"/>
              </a:defRPr>
            </a:pPr>
            <a:r>
              <a:rPr sz="1125" b="1">
                <a:solidFill>
                  <a:srgbClr val="0EA5E9"/>
                </a:solidFill>
                <a:latin typeface="Yu Gothic"/>
                <a:ea typeface="Yu Gothic"/>
                <a:cs typeface="Yu Gothic"/>
              </a:rPr>
              <a:t>0.6660</a:t>
            </a:r>
          </a:p>
        </p:txBody>
      </p:sp>
      <p:sp>
        <p:nvSpPr>
          <p:cNvPr id="14" name="正方形/長方形 13">
            <a:extLst>
              <a:ext uri="{FF2B5EF4-FFF2-40B4-BE49-F238E27FC236}">
                <a16:creationId xmlns:a16="http://schemas.microsoft.com/office/drawing/2014/main" id="{60E81D4C-55A8-4171-A0CB-82AC81AF68D7}"/>
              </a:ext>
            </a:extLst>
          </p:cNvPr>
          <p:cNvSpPr>
            <a:spLocks noGrp="1"/>
          </p:cNvSpPr>
          <p:nvPr/>
        </p:nvSpPr>
        <p:spPr>
          <a:xfrm>
            <a:off x="952500" y="3124200"/>
            <a:ext cx="857250" cy="209550"/>
          </a:xfrm>
          <a:prstGeom prst="rect">
            <a:avLst/>
          </a:prstGeom>
          <a:noFill/>
          <a:ln w="0">
            <a:noFill/>
            <a:prstDash val="solid"/>
          </a:ln>
        </p:spPr>
        <p:txBody>
          <a:bodyPr/>
          <a:lstStyle/>
          <a:p>
            <a:pPr algn="l">
              <a:defRPr sz="1050" b="1">
                <a:solidFill>
                  <a:srgbClr val="334155"/>
                </a:solidFill>
                <a:latin typeface="Yu Gothic"/>
                <a:ea typeface="Yu Gothic"/>
                <a:cs typeface="Yu Gothic"/>
              </a:defRPr>
            </a:pPr>
            <a:r>
              <a:rPr sz="1050" b="1">
                <a:solidFill>
                  <a:srgbClr val="334155"/>
                </a:solidFill>
                <a:latin typeface="Yu Gothic"/>
                <a:ea typeface="Yu Gothic"/>
                <a:cs typeface="Yu Gothic"/>
              </a:rPr>
              <a:t>Macro-F1</a:t>
            </a:r>
          </a:p>
        </p:txBody>
      </p:sp>
      <p:sp>
        <p:nvSpPr>
          <p:cNvPr id="15" name="角丸四角形 14">
            <a:extLst>
              <a:ext uri="{FF2B5EF4-FFF2-40B4-BE49-F238E27FC236}">
                <a16:creationId xmlns:a16="http://schemas.microsoft.com/office/drawing/2014/main" id="{1D0E7851-EAAD-449B-AD81-AAA12CA3F144}"/>
              </a:ext>
            </a:extLst>
          </p:cNvPr>
          <p:cNvSpPr>
            <a:spLocks noGrp="1"/>
          </p:cNvSpPr>
          <p:nvPr/>
        </p:nvSpPr>
        <p:spPr>
          <a:xfrm>
            <a:off x="952500" y="3390900"/>
            <a:ext cx="1524000" cy="114300"/>
          </a:xfrm>
          <a:prstGeom prst="roundRect">
            <a:avLst>
              <a:gd name="adj" fmla="val 50000"/>
            </a:avLst>
          </a:prstGeom>
          <a:solidFill>
            <a:srgbClr val="E2E8F0"/>
          </a:solidFill>
          <a:ln w="0">
            <a:noFill/>
            <a:prstDash val="solid"/>
          </a:ln>
        </p:spPr>
        <p:txBody>
          <a:bodyPr/>
          <a:lstStyle/>
          <a:p>
            <a:endParaRPr lang="ja-JP" altLang="en-US"/>
          </a:p>
        </p:txBody>
      </p:sp>
      <p:sp>
        <p:nvSpPr>
          <p:cNvPr id="16" name="角丸四角形 15">
            <a:extLst>
              <a:ext uri="{FF2B5EF4-FFF2-40B4-BE49-F238E27FC236}">
                <a16:creationId xmlns:a16="http://schemas.microsoft.com/office/drawing/2014/main" id="{CDEA3F43-4B46-4469-9F3A-734330172CA1}"/>
              </a:ext>
            </a:extLst>
          </p:cNvPr>
          <p:cNvSpPr>
            <a:spLocks noGrp="1"/>
          </p:cNvSpPr>
          <p:nvPr/>
        </p:nvSpPr>
        <p:spPr>
          <a:xfrm>
            <a:off x="952500" y="3390900"/>
            <a:ext cx="1030440" cy="114300"/>
          </a:xfrm>
          <a:prstGeom prst="roundRect">
            <a:avLst>
              <a:gd name="adj" fmla="val 50000"/>
            </a:avLst>
          </a:prstGeom>
          <a:solidFill>
            <a:srgbClr val="8B5CF6"/>
          </a:solidFill>
          <a:ln w="0">
            <a:noFill/>
            <a:prstDash val="solid"/>
          </a:ln>
        </p:spPr>
        <p:txBody>
          <a:bodyPr/>
          <a:lstStyle/>
          <a:p>
            <a:endParaRPr lang="ja-JP" altLang="en-US"/>
          </a:p>
        </p:txBody>
      </p:sp>
      <p:sp>
        <p:nvSpPr>
          <p:cNvPr id="17" name="正方形/長方形 16">
            <a:extLst>
              <a:ext uri="{FF2B5EF4-FFF2-40B4-BE49-F238E27FC236}">
                <a16:creationId xmlns:a16="http://schemas.microsoft.com/office/drawing/2014/main" id="{776D8E29-BB8A-4DDF-A6C3-2F4EF8F056EA}"/>
              </a:ext>
            </a:extLst>
          </p:cNvPr>
          <p:cNvSpPr>
            <a:spLocks noGrp="1"/>
          </p:cNvSpPr>
          <p:nvPr/>
        </p:nvSpPr>
        <p:spPr>
          <a:xfrm>
            <a:off x="1943100" y="3124200"/>
            <a:ext cx="876300" cy="209550"/>
          </a:xfrm>
          <a:prstGeom prst="rect">
            <a:avLst/>
          </a:prstGeom>
          <a:noFill/>
          <a:ln w="0">
            <a:noFill/>
            <a:prstDash val="solid"/>
          </a:ln>
        </p:spPr>
        <p:txBody>
          <a:bodyPr/>
          <a:lstStyle/>
          <a:p>
            <a:pPr algn="r">
              <a:defRPr sz="1125" b="1">
                <a:solidFill>
                  <a:srgbClr val="8B5CF6"/>
                </a:solidFill>
                <a:latin typeface="Yu Gothic"/>
                <a:ea typeface="Yu Gothic"/>
                <a:cs typeface="Yu Gothic"/>
              </a:defRPr>
            </a:pPr>
            <a:r>
              <a:rPr sz="1125" b="1">
                <a:solidFill>
                  <a:srgbClr val="8B5CF6"/>
                </a:solidFill>
                <a:latin typeface="Yu Gothic"/>
                <a:ea typeface="Yu Gothic"/>
                <a:cs typeface="Yu Gothic"/>
              </a:rPr>
              <a:t>0.6761</a:t>
            </a:r>
          </a:p>
        </p:txBody>
      </p:sp>
      <p:sp>
        <p:nvSpPr>
          <p:cNvPr id="18" name="正方形/長方形 17">
            <a:extLst>
              <a:ext uri="{FF2B5EF4-FFF2-40B4-BE49-F238E27FC236}">
                <a16:creationId xmlns:a16="http://schemas.microsoft.com/office/drawing/2014/main" id="{A7D0C4FD-AAF9-4FA3-AB12-24AB16811CF0}"/>
              </a:ext>
            </a:extLst>
          </p:cNvPr>
          <p:cNvSpPr>
            <a:spLocks noGrp="1"/>
          </p:cNvSpPr>
          <p:nvPr/>
        </p:nvSpPr>
        <p:spPr>
          <a:xfrm>
            <a:off x="952500" y="3771900"/>
            <a:ext cx="857250" cy="209550"/>
          </a:xfrm>
          <a:prstGeom prst="rect">
            <a:avLst/>
          </a:prstGeom>
          <a:noFill/>
          <a:ln w="0">
            <a:noFill/>
            <a:prstDash val="solid"/>
          </a:ln>
        </p:spPr>
        <p:txBody>
          <a:bodyPr/>
          <a:lstStyle/>
          <a:p>
            <a:pPr algn="l">
              <a:defRPr sz="1050" b="1">
                <a:solidFill>
                  <a:srgbClr val="334155"/>
                </a:solidFill>
                <a:latin typeface="Yu Gothic"/>
                <a:ea typeface="Yu Gothic"/>
                <a:cs typeface="Yu Gothic"/>
              </a:defRPr>
            </a:pPr>
            <a:r>
              <a:rPr sz="1050" b="1">
                <a:solidFill>
                  <a:srgbClr val="334155"/>
                </a:solidFill>
                <a:latin typeface="Yu Gothic"/>
                <a:ea typeface="Yu Gothic"/>
                <a:cs typeface="Yu Gothic"/>
              </a:rPr>
              <a:t>異常F1</a:t>
            </a:r>
          </a:p>
        </p:txBody>
      </p:sp>
      <p:sp>
        <p:nvSpPr>
          <p:cNvPr id="19" name="角丸四角形 18">
            <a:extLst>
              <a:ext uri="{FF2B5EF4-FFF2-40B4-BE49-F238E27FC236}">
                <a16:creationId xmlns:a16="http://schemas.microsoft.com/office/drawing/2014/main" id="{3C00F488-39DB-4006-ABA8-847069BE726A}"/>
              </a:ext>
            </a:extLst>
          </p:cNvPr>
          <p:cNvSpPr>
            <a:spLocks noGrp="1"/>
          </p:cNvSpPr>
          <p:nvPr/>
        </p:nvSpPr>
        <p:spPr>
          <a:xfrm>
            <a:off x="952500" y="4038600"/>
            <a:ext cx="1524000" cy="114300"/>
          </a:xfrm>
          <a:prstGeom prst="roundRect">
            <a:avLst>
              <a:gd name="adj" fmla="val 50000"/>
            </a:avLst>
          </a:prstGeom>
          <a:solidFill>
            <a:srgbClr val="E2E8F0"/>
          </a:solidFill>
          <a:ln w="0">
            <a:noFill/>
            <a:prstDash val="solid"/>
          </a:ln>
        </p:spPr>
        <p:txBody>
          <a:bodyPr/>
          <a:lstStyle/>
          <a:p>
            <a:endParaRPr lang="ja-JP" altLang="en-US"/>
          </a:p>
        </p:txBody>
      </p:sp>
      <p:sp>
        <p:nvSpPr>
          <p:cNvPr id="20" name="角丸四角形 19">
            <a:extLst>
              <a:ext uri="{FF2B5EF4-FFF2-40B4-BE49-F238E27FC236}">
                <a16:creationId xmlns:a16="http://schemas.microsoft.com/office/drawing/2014/main" id="{DF542F4D-592A-4294-BB74-F83B6E33F3D9}"/>
              </a:ext>
            </a:extLst>
          </p:cNvPr>
          <p:cNvSpPr>
            <a:spLocks noGrp="1"/>
          </p:cNvSpPr>
          <p:nvPr/>
        </p:nvSpPr>
        <p:spPr>
          <a:xfrm>
            <a:off x="952500" y="4038600"/>
            <a:ext cx="1284576" cy="114300"/>
          </a:xfrm>
          <a:prstGeom prst="roundRect">
            <a:avLst>
              <a:gd name="adj" fmla="val 50000"/>
            </a:avLst>
          </a:prstGeom>
          <a:solidFill>
            <a:srgbClr val="F97316"/>
          </a:solidFill>
          <a:ln w="0">
            <a:noFill/>
            <a:prstDash val="solid"/>
          </a:ln>
        </p:spPr>
        <p:txBody>
          <a:bodyPr/>
          <a:lstStyle/>
          <a:p>
            <a:endParaRPr lang="ja-JP" altLang="en-US"/>
          </a:p>
        </p:txBody>
      </p:sp>
      <p:sp>
        <p:nvSpPr>
          <p:cNvPr id="21" name="正方形/長方形 20">
            <a:extLst>
              <a:ext uri="{FF2B5EF4-FFF2-40B4-BE49-F238E27FC236}">
                <a16:creationId xmlns:a16="http://schemas.microsoft.com/office/drawing/2014/main" id="{F1C52198-62D0-49DB-98A6-2FCD769DCFE1}"/>
              </a:ext>
            </a:extLst>
          </p:cNvPr>
          <p:cNvSpPr>
            <a:spLocks noGrp="1"/>
          </p:cNvSpPr>
          <p:nvPr/>
        </p:nvSpPr>
        <p:spPr>
          <a:xfrm>
            <a:off x="1943100" y="3771900"/>
            <a:ext cx="876300" cy="209550"/>
          </a:xfrm>
          <a:prstGeom prst="rect">
            <a:avLst/>
          </a:prstGeom>
          <a:noFill/>
          <a:ln w="0">
            <a:noFill/>
            <a:prstDash val="solid"/>
          </a:ln>
        </p:spPr>
        <p:txBody>
          <a:bodyPr/>
          <a:lstStyle/>
          <a:p>
            <a:pPr algn="r">
              <a:defRPr sz="1125" b="1">
                <a:solidFill>
                  <a:srgbClr val="F97316"/>
                </a:solidFill>
                <a:latin typeface="Yu Gothic"/>
                <a:ea typeface="Yu Gothic"/>
                <a:cs typeface="Yu Gothic"/>
              </a:defRPr>
            </a:pPr>
            <a:r>
              <a:rPr sz="1125" b="1">
                <a:solidFill>
                  <a:srgbClr val="F97316"/>
                </a:solidFill>
                <a:latin typeface="Yu Gothic"/>
                <a:ea typeface="Yu Gothic"/>
                <a:cs typeface="Yu Gothic"/>
              </a:rPr>
              <a:t>0.8429</a:t>
            </a:r>
          </a:p>
        </p:txBody>
      </p:sp>
      <p:sp>
        <p:nvSpPr>
          <p:cNvPr id="22" name="角丸四角形 21">
            <a:extLst>
              <a:ext uri="{FF2B5EF4-FFF2-40B4-BE49-F238E27FC236}">
                <a16:creationId xmlns:a16="http://schemas.microsoft.com/office/drawing/2014/main" id="{8CF7F70B-54B5-442B-A1D2-CB1A8C0C85AA}"/>
              </a:ext>
            </a:extLst>
          </p:cNvPr>
          <p:cNvSpPr>
            <a:spLocks noGrp="1"/>
          </p:cNvSpPr>
          <p:nvPr/>
        </p:nvSpPr>
        <p:spPr>
          <a:xfrm>
            <a:off x="3562350" y="1524000"/>
            <a:ext cx="2324100" cy="3181350"/>
          </a:xfrm>
          <a:prstGeom prst="roundRect">
            <a:avLst>
              <a:gd name="adj" fmla="val 6557"/>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23" name="正方形/長方形 22">
            <a:extLst>
              <a:ext uri="{FF2B5EF4-FFF2-40B4-BE49-F238E27FC236}">
                <a16:creationId xmlns:a16="http://schemas.microsoft.com/office/drawing/2014/main" id="{1C88E8C1-E747-476A-8D93-D96C9301A6D6}"/>
              </a:ext>
            </a:extLst>
          </p:cNvPr>
          <p:cNvSpPr>
            <a:spLocks noGrp="1"/>
          </p:cNvSpPr>
          <p:nvPr/>
        </p:nvSpPr>
        <p:spPr>
          <a:xfrm>
            <a:off x="3771900" y="1733550"/>
            <a:ext cx="1524000" cy="285750"/>
          </a:xfrm>
          <a:prstGeom prst="rect">
            <a:avLst/>
          </a:prstGeom>
          <a:noFill/>
          <a:ln w="0">
            <a:noFill/>
            <a:prstDash val="solid"/>
          </a:ln>
        </p:spPr>
        <p:txBody>
          <a:bodyPr/>
          <a:lstStyle/>
          <a:p>
            <a:pPr algn="l">
              <a:defRPr sz="1725" b="1">
                <a:solidFill>
                  <a:srgbClr val="0B1220"/>
                </a:solidFill>
                <a:latin typeface="Yu Gothic"/>
                <a:ea typeface="Yu Gothic"/>
                <a:cs typeface="Yu Gothic"/>
              </a:defRPr>
            </a:pPr>
            <a:r>
              <a:rPr sz="1725" b="1">
                <a:solidFill>
                  <a:srgbClr val="0B1220"/>
                </a:solidFill>
                <a:latin typeface="Yu Gothic"/>
                <a:ea typeface="Yu Gothic"/>
                <a:cs typeface="Yu Gothic"/>
              </a:rPr>
              <a:t>Subject 2</a:t>
            </a:r>
          </a:p>
        </p:txBody>
      </p:sp>
      <p:sp>
        <p:nvSpPr>
          <p:cNvPr id="24" name="正方形/長方形 23">
            <a:extLst>
              <a:ext uri="{FF2B5EF4-FFF2-40B4-BE49-F238E27FC236}">
                <a16:creationId xmlns:a16="http://schemas.microsoft.com/office/drawing/2014/main" id="{775753B3-ACB5-40D2-9102-2F6CF1D4FE97}"/>
              </a:ext>
            </a:extLst>
          </p:cNvPr>
          <p:cNvSpPr>
            <a:spLocks noGrp="1"/>
          </p:cNvSpPr>
          <p:nvPr/>
        </p:nvSpPr>
        <p:spPr>
          <a:xfrm>
            <a:off x="3771900" y="2076450"/>
            <a:ext cx="1714500" cy="209550"/>
          </a:xfrm>
          <a:prstGeom prst="rect">
            <a:avLst/>
          </a:prstGeom>
          <a:noFill/>
          <a:ln w="0">
            <a:noFill/>
            <a:prstDash val="solid"/>
          </a:ln>
        </p:spPr>
        <p:txBody>
          <a:bodyPr/>
          <a:lstStyle/>
          <a:p>
            <a:pPr algn="l">
              <a:defRPr sz="975" b="0">
                <a:solidFill>
                  <a:srgbClr val="64748B"/>
                </a:solidFill>
                <a:latin typeface="Yu Gothic"/>
                <a:ea typeface="Yu Gothic"/>
                <a:cs typeface="Yu Gothic"/>
              </a:defRPr>
            </a:pPr>
            <a:r>
              <a:rPr sz="975" b="0">
                <a:solidFill>
                  <a:srgbClr val="64748B"/>
                </a:solidFill>
                <a:latin typeface="Yu Gothic"/>
                <a:ea typeface="Yu Gothic"/>
                <a:cs typeface="Yu Gothic"/>
              </a:rPr>
              <a:t>2,360 windows</a:t>
            </a:r>
          </a:p>
        </p:txBody>
      </p:sp>
      <p:sp>
        <p:nvSpPr>
          <p:cNvPr id="25" name="正方形/長方形 24">
            <a:extLst>
              <a:ext uri="{FF2B5EF4-FFF2-40B4-BE49-F238E27FC236}">
                <a16:creationId xmlns:a16="http://schemas.microsoft.com/office/drawing/2014/main" id="{51DBD959-2CD8-4556-AB89-D47D5E3D9ECC}"/>
              </a:ext>
            </a:extLst>
          </p:cNvPr>
          <p:cNvSpPr>
            <a:spLocks noGrp="1"/>
          </p:cNvSpPr>
          <p:nvPr/>
        </p:nvSpPr>
        <p:spPr>
          <a:xfrm>
            <a:off x="3771900" y="2476500"/>
            <a:ext cx="857250" cy="209550"/>
          </a:xfrm>
          <a:prstGeom prst="rect">
            <a:avLst/>
          </a:prstGeom>
          <a:noFill/>
          <a:ln w="0">
            <a:noFill/>
            <a:prstDash val="solid"/>
          </a:ln>
        </p:spPr>
        <p:txBody>
          <a:bodyPr/>
          <a:lstStyle/>
          <a:p>
            <a:pPr algn="l">
              <a:defRPr sz="1050" b="1">
                <a:solidFill>
                  <a:srgbClr val="334155"/>
                </a:solidFill>
                <a:latin typeface="Yu Gothic"/>
                <a:ea typeface="Yu Gothic"/>
                <a:cs typeface="Yu Gothic"/>
              </a:defRPr>
            </a:pPr>
            <a:r>
              <a:rPr sz="1050" b="1">
                <a:solidFill>
                  <a:srgbClr val="334155"/>
                </a:solidFill>
                <a:latin typeface="Yu Gothic"/>
                <a:ea typeface="Yu Gothic"/>
                <a:cs typeface="Yu Gothic"/>
              </a:rPr>
              <a:t>Accuracy</a:t>
            </a:r>
          </a:p>
        </p:txBody>
      </p:sp>
      <p:sp>
        <p:nvSpPr>
          <p:cNvPr id="26" name="角丸四角形 25">
            <a:extLst>
              <a:ext uri="{FF2B5EF4-FFF2-40B4-BE49-F238E27FC236}">
                <a16:creationId xmlns:a16="http://schemas.microsoft.com/office/drawing/2014/main" id="{DE3392A8-48B2-4629-AFF5-2A0D321B6D6B}"/>
              </a:ext>
            </a:extLst>
          </p:cNvPr>
          <p:cNvSpPr>
            <a:spLocks noGrp="1"/>
          </p:cNvSpPr>
          <p:nvPr/>
        </p:nvSpPr>
        <p:spPr>
          <a:xfrm>
            <a:off x="3771900" y="2743200"/>
            <a:ext cx="1524000" cy="114300"/>
          </a:xfrm>
          <a:prstGeom prst="roundRect">
            <a:avLst>
              <a:gd name="adj" fmla="val 50000"/>
            </a:avLst>
          </a:prstGeom>
          <a:solidFill>
            <a:srgbClr val="E2E8F0"/>
          </a:solidFill>
          <a:ln w="0">
            <a:noFill/>
            <a:prstDash val="solid"/>
          </a:ln>
        </p:spPr>
        <p:txBody>
          <a:bodyPr/>
          <a:lstStyle/>
          <a:p>
            <a:endParaRPr lang="ja-JP" altLang="en-US"/>
          </a:p>
        </p:txBody>
      </p:sp>
      <p:sp>
        <p:nvSpPr>
          <p:cNvPr id="27" name="角丸四角形 26">
            <a:extLst>
              <a:ext uri="{FF2B5EF4-FFF2-40B4-BE49-F238E27FC236}">
                <a16:creationId xmlns:a16="http://schemas.microsoft.com/office/drawing/2014/main" id="{86AA4312-FB7F-4F6D-9935-F41576397739}"/>
              </a:ext>
            </a:extLst>
          </p:cNvPr>
          <p:cNvSpPr>
            <a:spLocks noGrp="1"/>
          </p:cNvSpPr>
          <p:nvPr/>
        </p:nvSpPr>
        <p:spPr>
          <a:xfrm>
            <a:off x="3771900" y="2743200"/>
            <a:ext cx="1090693" cy="114300"/>
          </a:xfrm>
          <a:prstGeom prst="roundRect">
            <a:avLst>
              <a:gd name="adj" fmla="val 50000"/>
            </a:avLst>
          </a:prstGeom>
          <a:solidFill>
            <a:srgbClr val="0EA5E9"/>
          </a:solidFill>
          <a:ln w="0">
            <a:noFill/>
            <a:prstDash val="solid"/>
          </a:ln>
        </p:spPr>
        <p:txBody>
          <a:bodyPr/>
          <a:lstStyle/>
          <a:p>
            <a:endParaRPr lang="ja-JP" altLang="en-US"/>
          </a:p>
        </p:txBody>
      </p:sp>
      <p:sp>
        <p:nvSpPr>
          <p:cNvPr id="28" name="正方形/長方形 27">
            <a:extLst>
              <a:ext uri="{FF2B5EF4-FFF2-40B4-BE49-F238E27FC236}">
                <a16:creationId xmlns:a16="http://schemas.microsoft.com/office/drawing/2014/main" id="{5C48CABD-422F-4688-9525-F1BE87A3505F}"/>
              </a:ext>
            </a:extLst>
          </p:cNvPr>
          <p:cNvSpPr>
            <a:spLocks noGrp="1"/>
          </p:cNvSpPr>
          <p:nvPr/>
        </p:nvSpPr>
        <p:spPr>
          <a:xfrm>
            <a:off x="4762500" y="2476500"/>
            <a:ext cx="876300" cy="209550"/>
          </a:xfrm>
          <a:prstGeom prst="rect">
            <a:avLst/>
          </a:prstGeom>
          <a:noFill/>
          <a:ln w="0">
            <a:noFill/>
            <a:prstDash val="solid"/>
          </a:ln>
        </p:spPr>
        <p:txBody>
          <a:bodyPr/>
          <a:lstStyle/>
          <a:p>
            <a:pPr algn="r">
              <a:defRPr sz="1125" b="1">
                <a:solidFill>
                  <a:srgbClr val="0EA5E9"/>
                </a:solidFill>
                <a:latin typeface="Yu Gothic"/>
                <a:ea typeface="Yu Gothic"/>
                <a:cs typeface="Yu Gothic"/>
              </a:defRPr>
            </a:pPr>
            <a:r>
              <a:rPr sz="1125" b="1">
                <a:solidFill>
                  <a:srgbClr val="0EA5E9"/>
                </a:solidFill>
                <a:latin typeface="Yu Gothic"/>
                <a:ea typeface="Yu Gothic"/>
                <a:cs typeface="Yu Gothic"/>
              </a:rPr>
              <a:t>0.7157</a:t>
            </a:r>
          </a:p>
        </p:txBody>
      </p:sp>
      <p:sp>
        <p:nvSpPr>
          <p:cNvPr id="29" name="正方形/長方形 28">
            <a:extLst>
              <a:ext uri="{FF2B5EF4-FFF2-40B4-BE49-F238E27FC236}">
                <a16:creationId xmlns:a16="http://schemas.microsoft.com/office/drawing/2014/main" id="{4382B41C-FB9D-4D1B-9256-761E5ED14BD5}"/>
              </a:ext>
            </a:extLst>
          </p:cNvPr>
          <p:cNvSpPr>
            <a:spLocks noGrp="1"/>
          </p:cNvSpPr>
          <p:nvPr/>
        </p:nvSpPr>
        <p:spPr>
          <a:xfrm>
            <a:off x="3771900" y="3124200"/>
            <a:ext cx="857250" cy="209550"/>
          </a:xfrm>
          <a:prstGeom prst="rect">
            <a:avLst/>
          </a:prstGeom>
          <a:noFill/>
          <a:ln w="0">
            <a:noFill/>
            <a:prstDash val="solid"/>
          </a:ln>
        </p:spPr>
        <p:txBody>
          <a:bodyPr/>
          <a:lstStyle/>
          <a:p>
            <a:pPr algn="l">
              <a:defRPr sz="1050" b="1">
                <a:solidFill>
                  <a:srgbClr val="334155"/>
                </a:solidFill>
                <a:latin typeface="Yu Gothic"/>
                <a:ea typeface="Yu Gothic"/>
                <a:cs typeface="Yu Gothic"/>
              </a:defRPr>
            </a:pPr>
            <a:r>
              <a:rPr sz="1050" b="1">
                <a:solidFill>
                  <a:srgbClr val="334155"/>
                </a:solidFill>
                <a:latin typeface="Yu Gothic"/>
                <a:ea typeface="Yu Gothic"/>
                <a:cs typeface="Yu Gothic"/>
              </a:rPr>
              <a:t>Macro-F1</a:t>
            </a:r>
          </a:p>
        </p:txBody>
      </p:sp>
      <p:sp>
        <p:nvSpPr>
          <p:cNvPr id="30" name="角丸四角形 29">
            <a:extLst>
              <a:ext uri="{FF2B5EF4-FFF2-40B4-BE49-F238E27FC236}">
                <a16:creationId xmlns:a16="http://schemas.microsoft.com/office/drawing/2014/main" id="{F9132CB2-C8A8-4686-82AD-311CA5CDA256}"/>
              </a:ext>
            </a:extLst>
          </p:cNvPr>
          <p:cNvSpPr>
            <a:spLocks noGrp="1"/>
          </p:cNvSpPr>
          <p:nvPr/>
        </p:nvSpPr>
        <p:spPr>
          <a:xfrm>
            <a:off x="3771900" y="3390900"/>
            <a:ext cx="1524000" cy="114300"/>
          </a:xfrm>
          <a:prstGeom prst="roundRect">
            <a:avLst>
              <a:gd name="adj" fmla="val 50000"/>
            </a:avLst>
          </a:prstGeom>
          <a:solidFill>
            <a:srgbClr val="E2E8F0"/>
          </a:solidFill>
          <a:ln w="0">
            <a:noFill/>
            <a:prstDash val="solid"/>
          </a:ln>
        </p:spPr>
        <p:txBody>
          <a:bodyPr/>
          <a:lstStyle/>
          <a:p>
            <a:endParaRPr lang="ja-JP" altLang="en-US"/>
          </a:p>
        </p:txBody>
      </p:sp>
      <p:sp>
        <p:nvSpPr>
          <p:cNvPr id="31" name="角丸四角形 30">
            <a:extLst>
              <a:ext uri="{FF2B5EF4-FFF2-40B4-BE49-F238E27FC236}">
                <a16:creationId xmlns:a16="http://schemas.microsoft.com/office/drawing/2014/main" id="{8DF6D101-1B8D-4E79-AFEC-88CCB9093783}"/>
              </a:ext>
            </a:extLst>
          </p:cNvPr>
          <p:cNvSpPr>
            <a:spLocks noGrp="1"/>
          </p:cNvSpPr>
          <p:nvPr/>
        </p:nvSpPr>
        <p:spPr>
          <a:xfrm>
            <a:off x="3771900" y="3390900"/>
            <a:ext cx="978819" cy="114300"/>
          </a:xfrm>
          <a:prstGeom prst="roundRect">
            <a:avLst>
              <a:gd name="adj" fmla="val 50000"/>
            </a:avLst>
          </a:prstGeom>
          <a:solidFill>
            <a:srgbClr val="8B5CF6"/>
          </a:solidFill>
          <a:ln w="0">
            <a:noFill/>
            <a:prstDash val="solid"/>
          </a:ln>
        </p:spPr>
        <p:txBody>
          <a:bodyPr/>
          <a:lstStyle/>
          <a:p>
            <a:endParaRPr lang="ja-JP" altLang="en-US"/>
          </a:p>
        </p:txBody>
      </p:sp>
      <p:sp>
        <p:nvSpPr>
          <p:cNvPr id="32" name="正方形/長方形 31">
            <a:extLst>
              <a:ext uri="{FF2B5EF4-FFF2-40B4-BE49-F238E27FC236}">
                <a16:creationId xmlns:a16="http://schemas.microsoft.com/office/drawing/2014/main" id="{939AAA64-307B-4CA1-A5A1-976F352DC355}"/>
              </a:ext>
            </a:extLst>
          </p:cNvPr>
          <p:cNvSpPr>
            <a:spLocks noGrp="1"/>
          </p:cNvSpPr>
          <p:nvPr/>
        </p:nvSpPr>
        <p:spPr>
          <a:xfrm>
            <a:off x="4762500" y="3124200"/>
            <a:ext cx="876300" cy="209550"/>
          </a:xfrm>
          <a:prstGeom prst="rect">
            <a:avLst/>
          </a:prstGeom>
          <a:noFill/>
          <a:ln w="0">
            <a:noFill/>
            <a:prstDash val="solid"/>
          </a:ln>
        </p:spPr>
        <p:txBody>
          <a:bodyPr/>
          <a:lstStyle/>
          <a:p>
            <a:pPr algn="r">
              <a:defRPr sz="1125" b="1">
                <a:solidFill>
                  <a:srgbClr val="8B5CF6"/>
                </a:solidFill>
                <a:latin typeface="Yu Gothic"/>
                <a:ea typeface="Yu Gothic"/>
                <a:cs typeface="Yu Gothic"/>
              </a:defRPr>
            </a:pPr>
            <a:r>
              <a:rPr sz="1125" b="1">
                <a:solidFill>
                  <a:srgbClr val="8B5CF6"/>
                </a:solidFill>
                <a:latin typeface="Yu Gothic"/>
                <a:ea typeface="Yu Gothic"/>
                <a:cs typeface="Yu Gothic"/>
              </a:rPr>
              <a:t>0.6423</a:t>
            </a:r>
          </a:p>
        </p:txBody>
      </p:sp>
      <p:sp>
        <p:nvSpPr>
          <p:cNvPr id="33" name="正方形/長方形 32">
            <a:extLst>
              <a:ext uri="{FF2B5EF4-FFF2-40B4-BE49-F238E27FC236}">
                <a16:creationId xmlns:a16="http://schemas.microsoft.com/office/drawing/2014/main" id="{3ADA09A6-248B-412F-8065-9C09279A9C17}"/>
              </a:ext>
            </a:extLst>
          </p:cNvPr>
          <p:cNvSpPr>
            <a:spLocks noGrp="1"/>
          </p:cNvSpPr>
          <p:nvPr/>
        </p:nvSpPr>
        <p:spPr>
          <a:xfrm>
            <a:off x="3771900" y="3771900"/>
            <a:ext cx="857250" cy="209550"/>
          </a:xfrm>
          <a:prstGeom prst="rect">
            <a:avLst/>
          </a:prstGeom>
          <a:noFill/>
          <a:ln w="0">
            <a:noFill/>
            <a:prstDash val="solid"/>
          </a:ln>
        </p:spPr>
        <p:txBody>
          <a:bodyPr/>
          <a:lstStyle/>
          <a:p>
            <a:pPr algn="l">
              <a:defRPr sz="1050" b="1">
                <a:solidFill>
                  <a:srgbClr val="334155"/>
                </a:solidFill>
                <a:latin typeface="Yu Gothic"/>
                <a:ea typeface="Yu Gothic"/>
                <a:cs typeface="Yu Gothic"/>
              </a:defRPr>
            </a:pPr>
            <a:r>
              <a:rPr sz="1050" b="1">
                <a:solidFill>
                  <a:srgbClr val="334155"/>
                </a:solidFill>
                <a:latin typeface="Yu Gothic"/>
                <a:ea typeface="Yu Gothic"/>
                <a:cs typeface="Yu Gothic"/>
              </a:rPr>
              <a:t>異常F1</a:t>
            </a:r>
          </a:p>
        </p:txBody>
      </p:sp>
      <p:sp>
        <p:nvSpPr>
          <p:cNvPr id="34" name="角丸四角形 33">
            <a:extLst>
              <a:ext uri="{FF2B5EF4-FFF2-40B4-BE49-F238E27FC236}">
                <a16:creationId xmlns:a16="http://schemas.microsoft.com/office/drawing/2014/main" id="{5BFFBDA3-3CEF-414D-B4EB-6014A8236D5B}"/>
              </a:ext>
            </a:extLst>
          </p:cNvPr>
          <p:cNvSpPr>
            <a:spLocks noGrp="1"/>
          </p:cNvSpPr>
          <p:nvPr/>
        </p:nvSpPr>
        <p:spPr>
          <a:xfrm>
            <a:off x="3771900" y="4038600"/>
            <a:ext cx="1524000" cy="114300"/>
          </a:xfrm>
          <a:prstGeom prst="roundRect">
            <a:avLst>
              <a:gd name="adj" fmla="val 50000"/>
            </a:avLst>
          </a:prstGeom>
          <a:solidFill>
            <a:srgbClr val="E2E8F0"/>
          </a:solidFill>
          <a:ln w="0">
            <a:noFill/>
            <a:prstDash val="solid"/>
          </a:ln>
        </p:spPr>
        <p:txBody>
          <a:bodyPr/>
          <a:lstStyle/>
          <a:p>
            <a:endParaRPr lang="ja-JP" altLang="en-US"/>
          </a:p>
        </p:txBody>
      </p:sp>
      <p:sp>
        <p:nvSpPr>
          <p:cNvPr id="35" name="角丸四角形 34">
            <a:extLst>
              <a:ext uri="{FF2B5EF4-FFF2-40B4-BE49-F238E27FC236}">
                <a16:creationId xmlns:a16="http://schemas.microsoft.com/office/drawing/2014/main" id="{B7198401-0341-4DA2-89A1-0D842489EDD6}"/>
              </a:ext>
            </a:extLst>
          </p:cNvPr>
          <p:cNvSpPr>
            <a:spLocks noGrp="1"/>
          </p:cNvSpPr>
          <p:nvPr/>
        </p:nvSpPr>
        <p:spPr>
          <a:xfrm>
            <a:off x="3771900" y="4038600"/>
            <a:ext cx="1221745" cy="114300"/>
          </a:xfrm>
          <a:prstGeom prst="roundRect">
            <a:avLst>
              <a:gd name="adj" fmla="val 50000"/>
            </a:avLst>
          </a:prstGeom>
          <a:solidFill>
            <a:srgbClr val="F97316"/>
          </a:solidFill>
          <a:ln w="0">
            <a:noFill/>
            <a:prstDash val="solid"/>
          </a:ln>
        </p:spPr>
        <p:txBody>
          <a:bodyPr/>
          <a:lstStyle/>
          <a:p>
            <a:endParaRPr lang="ja-JP" altLang="en-US"/>
          </a:p>
        </p:txBody>
      </p:sp>
      <p:sp>
        <p:nvSpPr>
          <p:cNvPr id="36" name="正方形/長方形 35">
            <a:extLst>
              <a:ext uri="{FF2B5EF4-FFF2-40B4-BE49-F238E27FC236}">
                <a16:creationId xmlns:a16="http://schemas.microsoft.com/office/drawing/2014/main" id="{99C4CE6B-8534-4AE5-B63D-C3043B52AB04}"/>
              </a:ext>
            </a:extLst>
          </p:cNvPr>
          <p:cNvSpPr>
            <a:spLocks noGrp="1"/>
          </p:cNvSpPr>
          <p:nvPr/>
        </p:nvSpPr>
        <p:spPr>
          <a:xfrm>
            <a:off x="4762500" y="3771900"/>
            <a:ext cx="876300" cy="209550"/>
          </a:xfrm>
          <a:prstGeom prst="rect">
            <a:avLst/>
          </a:prstGeom>
          <a:noFill/>
          <a:ln w="0">
            <a:noFill/>
            <a:prstDash val="solid"/>
          </a:ln>
        </p:spPr>
        <p:txBody>
          <a:bodyPr/>
          <a:lstStyle/>
          <a:p>
            <a:pPr algn="r">
              <a:defRPr sz="1125" b="1">
                <a:solidFill>
                  <a:srgbClr val="F97316"/>
                </a:solidFill>
                <a:latin typeface="Yu Gothic"/>
                <a:ea typeface="Yu Gothic"/>
                <a:cs typeface="Yu Gothic"/>
              </a:defRPr>
            </a:pPr>
            <a:r>
              <a:rPr sz="1125" b="1">
                <a:solidFill>
                  <a:srgbClr val="F97316"/>
                </a:solidFill>
                <a:latin typeface="Yu Gothic"/>
                <a:ea typeface="Yu Gothic"/>
                <a:cs typeface="Yu Gothic"/>
              </a:rPr>
              <a:t>0.8017</a:t>
            </a:r>
          </a:p>
        </p:txBody>
      </p:sp>
      <p:sp>
        <p:nvSpPr>
          <p:cNvPr id="37" name="角丸四角形 36">
            <a:extLst>
              <a:ext uri="{FF2B5EF4-FFF2-40B4-BE49-F238E27FC236}">
                <a16:creationId xmlns:a16="http://schemas.microsoft.com/office/drawing/2014/main" id="{2CDA2CD9-3062-469A-B53E-8C333185ED55}"/>
              </a:ext>
            </a:extLst>
          </p:cNvPr>
          <p:cNvSpPr>
            <a:spLocks noGrp="1"/>
          </p:cNvSpPr>
          <p:nvPr/>
        </p:nvSpPr>
        <p:spPr>
          <a:xfrm>
            <a:off x="6381750" y="1524000"/>
            <a:ext cx="2324100" cy="3181350"/>
          </a:xfrm>
          <a:prstGeom prst="roundRect">
            <a:avLst>
              <a:gd name="adj" fmla="val 6557"/>
            </a:avLst>
          </a:prstGeom>
          <a:solidFill>
            <a:srgbClr val="FFF7ED"/>
          </a:solidFill>
          <a:ln w="19050">
            <a:solidFill>
              <a:srgbClr val="FDBA74"/>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38" name="正方形/長方形 37">
            <a:extLst>
              <a:ext uri="{FF2B5EF4-FFF2-40B4-BE49-F238E27FC236}">
                <a16:creationId xmlns:a16="http://schemas.microsoft.com/office/drawing/2014/main" id="{536178D8-BED3-4401-BE30-68B0B18EF01D}"/>
              </a:ext>
            </a:extLst>
          </p:cNvPr>
          <p:cNvSpPr>
            <a:spLocks noGrp="1"/>
          </p:cNvSpPr>
          <p:nvPr/>
        </p:nvSpPr>
        <p:spPr>
          <a:xfrm>
            <a:off x="6591300" y="1733550"/>
            <a:ext cx="1524000" cy="285750"/>
          </a:xfrm>
          <a:prstGeom prst="rect">
            <a:avLst/>
          </a:prstGeom>
          <a:noFill/>
          <a:ln w="0">
            <a:noFill/>
            <a:prstDash val="solid"/>
          </a:ln>
        </p:spPr>
        <p:txBody>
          <a:bodyPr/>
          <a:lstStyle/>
          <a:p>
            <a:pPr algn="l">
              <a:defRPr sz="1725" b="1">
                <a:solidFill>
                  <a:srgbClr val="9A3412"/>
                </a:solidFill>
                <a:latin typeface="Yu Gothic"/>
                <a:ea typeface="Yu Gothic"/>
                <a:cs typeface="Yu Gothic"/>
              </a:defRPr>
            </a:pPr>
            <a:r>
              <a:rPr sz="1725" b="1">
                <a:solidFill>
                  <a:srgbClr val="9A3412"/>
                </a:solidFill>
                <a:latin typeface="Yu Gothic"/>
                <a:ea typeface="Yu Gothic"/>
                <a:cs typeface="Yu Gothic"/>
              </a:rPr>
              <a:t>Subject 3</a:t>
            </a:r>
          </a:p>
        </p:txBody>
      </p:sp>
      <p:sp>
        <p:nvSpPr>
          <p:cNvPr id="39" name="正方形/長方形 38">
            <a:extLst>
              <a:ext uri="{FF2B5EF4-FFF2-40B4-BE49-F238E27FC236}">
                <a16:creationId xmlns:a16="http://schemas.microsoft.com/office/drawing/2014/main" id="{675A122E-1C65-4531-BEE6-118D8FFAD6E5}"/>
              </a:ext>
            </a:extLst>
          </p:cNvPr>
          <p:cNvSpPr>
            <a:spLocks noGrp="1"/>
          </p:cNvSpPr>
          <p:nvPr/>
        </p:nvSpPr>
        <p:spPr>
          <a:xfrm>
            <a:off x="6591300" y="2076450"/>
            <a:ext cx="1714500" cy="209550"/>
          </a:xfrm>
          <a:prstGeom prst="rect">
            <a:avLst/>
          </a:prstGeom>
          <a:noFill/>
          <a:ln w="0">
            <a:noFill/>
            <a:prstDash val="solid"/>
          </a:ln>
        </p:spPr>
        <p:txBody>
          <a:bodyPr/>
          <a:lstStyle/>
          <a:p>
            <a:pPr algn="l">
              <a:defRPr sz="975" b="0">
                <a:solidFill>
                  <a:srgbClr val="64748B"/>
                </a:solidFill>
                <a:latin typeface="Yu Gothic"/>
                <a:ea typeface="Yu Gothic"/>
                <a:cs typeface="Yu Gothic"/>
              </a:defRPr>
            </a:pPr>
            <a:r>
              <a:rPr sz="975" b="0">
                <a:solidFill>
                  <a:srgbClr val="64748B"/>
                </a:solidFill>
                <a:latin typeface="Yu Gothic"/>
                <a:ea typeface="Yu Gothic"/>
                <a:cs typeface="Yu Gothic"/>
              </a:rPr>
              <a:t>3,525 windows</a:t>
            </a:r>
          </a:p>
        </p:txBody>
      </p:sp>
      <p:sp>
        <p:nvSpPr>
          <p:cNvPr id="40" name="正方形/長方形 39">
            <a:extLst>
              <a:ext uri="{FF2B5EF4-FFF2-40B4-BE49-F238E27FC236}">
                <a16:creationId xmlns:a16="http://schemas.microsoft.com/office/drawing/2014/main" id="{B82E71D1-6ED8-4311-94B8-09491F7F3BEB}"/>
              </a:ext>
            </a:extLst>
          </p:cNvPr>
          <p:cNvSpPr>
            <a:spLocks noGrp="1"/>
          </p:cNvSpPr>
          <p:nvPr/>
        </p:nvSpPr>
        <p:spPr>
          <a:xfrm>
            <a:off x="6591300" y="2476500"/>
            <a:ext cx="857250" cy="209550"/>
          </a:xfrm>
          <a:prstGeom prst="rect">
            <a:avLst/>
          </a:prstGeom>
          <a:noFill/>
          <a:ln w="0">
            <a:noFill/>
            <a:prstDash val="solid"/>
          </a:ln>
        </p:spPr>
        <p:txBody>
          <a:bodyPr/>
          <a:lstStyle/>
          <a:p>
            <a:pPr algn="l">
              <a:defRPr sz="1050" b="1">
                <a:solidFill>
                  <a:srgbClr val="334155"/>
                </a:solidFill>
                <a:latin typeface="Yu Gothic"/>
                <a:ea typeface="Yu Gothic"/>
                <a:cs typeface="Yu Gothic"/>
              </a:defRPr>
            </a:pPr>
            <a:r>
              <a:rPr sz="1050" b="1">
                <a:solidFill>
                  <a:srgbClr val="334155"/>
                </a:solidFill>
                <a:latin typeface="Yu Gothic"/>
                <a:ea typeface="Yu Gothic"/>
                <a:cs typeface="Yu Gothic"/>
              </a:rPr>
              <a:t>Accuracy</a:t>
            </a:r>
          </a:p>
        </p:txBody>
      </p:sp>
      <p:sp>
        <p:nvSpPr>
          <p:cNvPr id="41" name="角丸四角形 40">
            <a:extLst>
              <a:ext uri="{FF2B5EF4-FFF2-40B4-BE49-F238E27FC236}">
                <a16:creationId xmlns:a16="http://schemas.microsoft.com/office/drawing/2014/main" id="{DAC0F94B-AD10-416F-BCAA-3BF312FA9916}"/>
              </a:ext>
            </a:extLst>
          </p:cNvPr>
          <p:cNvSpPr>
            <a:spLocks noGrp="1"/>
          </p:cNvSpPr>
          <p:nvPr/>
        </p:nvSpPr>
        <p:spPr>
          <a:xfrm>
            <a:off x="6591300" y="2743200"/>
            <a:ext cx="1524000" cy="114300"/>
          </a:xfrm>
          <a:prstGeom prst="roundRect">
            <a:avLst>
              <a:gd name="adj" fmla="val 50000"/>
            </a:avLst>
          </a:prstGeom>
          <a:solidFill>
            <a:srgbClr val="E2E8F0"/>
          </a:solidFill>
          <a:ln w="0">
            <a:noFill/>
            <a:prstDash val="solid"/>
          </a:ln>
        </p:spPr>
        <p:txBody>
          <a:bodyPr/>
          <a:lstStyle/>
          <a:p>
            <a:endParaRPr lang="ja-JP" altLang="en-US"/>
          </a:p>
        </p:txBody>
      </p:sp>
      <p:sp>
        <p:nvSpPr>
          <p:cNvPr id="42" name="角丸四角形 41">
            <a:extLst>
              <a:ext uri="{FF2B5EF4-FFF2-40B4-BE49-F238E27FC236}">
                <a16:creationId xmlns:a16="http://schemas.microsoft.com/office/drawing/2014/main" id="{50059F52-B13D-4715-8CD4-E333A93405F2}"/>
              </a:ext>
            </a:extLst>
          </p:cNvPr>
          <p:cNvSpPr>
            <a:spLocks noGrp="1"/>
          </p:cNvSpPr>
          <p:nvPr/>
        </p:nvSpPr>
        <p:spPr>
          <a:xfrm>
            <a:off x="6591300" y="2743200"/>
            <a:ext cx="806747" cy="114300"/>
          </a:xfrm>
          <a:prstGeom prst="roundRect">
            <a:avLst>
              <a:gd name="adj" fmla="val 50000"/>
            </a:avLst>
          </a:prstGeom>
          <a:solidFill>
            <a:srgbClr val="0EA5E9"/>
          </a:solidFill>
          <a:ln w="0">
            <a:noFill/>
            <a:prstDash val="solid"/>
          </a:ln>
        </p:spPr>
        <p:txBody>
          <a:bodyPr/>
          <a:lstStyle/>
          <a:p>
            <a:endParaRPr lang="ja-JP" altLang="en-US"/>
          </a:p>
        </p:txBody>
      </p:sp>
      <p:sp>
        <p:nvSpPr>
          <p:cNvPr id="43" name="正方形/長方形 42">
            <a:extLst>
              <a:ext uri="{FF2B5EF4-FFF2-40B4-BE49-F238E27FC236}">
                <a16:creationId xmlns:a16="http://schemas.microsoft.com/office/drawing/2014/main" id="{A6BE6643-540E-4832-85D8-7D2EFB4D7680}"/>
              </a:ext>
            </a:extLst>
          </p:cNvPr>
          <p:cNvSpPr>
            <a:spLocks noGrp="1"/>
          </p:cNvSpPr>
          <p:nvPr/>
        </p:nvSpPr>
        <p:spPr>
          <a:xfrm>
            <a:off x="7581900" y="2476500"/>
            <a:ext cx="876300" cy="209550"/>
          </a:xfrm>
          <a:prstGeom prst="rect">
            <a:avLst/>
          </a:prstGeom>
          <a:noFill/>
          <a:ln w="0">
            <a:noFill/>
            <a:prstDash val="solid"/>
          </a:ln>
        </p:spPr>
        <p:txBody>
          <a:bodyPr/>
          <a:lstStyle/>
          <a:p>
            <a:pPr algn="r">
              <a:defRPr sz="1125" b="1">
                <a:solidFill>
                  <a:srgbClr val="0EA5E9"/>
                </a:solidFill>
                <a:latin typeface="Yu Gothic"/>
                <a:ea typeface="Yu Gothic"/>
                <a:cs typeface="Yu Gothic"/>
              </a:defRPr>
            </a:pPr>
            <a:r>
              <a:rPr sz="1125" b="1">
                <a:solidFill>
                  <a:srgbClr val="0EA5E9"/>
                </a:solidFill>
                <a:latin typeface="Yu Gothic"/>
                <a:ea typeface="Yu Gothic"/>
                <a:cs typeface="Yu Gothic"/>
              </a:rPr>
              <a:t>0.5294</a:t>
            </a:r>
          </a:p>
        </p:txBody>
      </p:sp>
      <p:sp>
        <p:nvSpPr>
          <p:cNvPr id="44" name="正方形/長方形 43">
            <a:extLst>
              <a:ext uri="{FF2B5EF4-FFF2-40B4-BE49-F238E27FC236}">
                <a16:creationId xmlns:a16="http://schemas.microsoft.com/office/drawing/2014/main" id="{9C63D312-9461-4766-98DA-8EA16EAFC5D5}"/>
              </a:ext>
            </a:extLst>
          </p:cNvPr>
          <p:cNvSpPr>
            <a:spLocks noGrp="1"/>
          </p:cNvSpPr>
          <p:nvPr/>
        </p:nvSpPr>
        <p:spPr>
          <a:xfrm>
            <a:off x="6591300" y="3124200"/>
            <a:ext cx="857250" cy="209550"/>
          </a:xfrm>
          <a:prstGeom prst="rect">
            <a:avLst/>
          </a:prstGeom>
          <a:noFill/>
          <a:ln w="0">
            <a:noFill/>
            <a:prstDash val="solid"/>
          </a:ln>
        </p:spPr>
        <p:txBody>
          <a:bodyPr/>
          <a:lstStyle/>
          <a:p>
            <a:pPr algn="l">
              <a:defRPr sz="1050" b="1">
                <a:solidFill>
                  <a:srgbClr val="334155"/>
                </a:solidFill>
                <a:latin typeface="Yu Gothic"/>
                <a:ea typeface="Yu Gothic"/>
                <a:cs typeface="Yu Gothic"/>
              </a:defRPr>
            </a:pPr>
            <a:r>
              <a:rPr sz="1050" b="1">
                <a:solidFill>
                  <a:srgbClr val="334155"/>
                </a:solidFill>
                <a:latin typeface="Yu Gothic"/>
                <a:ea typeface="Yu Gothic"/>
                <a:cs typeface="Yu Gothic"/>
              </a:rPr>
              <a:t>Macro-F1</a:t>
            </a:r>
          </a:p>
        </p:txBody>
      </p:sp>
      <p:sp>
        <p:nvSpPr>
          <p:cNvPr id="45" name="角丸四角形 44">
            <a:extLst>
              <a:ext uri="{FF2B5EF4-FFF2-40B4-BE49-F238E27FC236}">
                <a16:creationId xmlns:a16="http://schemas.microsoft.com/office/drawing/2014/main" id="{4BBFC38D-757D-477A-9916-67BB067FC6E5}"/>
              </a:ext>
            </a:extLst>
          </p:cNvPr>
          <p:cNvSpPr>
            <a:spLocks noGrp="1"/>
          </p:cNvSpPr>
          <p:nvPr/>
        </p:nvSpPr>
        <p:spPr>
          <a:xfrm>
            <a:off x="6591300" y="3390900"/>
            <a:ext cx="1524000" cy="114300"/>
          </a:xfrm>
          <a:prstGeom prst="roundRect">
            <a:avLst>
              <a:gd name="adj" fmla="val 50000"/>
            </a:avLst>
          </a:prstGeom>
          <a:solidFill>
            <a:srgbClr val="E2E8F0"/>
          </a:solidFill>
          <a:ln w="0">
            <a:noFill/>
            <a:prstDash val="solid"/>
          </a:ln>
        </p:spPr>
        <p:txBody>
          <a:bodyPr/>
          <a:lstStyle/>
          <a:p>
            <a:endParaRPr lang="ja-JP" altLang="en-US"/>
          </a:p>
        </p:txBody>
      </p:sp>
      <p:sp>
        <p:nvSpPr>
          <p:cNvPr id="46" name="角丸四角形 45">
            <a:extLst>
              <a:ext uri="{FF2B5EF4-FFF2-40B4-BE49-F238E27FC236}">
                <a16:creationId xmlns:a16="http://schemas.microsoft.com/office/drawing/2014/main" id="{8AFA18A1-60B4-4FFD-B8E2-1ECA64A3487F}"/>
              </a:ext>
            </a:extLst>
          </p:cNvPr>
          <p:cNvSpPr>
            <a:spLocks noGrp="1"/>
          </p:cNvSpPr>
          <p:nvPr/>
        </p:nvSpPr>
        <p:spPr>
          <a:xfrm>
            <a:off x="6591300" y="3390900"/>
            <a:ext cx="699619" cy="114300"/>
          </a:xfrm>
          <a:prstGeom prst="roundRect">
            <a:avLst>
              <a:gd name="adj" fmla="val 50000"/>
            </a:avLst>
          </a:prstGeom>
          <a:solidFill>
            <a:srgbClr val="8B5CF6"/>
          </a:solidFill>
          <a:ln w="0">
            <a:noFill/>
            <a:prstDash val="solid"/>
          </a:ln>
        </p:spPr>
        <p:txBody>
          <a:bodyPr/>
          <a:lstStyle/>
          <a:p>
            <a:endParaRPr lang="ja-JP" altLang="en-US"/>
          </a:p>
        </p:txBody>
      </p:sp>
      <p:sp>
        <p:nvSpPr>
          <p:cNvPr id="47" name="正方形/長方形 46">
            <a:extLst>
              <a:ext uri="{FF2B5EF4-FFF2-40B4-BE49-F238E27FC236}">
                <a16:creationId xmlns:a16="http://schemas.microsoft.com/office/drawing/2014/main" id="{78849A50-C3C8-43D7-933F-5921E3461DEB}"/>
              </a:ext>
            </a:extLst>
          </p:cNvPr>
          <p:cNvSpPr>
            <a:spLocks noGrp="1"/>
          </p:cNvSpPr>
          <p:nvPr/>
        </p:nvSpPr>
        <p:spPr>
          <a:xfrm>
            <a:off x="7581900" y="3124200"/>
            <a:ext cx="876300" cy="209550"/>
          </a:xfrm>
          <a:prstGeom prst="rect">
            <a:avLst/>
          </a:prstGeom>
          <a:noFill/>
          <a:ln w="0">
            <a:noFill/>
            <a:prstDash val="solid"/>
          </a:ln>
        </p:spPr>
        <p:txBody>
          <a:bodyPr/>
          <a:lstStyle/>
          <a:p>
            <a:pPr algn="r">
              <a:defRPr sz="1125" b="1">
                <a:solidFill>
                  <a:srgbClr val="8B5CF6"/>
                </a:solidFill>
                <a:latin typeface="Yu Gothic"/>
                <a:ea typeface="Yu Gothic"/>
                <a:cs typeface="Yu Gothic"/>
              </a:defRPr>
            </a:pPr>
            <a:r>
              <a:rPr sz="1125" b="1">
                <a:solidFill>
                  <a:srgbClr val="8B5CF6"/>
                </a:solidFill>
                <a:latin typeface="Yu Gothic"/>
                <a:ea typeface="Yu Gothic"/>
                <a:cs typeface="Yu Gothic"/>
              </a:rPr>
              <a:t>0.4591</a:t>
            </a:r>
          </a:p>
        </p:txBody>
      </p:sp>
      <p:sp>
        <p:nvSpPr>
          <p:cNvPr id="48" name="正方形/長方形 47">
            <a:extLst>
              <a:ext uri="{FF2B5EF4-FFF2-40B4-BE49-F238E27FC236}">
                <a16:creationId xmlns:a16="http://schemas.microsoft.com/office/drawing/2014/main" id="{99B52627-FAAB-43E4-B457-4CF59347879C}"/>
              </a:ext>
            </a:extLst>
          </p:cNvPr>
          <p:cNvSpPr>
            <a:spLocks noGrp="1"/>
          </p:cNvSpPr>
          <p:nvPr/>
        </p:nvSpPr>
        <p:spPr>
          <a:xfrm>
            <a:off x="6591300" y="3771900"/>
            <a:ext cx="857250" cy="209550"/>
          </a:xfrm>
          <a:prstGeom prst="rect">
            <a:avLst/>
          </a:prstGeom>
          <a:noFill/>
          <a:ln w="0">
            <a:noFill/>
            <a:prstDash val="solid"/>
          </a:ln>
        </p:spPr>
        <p:txBody>
          <a:bodyPr/>
          <a:lstStyle/>
          <a:p>
            <a:pPr algn="l">
              <a:defRPr sz="1050" b="1">
                <a:solidFill>
                  <a:srgbClr val="334155"/>
                </a:solidFill>
                <a:latin typeface="Yu Gothic"/>
                <a:ea typeface="Yu Gothic"/>
                <a:cs typeface="Yu Gothic"/>
              </a:defRPr>
            </a:pPr>
            <a:r>
              <a:rPr sz="1050" b="1">
                <a:solidFill>
                  <a:srgbClr val="334155"/>
                </a:solidFill>
                <a:latin typeface="Yu Gothic"/>
                <a:ea typeface="Yu Gothic"/>
                <a:cs typeface="Yu Gothic"/>
              </a:rPr>
              <a:t>異常F1</a:t>
            </a:r>
          </a:p>
        </p:txBody>
      </p:sp>
      <p:sp>
        <p:nvSpPr>
          <p:cNvPr id="49" name="角丸四角形 48">
            <a:extLst>
              <a:ext uri="{FF2B5EF4-FFF2-40B4-BE49-F238E27FC236}">
                <a16:creationId xmlns:a16="http://schemas.microsoft.com/office/drawing/2014/main" id="{9924594F-5457-4B89-A7BE-4BA3CCA215A8}"/>
              </a:ext>
            </a:extLst>
          </p:cNvPr>
          <p:cNvSpPr>
            <a:spLocks noGrp="1"/>
          </p:cNvSpPr>
          <p:nvPr/>
        </p:nvSpPr>
        <p:spPr>
          <a:xfrm>
            <a:off x="6591300" y="4038600"/>
            <a:ext cx="1524000" cy="114300"/>
          </a:xfrm>
          <a:prstGeom prst="roundRect">
            <a:avLst>
              <a:gd name="adj" fmla="val 50000"/>
            </a:avLst>
          </a:prstGeom>
          <a:solidFill>
            <a:srgbClr val="E2E8F0"/>
          </a:solidFill>
          <a:ln w="0">
            <a:noFill/>
            <a:prstDash val="solid"/>
          </a:ln>
        </p:spPr>
        <p:txBody>
          <a:bodyPr/>
          <a:lstStyle/>
          <a:p>
            <a:endParaRPr lang="ja-JP" altLang="en-US"/>
          </a:p>
        </p:txBody>
      </p:sp>
      <p:sp>
        <p:nvSpPr>
          <p:cNvPr id="50" name="角丸四角形 49">
            <a:extLst>
              <a:ext uri="{FF2B5EF4-FFF2-40B4-BE49-F238E27FC236}">
                <a16:creationId xmlns:a16="http://schemas.microsoft.com/office/drawing/2014/main" id="{A8F90E82-060D-4B63-8C47-84C000DACCED}"/>
              </a:ext>
            </a:extLst>
          </p:cNvPr>
          <p:cNvSpPr>
            <a:spLocks noGrp="1"/>
          </p:cNvSpPr>
          <p:nvPr/>
        </p:nvSpPr>
        <p:spPr>
          <a:xfrm>
            <a:off x="6591300" y="4038600"/>
            <a:ext cx="871496" cy="114300"/>
          </a:xfrm>
          <a:prstGeom prst="roundRect">
            <a:avLst>
              <a:gd name="adj" fmla="val 50000"/>
            </a:avLst>
          </a:prstGeom>
          <a:solidFill>
            <a:srgbClr val="F97316"/>
          </a:solidFill>
          <a:ln w="0">
            <a:noFill/>
            <a:prstDash val="solid"/>
          </a:ln>
        </p:spPr>
        <p:txBody>
          <a:bodyPr/>
          <a:lstStyle/>
          <a:p>
            <a:endParaRPr lang="ja-JP" altLang="en-US"/>
          </a:p>
        </p:txBody>
      </p:sp>
      <p:sp>
        <p:nvSpPr>
          <p:cNvPr id="51" name="正方形/長方形 50">
            <a:extLst>
              <a:ext uri="{FF2B5EF4-FFF2-40B4-BE49-F238E27FC236}">
                <a16:creationId xmlns:a16="http://schemas.microsoft.com/office/drawing/2014/main" id="{DF602891-444B-4E77-80D8-C0573768F90D}"/>
              </a:ext>
            </a:extLst>
          </p:cNvPr>
          <p:cNvSpPr>
            <a:spLocks noGrp="1"/>
          </p:cNvSpPr>
          <p:nvPr/>
        </p:nvSpPr>
        <p:spPr>
          <a:xfrm>
            <a:off x="7581900" y="3771900"/>
            <a:ext cx="876300" cy="209550"/>
          </a:xfrm>
          <a:prstGeom prst="rect">
            <a:avLst/>
          </a:prstGeom>
          <a:noFill/>
          <a:ln w="0">
            <a:noFill/>
            <a:prstDash val="solid"/>
          </a:ln>
        </p:spPr>
        <p:txBody>
          <a:bodyPr/>
          <a:lstStyle/>
          <a:p>
            <a:pPr algn="r">
              <a:defRPr sz="1125" b="1">
                <a:solidFill>
                  <a:srgbClr val="F97316"/>
                </a:solidFill>
                <a:latin typeface="Yu Gothic"/>
                <a:ea typeface="Yu Gothic"/>
                <a:cs typeface="Yu Gothic"/>
              </a:defRPr>
            </a:pPr>
            <a:r>
              <a:rPr sz="1125" b="1">
                <a:solidFill>
                  <a:srgbClr val="F97316"/>
                </a:solidFill>
                <a:latin typeface="Yu Gothic"/>
                <a:ea typeface="Yu Gothic"/>
                <a:cs typeface="Yu Gothic"/>
              </a:rPr>
              <a:t>0.5718</a:t>
            </a:r>
          </a:p>
        </p:txBody>
      </p:sp>
      <p:sp>
        <p:nvSpPr>
          <p:cNvPr id="52" name="角丸四角形 51">
            <a:extLst>
              <a:ext uri="{FF2B5EF4-FFF2-40B4-BE49-F238E27FC236}">
                <a16:creationId xmlns:a16="http://schemas.microsoft.com/office/drawing/2014/main" id="{8752D4C1-D07B-4B88-924A-46314659D976}"/>
              </a:ext>
            </a:extLst>
          </p:cNvPr>
          <p:cNvSpPr>
            <a:spLocks noGrp="1"/>
          </p:cNvSpPr>
          <p:nvPr/>
        </p:nvSpPr>
        <p:spPr>
          <a:xfrm>
            <a:off x="6877050" y="4210050"/>
            <a:ext cx="1352550" cy="304800"/>
          </a:xfrm>
          <a:prstGeom prst="roundRect">
            <a:avLst>
              <a:gd name="adj" fmla="val 50000"/>
            </a:avLst>
          </a:prstGeom>
          <a:solidFill>
            <a:srgbClr val="F97316"/>
          </a:solidFill>
          <a:ln w="0">
            <a:noFill/>
            <a:prstDash val="solid"/>
          </a:ln>
        </p:spPr>
        <p:txBody>
          <a:bodyPr/>
          <a:lstStyle/>
          <a:p>
            <a:endParaRPr lang="ja-JP" altLang="en-US"/>
          </a:p>
        </p:txBody>
      </p:sp>
      <p:sp>
        <p:nvSpPr>
          <p:cNvPr id="53" name="正方形/長方形 52">
            <a:extLst>
              <a:ext uri="{FF2B5EF4-FFF2-40B4-BE49-F238E27FC236}">
                <a16:creationId xmlns:a16="http://schemas.microsoft.com/office/drawing/2014/main" id="{025F78E8-CC14-42FE-9452-450A71DE361B}"/>
              </a:ext>
            </a:extLst>
          </p:cNvPr>
          <p:cNvSpPr>
            <a:spLocks noGrp="1"/>
          </p:cNvSpPr>
          <p:nvPr/>
        </p:nvSpPr>
        <p:spPr>
          <a:xfrm>
            <a:off x="6991350" y="4267200"/>
            <a:ext cx="1123950" cy="190500"/>
          </a:xfrm>
          <a:prstGeom prst="rect">
            <a:avLst/>
          </a:prstGeom>
          <a:noFill/>
          <a:ln w="0">
            <a:noFill/>
            <a:prstDash val="solid"/>
          </a:ln>
        </p:spPr>
        <p:txBody>
          <a:bodyPr/>
          <a:lstStyle/>
          <a:p>
            <a:pPr algn="ctr">
              <a:defRPr sz="975" b="1">
                <a:solidFill>
                  <a:srgbClr val="FFFFFF"/>
                </a:solidFill>
                <a:latin typeface="Yu Gothic"/>
                <a:ea typeface="Yu Gothic"/>
                <a:cs typeface="Yu Gothic"/>
              </a:defRPr>
            </a:pPr>
            <a:r>
              <a:rPr sz="975" b="1">
                <a:solidFill>
                  <a:srgbClr val="FFFFFF"/>
                </a:solidFill>
                <a:latin typeface="Yu Gothic"/>
                <a:ea typeface="Yu Gothic"/>
                <a:cs typeface="Yu Gothic"/>
              </a:rPr>
              <a:t>hardest fold</a:t>
            </a:r>
          </a:p>
        </p:txBody>
      </p:sp>
      <p:sp>
        <p:nvSpPr>
          <p:cNvPr id="54" name="角丸四角形 53">
            <a:extLst>
              <a:ext uri="{FF2B5EF4-FFF2-40B4-BE49-F238E27FC236}">
                <a16:creationId xmlns:a16="http://schemas.microsoft.com/office/drawing/2014/main" id="{A816A08F-A4E8-4031-9388-E1C48CA62822}"/>
              </a:ext>
            </a:extLst>
          </p:cNvPr>
          <p:cNvSpPr>
            <a:spLocks noGrp="1"/>
          </p:cNvSpPr>
          <p:nvPr/>
        </p:nvSpPr>
        <p:spPr>
          <a:xfrm>
            <a:off x="9201150" y="1524000"/>
            <a:ext cx="2324100" cy="3181350"/>
          </a:xfrm>
          <a:prstGeom prst="roundRect">
            <a:avLst>
              <a:gd name="adj" fmla="val 6557"/>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55" name="正方形/長方形 54">
            <a:extLst>
              <a:ext uri="{FF2B5EF4-FFF2-40B4-BE49-F238E27FC236}">
                <a16:creationId xmlns:a16="http://schemas.microsoft.com/office/drawing/2014/main" id="{63BA7214-0F9B-4C25-A5A2-EBD97883A5AC}"/>
              </a:ext>
            </a:extLst>
          </p:cNvPr>
          <p:cNvSpPr>
            <a:spLocks noGrp="1"/>
          </p:cNvSpPr>
          <p:nvPr/>
        </p:nvSpPr>
        <p:spPr>
          <a:xfrm>
            <a:off x="9410700" y="1733550"/>
            <a:ext cx="1524000" cy="285750"/>
          </a:xfrm>
          <a:prstGeom prst="rect">
            <a:avLst/>
          </a:prstGeom>
          <a:noFill/>
          <a:ln w="0">
            <a:noFill/>
            <a:prstDash val="solid"/>
          </a:ln>
        </p:spPr>
        <p:txBody>
          <a:bodyPr/>
          <a:lstStyle/>
          <a:p>
            <a:pPr algn="l">
              <a:defRPr sz="1725" b="1">
                <a:solidFill>
                  <a:srgbClr val="0B1220"/>
                </a:solidFill>
                <a:latin typeface="Yu Gothic"/>
                <a:ea typeface="Yu Gothic"/>
                <a:cs typeface="Yu Gothic"/>
              </a:defRPr>
            </a:pPr>
            <a:r>
              <a:rPr sz="1725" b="1">
                <a:solidFill>
                  <a:srgbClr val="0B1220"/>
                </a:solidFill>
                <a:latin typeface="Yu Gothic"/>
                <a:ea typeface="Yu Gothic"/>
                <a:cs typeface="Yu Gothic"/>
              </a:rPr>
              <a:t>Subject 5</a:t>
            </a:r>
          </a:p>
        </p:txBody>
      </p:sp>
      <p:sp>
        <p:nvSpPr>
          <p:cNvPr id="56" name="正方形/長方形 55">
            <a:extLst>
              <a:ext uri="{FF2B5EF4-FFF2-40B4-BE49-F238E27FC236}">
                <a16:creationId xmlns:a16="http://schemas.microsoft.com/office/drawing/2014/main" id="{0449745B-AD01-466F-9E25-75DA42FE29FE}"/>
              </a:ext>
            </a:extLst>
          </p:cNvPr>
          <p:cNvSpPr>
            <a:spLocks noGrp="1"/>
          </p:cNvSpPr>
          <p:nvPr/>
        </p:nvSpPr>
        <p:spPr>
          <a:xfrm>
            <a:off x="9410700" y="2076450"/>
            <a:ext cx="1714500" cy="209550"/>
          </a:xfrm>
          <a:prstGeom prst="rect">
            <a:avLst/>
          </a:prstGeom>
          <a:noFill/>
          <a:ln w="0">
            <a:noFill/>
            <a:prstDash val="solid"/>
          </a:ln>
        </p:spPr>
        <p:txBody>
          <a:bodyPr/>
          <a:lstStyle/>
          <a:p>
            <a:pPr algn="l">
              <a:defRPr sz="975" b="0">
                <a:solidFill>
                  <a:srgbClr val="64748B"/>
                </a:solidFill>
                <a:latin typeface="Yu Gothic"/>
                <a:ea typeface="Yu Gothic"/>
                <a:cs typeface="Yu Gothic"/>
              </a:defRPr>
            </a:pPr>
            <a:r>
              <a:rPr sz="975" b="0">
                <a:solidFill>
                  <a:srgbClr val="64748B"/>
                </a:solidFill>
                <a:latin typeface="Yu Gothic"/>
                <a:ea typeface="Yu Gothic"/>
                <a:cs typeface="Yu Gothic"/>
              </a:rPr>
              <a:t>2,378 windows</a:t>
            </a:r>
          </a:p>
        </p:txBody>
      </p:sp>
      <p:sp>
        <p:nvSpPr>
          <p:cNvPr id="57" name="正方形/長方形 56">
            <a:extLst>
              <a:ext uri="{FF2B5EF4-FFF2-40B4-BE49-F238E27FC236}">
                <a16:creationId xmlns:a16="http://schemas.microsoft.com/office/drawing/2014/main" id="{7B2DDA3E-2C7E-435A-99A6-01DFE42384C8}"/>
              </a:ext>
            </a:extLst>
          </p:cNvPr>
          <p:cNvSpPr>
            <a:spLocks noGrp="1"/>
          </p:cNvSpPr>
          <p:nvPr/>
        </p:nvSpPr>
        <p:spPr>
          <a:xfrm>
            <a:off x="9410700" y="2476500"/>
            <a:ext cx="857250" cy="209550"/>
          </a:xfrm>
          <a:prstGeom prst="rect">
            <a:avLst/>
          </a:prstGeom>
          <a:noFill/>
          <a:ln w="0">
            <a:noFill/>
            <a:prstDash val="solid"/>
          </a:ln>
        </p:spPr>
        <p:txBody>
          <a:bodyPr/>
          <a:lstStyle/>
          <a:p>
            <a:pPr algn="l">
              <a:defRPr sz="1050" b="1">
                <a:solidFill>
                  <a:srgbClr val="334155"/>
                </a:solidFill>
                <a:latin typeface="Yu Gothic"/>
                <a:ea typeface="Yu Gothic"/>
                <a:cs typeface="Yu Gothic"/>
              </a:defRPr>
            </a:pPr>
            <a:r>
              <a:rPr sz="1050" b="1">
                <a:solidFill>
                  <a:srgbClr val="334155"/>
                </a:solidFill>
                <a:latin typeface="Yu Gothic"/>
                <a:ea typeface="Yu Gothic"/>
                <a:cs typeface="Yu Gothic"/>
              </a:rPr>
              <a:t>Accuracy</a:t>
            </a:r>
          </a:p>
        </p:txBody>
      </p:sp>
      <p:sp>
        <p:nvSpPr>
          <p:cNvPr id="58" name="角丸四角形 57">
            <a:extLst>
              <a:ext uri="{FF2B5EF4-FFF2-40B4-BE49-F238E27FC236}">
                <a16:creationId xmlns:a16="http://schemas.microsoft.com/office/drawing/2014/main" id="{8E80A206-1EB3-4ECB-8944-88C9F43995A5}"/>
              </a:ext>
            </a:extLst>
          </p:cNvPr>
          <p:cNvSpPr>
            <a:spLocks noGrp="1"/>
          </p:cNvSpPr>
          <p:nvPr/>
        </p:nvSpPr>
        <p:spPr>
          <a:xfrm>
            <a:off x="9410700" y="2743200"/>
            <a:ext cx="1524000" cy="114300"/>
          </a:xfrm>
          <a:prstGeom prst="roundRect">
            <a:avLst>
              <a:gd name="adj" fmla="val 50000"/>
            </a:avLst>
          </a:prstGeom>
          <a:solidFill>
            <a:srgbClr val="E2E8F0"/>
          </a:solidFill>
          <a:ln w="0">
            <a:noFill/>
            <a:prstDash val="solid"/>
          </a:ln>
        </p:spPr>
        <p:txBody>
          <a:bodyPr/>
          <a:lstStyle/>
          <a:p>
            <a:endParaRPr lang="ja-JP" altLang="en-US"/>
          </a:p>
        </p:txBody>
      </p:sp>
      <p:sp>
        <p:nvSpPr>
          <p:cNvPr id="59" name="角丸四角形 58">
            <a:extLst>
              <a:ext uri="{FF2B5EF4-FFF2-40B4-BE49-F238E27FC236}">
                <a16:creationId xmlns:a16="http://schemas.microsoft.com/office/drawing/2014/main" id="{382FA6E5-F121-491B-811B-21A8241D3D58}"/>
              </a:ext>
            </a:extLst>
          </p:cNvPr>
          <p:cNvSpPr>
            <a:spLocks noGrp="1"/>
          </p:cNvSpPr>
          <p:nvPr/>
        </p:nvSpPr>
        <p:spPr>
          <a:xfrm>
            <a:off x="9410700" y="2743200"/>
            <a:ext cx="998483" cy="114300"/>
          </a:xfrm>
          <a:prstGeom prst="roundRect">
            <a:avLst>
              <a:gd name="adj" fmla="val 50000"/>
            </a:avLst>
          </a:prstGeom>
          <a:solidFill>
            <a:srgbClr val="0EA5E9"/>
          </a:solidFill>
          <a:ln w="0">
            <a:noFill/>
            <a:prstDash val="solid"/>
          </a:ln>
        </p:spPr>
        <p:txBody>
          <a:bodyPr/>
          <a:lstStyle/>
          <a:p>
            <a:endParaRPr lang="ja-JP" altLang="en-US"/>
          </a:p>
        </p:txBody>
      </p:sp>
      <p:sp>
        <p:nvSpPr>
          <p:cNvPr id="60" name="正方形/長方形 59">
            <a:extLst>
              <a:ext uri="{FF2B5EF4-FFF2-40B4-BE49-F238E27FC236}">
                <a16:creationId xmlns:a16="http://schemas.microsoft.com/office/drawing/2014/main" id="{781A07BD-AF7E-4A77-A419-783C274E8141}"/>
              </a:ext>
            </a:extLst>
          </p:cNvPr>
          <p:cNvSpPr>
            <a:spLocks noGrp="1"/>
          </p:cNvSpPr>
          <p:nvPr/>
        </p:nvSpPr>
        <p:spPr>
          <a:xfrm>
            <a:off x="10401300" y="2476500"/>
            <a:ext cx="876300" cy="209550"/>
          </a:xfrm>
          <a:prstGeom prst="rect">
            <a:avLst/>
          </a:prstGeom>
          <a:noFill/>
          <a:ln w="0">
            <a:noFill/>
            <a:prstDash val="solid"/>
          </a:ln>
        </p:spPr>
        <p:txBody>
          <a:bodyPr/>
          <a:lstStyle/>
          <a:p>
            <a:pPr algn="r">
              <a:defRPr sz="1125" b="1">
                <a:solidFill>
                  <a:srgbClr val="0EA5E9"/>
                </a:solidFill>
                <a:latin typeface="Yu Gothic"/>
                <a:ea typeface="Yu Gothic"/>
                <a:cs typeface="Yu Gothic"/>
              </a:defRPr>
            </a:pPr>
            <a:r>
              <a:rPr sz="1125" b="1">
                <a:solidFill>
                  <a:srgbClr val="0EA5E9"/>
                </a:solidFill>
                <a:latin typeface="Yu Gothic"/>
                <a:ea typeface="Yu Gothic"/>
                <a:cs typeface="Yu Gothic"/>
              </a:rPr>
              <a:t>0.6552</a:t>
            </a:r>
          </a:p>
        </p:txBody>
      </p:sp>
      <p:sp>
        <p:nvSpPr>
          <p:cNvPr id="61" name="正方形/長方形 60">
            <a:extLst>
              <a:ext uri="{FF2B5EF4-FFF2-40B4-BE49-F238E27FC236}">
                <a16:creationId xmlns:a16="http://schemas.microsoft.com/office/drawing/2014/main" id="{609FD24D-D73C-4FE1-95F6-B0EC0E2229B8}"/>
              </a:ext>
            </a:extLst>
          </p:cNvPr>
          <p:cNvSpPr>
            <a:spLocks noGrp="1"/>
          </p:cNvSpPr>
          <p:nvPr/>
        </p:nvSpPr>
        <p:spPr>
          <a:xfrm>
            <a:off x="9410700" y="3124200"/>
            <a:ext cx="857250" cy="209550"/>
          </a:xfrm>
          <a:prstGeom prst="rect">
            <a:avLst/>
          </a:prstGeom>
          <a:noFill/>
          <a:ln w="0">
            <a:noFill/>
            <a:prstDash val="solid"/>
          </a:ln>
        </p:spPr>
        <p:txBody>
          <a:bodyPr/>
          <a:lstStyle/>
          <a:p>
            <a:pPr algn="l">
              <a:defRPr sz="1050" b="1">
                <a:solidFill>
                  <a:srgbClr val="334155"/>
                </a:solidFill>
                <a:latin typeface="Yu Gothic"/>
                <a:ea typeface="Yu Gothic"/>
                <a:cs typeface="Yu Gothic"/>
              </a:defRPr>
            </a:pPr>
            <a:r>
              <a:rPr sz="1050" b="1">
                <a:solidFill>
                  <a:srgbClr val="334155"/>
                </a:solidFill>
                <a:latin typeface="Yu Gothic"/>
                <a:ea typeface="Yu Gothic"/>
                <a:cs typeface="Yu Gothic"/>
              </a:rPr>
              <a:t>Macro-F1</a:t>
            </a:r>
          </a:p>
        </p:txBody>
      </p:sp>
      <p:sp>
        <p:nvSpPr>
          <p:cNvPr id="62" name="角丸四角形 61">
            <a:extLst>
              <a:ext uri="{FF2B5EF4-FFF2-40B4-BE49-F238E27FC236}">
                <a16:creationId xmlns:a16="http://schemas.microsoft.com/office/drawing/2014/main" id="{BE85FEBC-1AB7-4F12-9580-455F8BFADA52}"/>
              </a:ext>
            </a:extLst>
          </p:cNvPr>
          <p:cNvSpPr>
            <a:spLocks noGrp="1"/>
          </p:cNvSpPr>
          <p:nvPr/>
        </p:nvSpPr>
        <p:spPr>
          <a:xfrm>
            <a:off x="9410700" y="3390900"/>
            <a:ext cx="1524000" cy="114300"/>
          </a:xfrm>
          <a:prstGeom prst="roundRect">
            <a:avLst>
              <a:gd name="adj" fmla="val 50000"/>
            </a:avLst>
          </a:prstGeom>
          <a:solidFill>
            <a:srgbClr val="E2E8F0"/>
          </a:solidFill>
          <a:ln w="0">
            <a:noFill/>
            <a:prstDash val="solid"/>
          </a:ln>
        </p:spPr>
        <p:txBody>
          <a:bodyPr/>
          <a:lstStyle/>
          <a:p>
            <a:endParaRPr lang="ja-JP" altLang="en-US"/>
          </a:p>
        </p:txBody>
      </p:sp>
      <p:sp>
        <p:nvSpPr>
          <p:cNvPr id="63" name="角丸四角形 62">
            <a:extLst>
              <a:ext uri="{FF2B5EF4-FFF2-40B4-BE49-F238E27FC236}">
                <a16:creationId xmlns:a16="http://schemas.microsoft.com/office/drawing/2014/main" id="{EDDE5BC2-DAB8-4DD7-8FF6-05E7D726FA76}"/>
              </a:ext>
            </a:extLst>
          </p:cNvPr>
          <p:cNvSpPr>
            <a:spLocks noGrp="1"/>
          </p:cNvSpPr>
          <p:nvPr/>
        </p:nvSpPr>
        <p:spPr>
          <a:xfrm>
            <a:off x="9410700" y="3390900"/>
            <a:ext cx="1090077" cy="114300"/>
          </a:xfrm>
          <a:prstGeom prst="roundRect">
            <a:avLst>
              <a:gd name="adj" fmla="val 50000"/>
            </a:avLst>
          </a:prstGeom>
          <a:solidFill>
            <a:srgbClr val="8B5CF6"/>
          </a:solidFill>
          <a:ln w="0">
            <a:noFill/>
            <a:prstDash val="solid"/>
          </a:ln>
        </p:spPr>
        <p:txBody>
          <a:bodyPr/>
          <a:lstStyle/>
          <a:p>
            <a:endParaRPr lang="ja-JP" altLang="en-US"/>
          </a:p>
        </p:txBody>
      </p:sp>
      <p:sp>
        <p:nvSpPr>
          <p:cNvPr id="64" name="正方形/長方形 63">
            <a:extLst>
              <a:ext uri="{FF2B5EF4-FFF2-40B4-BE49-F238E27FC236}">
                <a16:creationId xmlns:a16="http://schemas.microsoft.com/office/drawing/2014/main" id="{60D9090E-15BA-4A95-9C2B-DA59E7C98DC8}"/>
              </a:ext>
            </a:extLst>
          </p:cNvPr>
          <p:cNvSpPr>
            <a:spLocks noGrp="1"/>
          </p:cNvSpPr>
          <p:nvPr/>
        </p:nvSpPr>
        <p:spPr>
          <a:xfrm>
            <a:off x="10401300" y="3124200"/>
            <a:ext cx="876300" cy="209550"/>
          </a:xfrm>
          <a:prstGeom prst="rect">
            <a:avLst/>
          </a:prstGeom>
          <a:noFill/>
          <a:ln w="0">
            <a:noFill/>
            <a:prstDash val="solid"/>
          </a:ln>
        </p:spPr>
        <p:txBody>
          <a:bodyPr/>
          <a:lstStyle/>
          <a:p>
            <a:pPr algn="r">
              <a:defRPr sz="1125" b="1">
                <a:solidFill>
                  <a:srgbClr val="8B5CF6"/>
                </a:solidFill>
                <a:latin typeface="Yu Gothic"/>
                <a:ea typeface="Yu Gothic"/>
                <a:cs typeface="Yu Gothic"/>
              </a:defRPr>
            </a:pPr>
            <a:r>
              <a:rPr sz="1125" b="1">
                <a:solidFill>
                  <a:srgbClr val="8B5CF6"/>
                </a:solidFill>
                <a:latin typeface="Yu Gothic"/>
                <a:ea typeface="Yu Gothic"/>
                <a:cs typeface="Yu Gothic"/>
              </a:rPr>
              <a:t>0.7153</a:t>
            </a:r>
          </a:p>
        </p:txBody>
      </p:sp>
      <p:sp>
        <p:nvSpPr>
          <p:cNvPr id="65" name="正方形/長方形 64">
            <a:extLst>
              <a:ext uri="{FF2B5EF4-FFF2-40B4-BE49-F238E27FC236}">
                <a16:creationId xmlns:a16="http://schemas.microsoft.com/office/drawing/2014/main" id="{B06F6230-3455-4888-87F6-309705A46F25}"/>
              </a:ext>
            </a:extLst>
          </p:cNvPr>
          <p:cNvSpPr>
            <a:spLocks noGrp="1"/>
          </p:cNvSpPr>
          <p:nvPr/>
        </p:nvSpPr>
        <p:spPr>
          <a:xfrm>
            <a:off x="9410700" y="3771900"/>
            <a:ext cx="857250" cy="209550"/>
          </a:xfrm>
          <a:prstGeom prst="rect">
            <a:avLst/>
          </a:prstGeom>
          <a:noFill/>
          <a:ln w="0">
            <a:noFill/>
            <a:prstDash val="solid"/>
          </a:ln>
        </p:spPr>
        <p:txBody>
          <a:bodyPr/>
          <a:lstStyle/>
          <a:p>
            <a:pPr algn="l">
              <a:defRPr sz="1050" b="1">
                <a:solidFill>
                  <a:srgbClr val="334155"/>
                </a:solidFill>
                <a:latin typeface="Yu Gothic"/>
                <a:ea typeface="Yu Gothic"/>
                <a:cs typeface="Yu Gothic"/>
              </a:defRPr>
            </a:pPr>
            <a:r>
              <a:rPr sz="1050" b="1">
                <a:solidFill>
                  <a:srgbClr val="334155"/>
                </a:solidFill>
                <a:latin typeface="Yu Gothic"/>
                <a:ea typeface="Yu Gothic"/>
                <a:cs typeface="Yu Gothic"/>
              </a:rPr>
              <a:t>異常F1</a:t>
            </a:r>
          </a:p>
        </p:txBody>
      </p:sp>
      <p:sp>
        <p:nvSpPr>
          <p:cNvPr id="66" name="角丸四角形 65">
            <a:extLst>
              <a:ext uri="{FF2B5EF4-FFF2-40B4-BE49-F238E27FC236}">
                <a16:creationId xmlns:a16="http://schemas.microsoft.com/office/drawing/2014/main" id="{6B2A8A4B-EE88-4FBE-A8BC-16915A17061A}"/>
              </a:ext>
            </a:extLst>
          </p:cNvPr>
          <p:cNvSpPr>
            <a:spLocks noGrp="1"/>
          </p:cNvSpPr>
          <p:nvPr/>
        </p:nvSpPr>
        <p:spPr>
          <a:xfrm>
            <a:off x="9410700" y="4038600"/>
            <a:ext cx="1524000" cy="114300"/>
          </a:xfrm>
          <a:prstGeom prst="roundRect">
            <a:avLst>
              <a:gd name="adj" fmla="val 50000"/>
            </a:avLst>
          </a:prstGeom>
          <a:solidFill>
            <a:srgbClr val="E2E8F0"/>
          </a:solidFill>
          <a:ln w="0">
            <a:noFill/>
            <a:prstDash val="solid"/>
          </a:ln>
        </p:spPr>
        <p:txBody>
          <a:bodyPr/>
          <a:lstStyle/>
          <a:p>
            <a:endParaRPr lang="ja-JP" altLang="en-US"/>
          </a:p>
        </p:txBody>
      </p:sp>
      <p:sp>
        <p:nvSpPr>
          <p:cNvPr id="67" name="角丸四角形 66">
            <a:extLst>
              <a:ext uri="{FF2B5EF4-FFF2-40B4-BE49-F238E27FC236}">
                <a16:creationId xmlns:a16="http://schemas.microsoft.com/office/drawing/2014/main" id="{922C4248-2B7E-4D4B-ADA6-525B854C880D}"/>
              </a:ext>
            </a:extLst>
          </p:cNvPr>
          <p:cNvSpPr>
            <a:spLocks noGrp="1"/>
          </p:cNvSpPr>
          <p:nvPr/>
        </p:nvSpPr>
        <p:spPr>
          <a:xfrm>
            <a:off x="9410700" y="4038600"/>
            <a:ext cx="1326844" cy="114300"/>
          </a:xfrm>
          <a:prstGeom prst="roundRect">
            <a:avLst>
              <a:gd name="adj" fmla="val 50000"/>
            </a:avLst>
          </a:prstGeom>
          <a:solidFill>
            <a:srgbClr val="F97316"/>
          </a:solidFill>
          <a:ln w="0">
            <a:noFill/>
            <a:prstDash val="solid"/>
          </a:ln>
        </p:spPr>
        <p:txBody>
          <a:bodyPr/>
          <a:lstStyle/>
          <a:p>
            <a:endParaRPr lang="ja-JP" altLang="en-US"/>
          </a:p>
        </p:txBody>
      </p:sp>
      <p:sp>
        <p:nvSpPr>
          <p:cNvPr id="68" name="正方形/長方形 67">
            <a:extLst>
              <a:ext uri="{FF2B5EF4-FFF2-40B4-BE49-F238E27FC236}">
                <a16:creationId xmlns:a16="http://schemas.microsoft.com/office/drawing/2014/main" id="{5B3C63B8-2379-4162-8322-C75770D505AD}"/>
              </a:ext>
            </a:extLst>
          </p:cNvPr>
          <p:cNvSpPr>
            <a:spLocks noGrp="1"/>
          </p:cNvSpPr>
          <p:nvPr/>
        </p:nvSpPr>
        <p:spPr>
          <a:xfrm>
            <a:off x="10401300" y="3771900"/>
            <a:ext cx="876300" cy="209550"/>
          </a:xfrm>
          <a:prstGeom prst="rect">
            <a:avLst/>
          </a:prstGeom>
          <a:noFill/>
          <a:ln w="0">
            <a:noFill/>
            <a:prstDash val="solid"/>
          </a:ln>
        </p:spPr>
        <p:txBody>
          <a:bodyPr/>
          <a:lstStyle/>
          <a:p>
            <a:pPr algn="r">
              <a:defRPr sz="1125" b="1">
                <a:solidFill>
                  <a:srgbClr val="F97316"/>
                </a:solidFill>
                <a:latin typeface="Yu Gothic"/>
                <a:ea typeface="Yu Gothic"/>
                <a:cs typeface="Yu Gothic"/>
              </a:defRPr>
            </a:pPr>
            <a:r>
              <a:rPr sz="1125" b="1">
                <a:solidFill>
                  <a:srgbClr val="F97316"/>
                </a:solidFill>
                <a:latin typeface="Yu Gothic"/>
                <a:ea typeface="Yu Gothic"/>
                <a:cs typeface="Yu Gothic"/>
              </a:rPr>
              <a:t>0.8706</a:t>
            </a:r>
          </a:p>
        </p:txBody>
      </p:sp>
      <p:sp>
        <p:nvSpPr>
          <p:cNvPr id="69" name="角丸四角形 68">
            <a:extLst>
              <a:ext uri="{FF2B5EF4-FFF2-40B4-BE49-F238E27FC236}">
                <a16:creationId xmlns:a16="http://schemas.microsoft.com/office/drawing/2014/main" id="{C455D9B5-D753-48E3-AB3C-0114E5040E78}"/>
              </a:ext>
            </a:extLst>
          </p:cNvPr>
          <p:cNvSpPr>
            <a:spLocks noGrp="1"/>
          </p:cNvSpPr>
          <p:nvPr/>
        </p:nvSpPr>
        <p:spPr>
          <a:xfrm>
            <a:off x="1657350" y="5219700"/>
            <a:ext cx="8877300" cy="514350"/>
          </a:xfrm>
          <a:prstGeom prst="roundRect">
            <a:avLst>
              <a:gd name="adj" fmla="val 29630"/>
            </a:avLst>
          </a:prstGeom>
          <a:solidFill>
            <a:srgbClr val="0B1220"/>
          </a:solidFill>
          <a:ln w="0">
            <a:noFill/>
            <a:prstDash val="solid"/>
          </a:ln>
        </p:spPr>
        <p:txBody>
          <a:bodyPr/>
          <a:lstStyle/>
          <a:p>
            <a:endParaRPr lang="ja-JP" altLang="en-US"/>
          </a:p>
        </p:txBody>
      </p:sp>
      <p:sp>
        <p:nvSpPr>
          <p:cNvPr id="70" name="正方形/長方形 69">
            <a:extLst>
              <a:ext uri="{FF2B5EF4-FFF2-40B4-BE49-F238E27FC236}">
                <a16:creationId xmlns:a16="http://schemas.microsoft.com/office/drawing/2014/main" id="{446ABE9C-1941-4078-A033-16B0813DA8A4}"/>
              </a:ext>
            </a:extLst>
          </p:cNvPr>
          <p:cNvSpPr>
            <a:spLocks noGrp="1"/>
          </p:cNvSpPr>
          <p:nvPr/>
        </p:nvSpPr>
        <p:spPr>
          <a:xfrm>
            <a:off x="1962150" y="5353050"/>
            <a:ext cx="8267700" cy="266700"/>
          </a:xfrm>
          <a:prstGeom prst="rect">
            <a:avLst/>
          </a:prstGeom>
          <a:noFill/>
          <a:ln w="0">
            <a:noFill/>
            <a:prstDash val="solid"/>
          </a:ln>
        </p:spPr>
        <p:txBody>
          <a:bodyPr/>
          <a:lstStyle/>
          <a:p>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Subject 3で大きく低下。つまり、平均値だけでなく「未知人物ごとのばらつき」が重要。</a:t>
            </a:r>
          </a:p>
        </p:txBody>
      </p:sp>
    </p:spTree>
    <p:extLst>
      <p:ext uri="{BB962C8B-B14F-4D97-AF65-F5344CB8AC3E}">
        <p14:creationId xmlns:p14="http://schemas.microsoft.com/office/powerpoint/2010/main" val="946001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85" name="正方形/長方形 84">
            <a:extLst>
              <a:ext uri="{FF2B5EF4-FFF2-40B4-BE49-F238E27FC236}">
                <a16:creationId xmlns:a16="http://schemas.microsoft.com/office/drawing/2014/main" id="{A3F0C392-28E0-4618-9AD6-A18381DE9B4A}"/>
              </a:ext>
            </a:extLst>
          </p:cNvPr>
          <p:cNvSpPr>
            <a:spLocks noGrp="1"/>
          </p:cNvSpPr>
          <p:nvPr/>
        </p:nvSpPr>
        <p:spPr>
          <a:xfrm>
            <a:off x="609600" y="381000"/>
            <a:ext cx="5905500" cy="228600"/>
          </a:xfrm>
          <a:prstGeom prst="rect">
            <a:avLst/>
          </a:prstGeom>
          <a:noFill/>
          <a:ln w="0">
            <a:noFill/>
            <a:prstDash val="solid"/>
          </a:ln>
        </p:spPr>
        <p:txBody>
          <a:bodyPr/>
          <a:lstStyle/>
          <a:p>
            <a:pPr algn="l">
              <a:defRPr sz="900" b="1">
                <a:solidFill>
                  <a:srgbClr val="38BDF8"/>
                </a:solidFill>
                <a:latin typeface="Yu Gothic"/>
                <a:ea typeface="Yu Gothic"/>
                <a:cs typeface="Yu Gothic"/>
              </a:defRPr>
            </a:pPr>
            <a:r>
              <a:rPr sz="900" b="1">
                <a:solidFill>
                  <a:srgbClr val="38BDF8"/>
                </a:solidFill>
                <a:latin typeface="Yu Gothic"/>
                <a:ea typeface="Yu Gothic"/>
                <a:cs typeface="Yu Gothic"/>
              </a:rPr>
              <a:t>PER-CLASS PRECISION / RECALL / F1</a:t>
            </a:r>
          </a:p>
        </p:txBody>
      </p:sp>
      <p:sp>
        <p:nvSpPr>
          <p:cNvPr id="2" name="正方形/長方形 1">
            <a:extLst>
              <a:ext uri="{FF2B5EF4-FFF2-40B4-BE49-F238E27FC236}">
                <a16:creationId xmlns:a16="http://schemas.microsoft.com/office/drawing/2014/main" id="{183DDCF5-793A-4B5F-8B51-3A23B8AC7362}"/>
              </a:ext>
            </a:extLst>
          </p:cNvPr>
          <p:cNvSpPr>
            <a:spLocks noGrp="1"/>
          </p:cNvSpPr>
          <p:nvPr/>
        </p:nvSpPr>
        <p:spPr>
          <a:xfrm>
            <a:off x="609600" y="647700"/>
            <a:ext cx="8096250" cy="514350"/>
          </a:xfrm>
          <a:prstGeom prst="rect">
            <a:avLst/>
          </a:prstGeom>
          <a:noFill/>
          <a:ln w="0">
            <a:noFill/>
            <a:prstDash val="solid"/>
          </a:ln>
        </p:spPr>
        <p:txBody>
          <a:bodyPr/>
          <a:lstStyle/>
          <a:p>
            <a:pPr algn="l">
              <a:defRPr sz="2700" b="1">
                <a:solidFill>
                  <a:srgbClr val="FFFFFF"/>
                </a:solidFill>
                <a:latin typeface="Yu Gothic"/>
                <a:ea typeface="Yu Gothic"/>
                <a:cs typeface="Yu Gothic"/>
              </a:defRPr>
            </a:pPr>
            <a:r>
              <a:rPr sz="2700" b="1">
                <a:solidFill>
                  <a:srgbClr val="FFFFFF"/>
                </a:solidFill>
                <a:latin typeface="Yu Gothic"/>
                <a:ea typeface="Yu Gothic"/>
                <a:cs typeface="Yu Gothic"/>
              </a:rPr>
              <a:t>結果 3: クラス別の見え方</a:t>
            </a:r>
          </a:p>
        </p:txBody>
      </p:sp>
      <p:sp>
        <p:nvSpPr>
          <p:cNvPr id="3" name="正方形/長方形 2">
            <a:extLst>
              <a:ext uri="{FF2B5EF4-FFF2-40B4-BE49-F238E27FC236}">
                <a16:creationId xmlns:a16="http://schemas.microsoft.com/office/drawing/2014/main" id="{057DE1D0-CC2A-476D-A502-C7FCBADBB17E}"/>
              </a:ext>
            </a:extLst>
          </p:cNvPr>
          <p:cNvSpPr>
            <a:spLocks noGrp="1"/>
          </p:cNvSpPr>
          <p:nvPr/>
        </p:nvSpPr>
        <p:spPr>
          <a:xfrm>
            <a:off x="609600" y="1200150"/>
            <a:ext cx="742950" cy="38100"/>
          </a:xfrm>
          <a:prstGeom prst="rect">
            <a:avLst/>
          </a:prstGeom>
          <a:solidFill>
            <a:srgbClr val="38BDF8"/>
          </a:solidFill>
          <a:ln w="0">
            <a:noFill/>
            <a:prstDash val="solid"/>
          </a:ln>
        </p:spPr>
        <p:txBody>
          <a:bodyPr/>
          <a:lstStyle/>
          <a:p>
            <a:endParaRPr lang="ja-JP" altLang="en-US"/>
          </a:p>
        </p:txBody>
      </p:sp>
      <p:sp>
        <p:nvSpPr>
          <p:cNvPr id="4" name="正方形/長方形 3">
            <a:extLst>
              <a:ext uri="{FF2B5EF4-FFF2-40B4-BE49-F238E27FC236}">
                <a16:creationId xmlns:a16="http://schemas.microsoft.com/office/drawing/2014/main" id="{4D9F49DC-9C28-4697-9FA4-1A418EFAEBBF}"/>
              </a:ext>
            </a:extLst>
          </p:cNvPr>
          <p:cNvSpPr>
            <a:spLocks noGrp="1"/>
          </p:cNvSpPr>
          <p:nvPr/>
        </p:nvSpPr>
        <p:spPr>
          <a:xfrm>
            <a:off x="7810500" y="419100"/>
            <a:ext cx="3771900" cy="228600"/>
          </a:xfrm>
          <a:prstGeom prst="rect">
            <a:avLst/>
          </a:prstGeom>
          <a:noFill/>
          <a:ln w="0">
            <a:noFill/>
            <a:prstDash val="solid"/>
          </a:ln>
        </p:spPr>
        <p:txBody>
          <a:bodyPr/>
          <a:lstStyle/>
          <a:p>
            <a:pPr algn="r">
              <a:defRPr sz="900" b="0">
                <a:solidFill>
                  <a:srgbClr val="94A3B8"/>
                </a:solidFill>
                <a:latin typeface="Yu Gothic"/>
                <a:ea typeface="Yu Gothic"/>
                <a:cs typeface="Yu Gothic"/>
              </a:defRPr>
            </a:pPr>
            <a:r>
              <a:rPr sz="900" b="0">
                <a:solidFill>
                  <a:srgbClr val="94A3B8"/>
                </a:solidFill>
                <a:latin typeface="Yu Gothic"/>
                <a:ea typeface="Yu Gothic"/>
                <a:cs typeface="Yu Gothic"/>
              </a:rPr>
              <a:t>Pose-keypoint unusual activity recognition</a:t>
            </a:r>
          </a:p>
        </p:txBody>
      </p:sp>
      <p:sp>
        <p:nvSpPr>
          <p:cNvPr id="5" name="正方形/長方形 4">
            <a:extLst>
              <a:ext uri="{FF2B5EF4-FFF2-40B4-BE49-F238E27FC236}">
                <a16:creationId xmlns:a16="http://schemas.microsoft.com/office/drawing/2014/main" id="{0EA3AB3F-A5CC-4048-ADFD-05089C6E2084}"/>
              </a:ext>
            </a:extLst>
          </p:cNvPr>
          <p:cNvSpPr>
            <a:spLocks noGrp="1"/>
          </p:cNvSpPr>
          <p:nvPr/>
        </p:nvSpPr>
        <p:spPr>
          <a:xfrm>
            <a:off x="609600" y="6496050"/>
            <a:ext cx="6477000" cy="190500"/>
          </a:xfrm>
          <a:prstGeom prst="rect">
            <a:avLst/>
          </a:prstGeom>
          <a:noFill/>
          <a:ln w="0">
            <a:noFill/>
            <a:prstDash val="solid"/>
          </a:ln>
        </p:spPr>
        <p:txBody>
          <a:bodyPr/>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Sources: specification / LOSO metrics / per-class CSV</a:t>
            </a:r>
          </a:p>
        </p:txBody>
      </p:sp>
      <p:sp>
        <p:nvSpPr>
          <p:cNvPr id="6" name="正方形/長方形 5">
            <a:extLst>
              <a:ext uri="{FF2B5EF4-FFF2-40B4-BE49-F238E27FC236}">
                <a16:creationId xmlns:a16="http://schemas.microsoft.com/office/drawing/2014/main" id="{5F1D7A24-3441-48B9-9351-2CC806A50D37}"/>
              </a:ext>
            </a:extLst>
          </p:cNvPr>
          <p:cNvSpPr>
            <a:spLocks noGrp="1"/>
          </p:cNvSpPr>
          <p:nvPr/>
        </p:nvSpPr>
        <p:spPr>
          <a:xfrm>
            <a:off x="10744200" y="6477000"/>
            <a:ext cx="838200" cy="209550"/>
          </a:xfrm>
          <a:prstGeom prst="rect">
            <a:avLst/>
          </a:prstGeom>
          <a:noFill/>
          <a:ln w="0">
            <a:noFill/>
            <a:prstDash val="solid"/>
          </a:ln>
        </p:spPr>
        <p:txBody>
          <a:bodyPr/>
          <a:lstStyle/>
          <a:p>
            <a:pPr algn="r">
              <a:defRPr sz="900" b="1">
                <a:solidFill>
                  <a:srgbClr val="94A3B8"/>
                </a:solidFill>
                <a:latin typeface="Yu Gothic"/>
                <a:ea typeface="Yu Gothic"/>
                <a:cs typeface="Yu Gothic"/>
              </a:defRPr>
            </a:pPr>
            <a:r>
              <a:rPr sz="900" b="1">
                <a:solidFill>
                  <a:srgbClr val="94A3B8"/>
                </a:solidFill>
                <a:latin typeface="Yu Gothic"/>
                <a:ea typeface="Yu Gothic"/>
                <a:cs typeface="Yu Gothic"/>
              </a:rPr>
              <a:t>8/10</a:t>
            </a:r>
          </a:p>
        </p:txBody>
      </p:sp>
      <p:sp>
        <p:nvSpPr>
          <p:cNvPr id="7" name="正方形/長方形 6">
            <a:extLst>
              <a:ext uri="{FF2B5EF4-FFF2-40B4-BE49-F238E27FC236}">
                <a16:creationId xmlns:a16="http://schemas.microsoft.com/office/drawing/2014/main" id="{0AADB8DE-1286-4DF4-88B6-D16C5BF48478}"/>
              </a:ext>
            </a:extLst>
          </p:cNvPr>
          <p:cNvSpPr>
            <a:spLocks noGrp="1"/>
          </p:cNvSpPr>
          <p:nvPr/>
        </p:nvSpPr>
        <p:spPr>
          <a:xfrm>
            <a:off x="685800" y="1409700"/>
            <a:ext cx="2381250" cy="247650"/>
          </a:xfrm>
          <a:prstGeom prst="rect">
            <a:avLst/>
          </a:prstGeom>
          <a:noFill/>
          <a:ln w="0">
            <a:noFill/>
            <a:prstDash val="solid"/>
          </a:ln>
        </p:spPr>
        <p:txBody>
          <a:bodyPr/>
          <a:lstStyle/>
          <a:p>
            <a:pPr algn="l">
              <a:defRPr sz="1575" b="1">
                <a:solidFill>
                  <a:srgbClr val="FFFFFF"/>
                </a:solidFill>
                <a:latin typeface="Yu Gothic"/>
                <a:ea typeface="Yu Gothic"/>
                <a:cs typeface="Yu Gothic"/>
              </a:defRPr>
            </a:pPr>
            <a:r>
              <a:rPr sz="1575" b="1">
                <a:solidFill>
                  <a:srgbClr val="FFFFFF"/>
                </a:solidFill>
                <a:latin typeface="Yu Gothic"/>
                <a:ea typeface="Yu Gothic"/>
                <a:cs typeface="Yu Gothic"/>
              </a:rPr>
              <a:t>全体F1の傾向</a:t>
            </a:r>
          </a:p>
        </p:txBody>
      </p:sp>
      <p:sp>
        <p:nvSpPr>
          <p:cNvPr id="8" name="正方形/長方形 7">
            <a:extLst>
              <a:ext uri="{FF2B5EF4-FFF2-40B4-BE49-F238E27FC236}">
                <a16:creationId xmlns:a16="http://schemas.microsoft.com/office/drawing/2014/main" id="{3D810A25-4D93-478B-8872-C6BE1C487906}"/>
              </a:ext>
            </a:extLst>
          </p:cNvPr>
          <p:cNvSpPr>
            <a:spLocks noGrp="1"/>
          </p:cNvSpPr>
          <p:nvPr/>
        </p:nvSpPr>
        <p:spPr>
          <a:xfrm>
            <a:off x="742950" y="1828800"/>
            <a:ext cx="1428750" cy="190500"/>
          </a:xfrm>
          <a:prstGeom prst="rect">
            <a:avLst/>
          </a:prstGeom>
          <a:noFill/>
          <a:ln w="0">
            <a:noFill/>
            <a:prstDash val="solid"/>
          </a:ln>
        </p:spPr>
        <p:txBody>
          <a:bodyPr/>
          <a:lstStyle/>
          <a:p>
            <a:pPr algn="l">
              <a:defRPr sz="1050" b="0">
                <a:solidFill>
                  <a:srgbClr val="CBD5E1"/>
                </a:solidFill>
                <a:latin typeface="Yu Gothic"/>
                <a:ea typeface="Yu Gothic"/>
                <a:cs typeface="Yu Gothic"/>
              </a:defRPr>
            </a:pPr>
            <a:r>
              <a:rPr sz="1050" b="0">
                <a:solidFill>
                  <a:srgbClr val="CBD5E1"/>
                </a:solidFill>
                <a:latin typeface="Yu Gothic"/>
                <a:ea typeface="Yu Gothic"/>
                <a:cs typeface="Yu Gothic"/>
              </a:rPr>
              <a:t>Walking</a:t>
            </a:r>
          </a:p>
        </p:txBody>
      </p:sp>
      <p:sp>
        <p:nvSpPr>
          <p:cNvPr id="9" name="角丸四角形 8">
            <a:extLst>
              <a:ext uri="{FF2B5EF4-FFF2-40B4-BE49-F238E27FC236}">
                <a16:creationId xmlns:a16="http://schemas.microsoft.com/office/drawing/2014/main" id="{D6D72C0D-CEBF-4CEE-BF48-83C2C69F7F64}"/>
              </a:ext>
            </a:extLst>
          </p:cNvPr>
          <p:cNvSpPr>
            <a:spLocks noGrp="1"/>
          </p:cNvSpPr>
          <p:nvPr/>
        </p:nvSpPr>
        <p:spPr>
          <a:xfrm>
            <a:off x="2209800" y="1866900"/>
            <a:ext cx="1962150" cy="114300"/>
          </a:xfrm>
          <a:prstGeom prst="roundRect">
            <a:avLst>
              <a:gd name="adj" fmla="val 50000"/>
            </a:avLst>
          </a:prstGeom>
          <a:solidFill>
            <a:srgbClr val="1E293B"/>
          </a:solidFill>
          <a:ln w="0">
            <a:noFill/>
            <a:prstDash val="solid"/>
          </a:ln>
        </p:spPr>
        <p:txBody>
          <a:bodyPr/>
          <a:lstStyle/>
          <a:p>
            <a:endParaRPr lang="ja-JP" altLang="en-US"/>
          </a:p>
        </p:txBody>
      </p:sp>
      <p:sp>
        <p:nvSpPr>
          <p:cNvPr id="10" name="角丸四角形 9">
            <a:extLst>
              <a:ext uri="{FF2B5EF4-FFF2-40B4-BE49-F238E27FC236}">
                <a16:creationId xmlns:a16="http://schemas.microsoft.com/office/drawing/2014/main" id="{DCE9BDA6-7F10-4837-A6D2-20F6A6C6E788}"/>
              </a:ext>
            </a:extLst>
          </p:cNvPr>
          <p:cNvSpPr>
            <a:spLocks noGrp="1"/>
          </p:cNvSpPr>
          <p:nvPr/>
        </p:nvSpPr>
        <p:spPr>
          <a:xfrm>
            <a:off x="2209800" y="1866900"/>
            <a:ext cx="1803223" cy="114300"/>
          </a:xfrm>
          <a:prstGeom prst="roundRect">
            <a:avLst>
              <a:gd name="adj" fmla="val 50000"/>
            </a:avLst>
          </a:prstGeom>
          <a:solidFill>
            <a:srgbClr val="22C55E"/>
          </a:solidFill>
          <a:ln w="0">
            <a:noFill/>
            <a:prstDash val="solid"/>
          </a:ln>
        </p:spPr>
        <p:txBody>
          <a:bodyPr/>
          <a:lstStyle/>
          <a:p>
            <a:endParaRPr lang="ja-JP" altLang="en-US"/>
          </a:p>
        </p:txBody>
      </p:sp>
      <p:sp>
        <p:nvSpPr>
          <p:cNvPr id="11" name="正方形/長方形 10">
            <a:extLst>
              <a:ext uri="{FF2B5EF4-FFF2-40B4-BE49-F238E27FC236}">
                <a16:creationId xmlns:a16="http://schemas.microsoft.com/office/drawing/2014/main" id="{E36D5D38-420E-4AE9-8A5E-CBDB09553C1B}"/>
              </a:ext>
            </a:extLst>
          </p:cNvPr>
          <p:cNvSpPr>
            <a:spLocks noGrp="1"/>
          </p:cNvSpPr>
          <p:nvPr/>
        </p:nvSpPr>
        <p:spPr>
          <a:xfrm>
            <a:off x="4286250" y="1819275"/>
            <a:ext cx="514350" cy="190500"/>
          </a:xfrm>
          <a:prstGeom prst="rect">
            <a:avLst/>
          </a:prstGeom>
          <a:noFill/>
          <a:ln w="0">
            <a:noFill/>
            <a:prstDash val="solid"/>
          </a:ln>
        </p:spPr>
        <p:txBody>
          <a:bodyPr/>
          <a:lstStyle/>
          <a:p>
            <a:pPr algn="r">
              <a:defRPr sz="975" b="1">
                <a:solidFill>
                  <a:srgbClr val="22C55E"/>
                </a:solidFill>
                <a:latin typeface="Yu Gothic"/>
                <a:ea typeface="Yu Gothic"/>
                <a:cs typeface="Yu Gothic"/>
              </a:defRPr>
            </a:pPr>
            <a:r>
              <a:rPr sz="975" b="1">
                <a:solidFill>
                  <a:srgbClr val="22C55E"/>
                </a:solidFill>
                <a:latin typeface="Yu Gothic"/>
                <a:ea typeface="Yu Gothic"/>
                <a:cs typeface="Yu Gothic"/>
              </a:rPr>
              <a:t>0.919</a:t>
            </a:r>
          </a:p>
        </p:txBody>
      </p:sp>
      <p:sp>
        <p:nvSpPr>
          <p:cNvPr id="12" name="正方形/長方形 11">
            <a:extLst>
              <a:ext uri="{FF2B5EF4-FFF2-40B4-BE49-F238E27FC236}">
                <a16:creationId xmlns:a16="http://schemas.microsoft.com/office/drawing/2014/main" id="{93E1EF6F-105B-4AE9-B0C0-785E3FF855D0}"/>
              </a:ext>
            </a:extLst>
          </p:cNvPr>
          <p:cNvSpPr>
            <a:spLocks noGrp="1"/>
          </p:cNvSpPr>
          <p:nvPr/>
        </p:nvSpPr>
        <p:spPr>
          <a:xfrm>
            <a:off x="742950" y="2247900"/>
            <a:ext cx="1428750" cy="190500"/>
          </a:xfrm>
          <a:prstGeom prst="rect">
            <a:avLst/>
          </a:prstGeom>
          <a:noFill/>
          <a:ln w="0">
            <a:noFill/>
            <a:prstDash val="solid"/>
          </a:ln>
        </p:spPr>
        <p:txBody>
          <a:bodyPr/>
          <a:lstStyle/>
          <a:p>
            <a:pPr algn="l">
              <a:defRPr sz="1050" b="0">
                <a:solidFill>
                  <a:srgbClr val="CBD5E1"/>
                </a:solidFill>
                <a:latin typeface="Yu Gothic"/>
                <a:ea typeface="Yu Gothic"/>
                <a:cs typeface="Yu Gothic"/>
              </a:defRPr>
            </a:pPr>
            <a:r>
              <a:rPr sz="1050" b="0">
                <a:solidFill>
                  <a:srgbClr val="CBD5E1"/>
                </a:solidFill>
                <a:latin typeface="Yu Gothic"/>
                <a:ea typeface="Yu Gothic"/>
                <a:cs typeface="Yu Gothic"/>
              </a:rPr>
              <a:t>Attacking</a:t>
            </a:r>
          </a:p>
        </p:txBody>
      </p:sp>
      <p:sp>
        <p:nvSpPr>
          <p:cNvPr id="13" name="角丸四角形 12">
            <a:extLst>
              <a:ext uri="{FF2B5EF4-FFF2-40B4-BE49-F238E27FC236}">
                <a16:creationId xmlns:a16="http://schemas.microsoft.com/office/drawing/2014/main" id="{54E1466F-A7C1-40C8-9454-6C6C4254A19D}"/>
              </a:ext>
            </a:extLst>
          </p:cNvPr>
          <p:cNvSpPr>
            <a:spLocks noGrp="1"/>
          </p:cNvSpPr>
          <p:nvPr/>
        </p:nvSpPr>
        <p:spPr>
          <a:xfrm>
            <a:off x="2209800" y="2286000"/>
            <a:ext cx="1962150" cy="114300"/>
          </a:xfrm>
          <a:prstGeom prst="roundRect">
            <a:avLst>
              <a:gd name="adj" fmla="val 50000"/>
            </a:avLst>
          </a:prstGeom>
          <a:solidFill>
            <a:srgbClr val="1E293B"/>
          </a:solidFill>
          <a:ln w="0">
            <a:noFill/>
            <a:prstDash val="solid"/>
          </a:ln>
        </p:spPr>
        <p:txBody>
          <a:bodyPr/>
          <a:lstStyle/>
          <a:p>
            <a:endParaRPr lang="ja-JP" altLang="en-US"/>
          </a:p>
        </p:txBody>
      </p:sp>
      <p:sp>
        <p:nvSpPr>
          <p:cNvPr id="14" name="角丸四角形 13">
            <a:extLst>
              <a:ext uri="{FF2B5EF4-FFF2-40B4-BE49-F238E27FC236}">
                <a16:creationId xmlns:a16="http://schemas.microsoft.com/office/drawing/2014/main" id="{0D33DDEF-E041-4A9C-BECD-9FDC98C2C50C}"/>
              </a:ext>
            </a:extLst>
          </p:cNvPr>
          <p:cNvSpPr>
            <a:spLocks noGrp="1"/>
          </p:cNvSpPr>
          <p:nvPr/>
        </p:nvSpPr>
        <p:spPr>
          <a:xfrm>
            <a:off x="2209800" y="2286000"/>
            <a:ext cx="1537226" cy="114300"/>
          </a:xfrm>
          <a:prstGeom prst="roundRect">
            <a:avLst>
              <a:gd name="adj" fmla="val 50000"/>
            </a:avLst>
          </a:prstGeom>
          <a:solidFill>
            <a:srgbClr val="22C55E"/>
          </a:solidFill>
          <a:ln w="0">
            <a:noFill/>
            <a:prstDash val="solid"/>
          </a:ln>
        </p:spPr>
        <p:txBody>
          <a:bodyPr/>
          <a:lstStyle/>
          <a:p>
            <a:endParaRPr lang="ja-JP" altLang="en-US"/>
          </a:p>
        </p:txBody>
      </p:sp>
      <p:sp>
        <p:nvSpPr>
          <p:cNvPr id="15" name="正方形/長方形 14">
            <a:extLst>
              <a:ext uri="{FF2B5EF4-FFF2-40B4-BE49-F238E27FC236}">
                <a16:creationId xmlns:a16="http://schemas.microsoft.com/office/drawing/2014/main" id="{3826B86E-0E92-4138-9367-27BAB8F68461}"/>
              </a:ext>
            </a:extLst>
          </p:cNvPr>
          <p:cNvSpPr>
            <a:spLocks noGrp="1"/>
          </p:cNvSpPr>
          <p:nvPr/>
        </p:nvSpPr>
        <p:spPr>
          <a:xfrm>
            <a:off x="4286250" y="2238375"/>
            <a:ext cx="514350" cy="190500"/>
          </a:xfrm>
          <a:prstGeom prst="rect">
            <a:avLst/>
          </a:prstGeom>
          <a:noFill/>
          <a:ln w="0">
            <a:noFill/>
            <a:prstDash val="solid"/>
          </a:ln>
        </p:spPr>
        <p:txBody>
          <a:bodyPr/>
          <a:lstStyle/>
          <a:p>
            <a:pPr algn="r">
              <a:defRPr sz="975" b="1">
                <a:solidFill>
                  <a:srgbClr val="22C55E"/>
                </a:solidFill>
                <a:latin typeface="Yu Gothic"/>
                <a:ea typeface="Yu Gothic"/>
                <a:cs typeface="Yu Gothic"/>
              </a:defRPr>
            </a:pPr>
            <a:r>
              <a:rPr sz="975" b="1">
                <a:solidFill>
                  <a:srgbClr val="22C55E"/>
                </a:solidFill>
                <a:latin typeface="Yu Gothic"/>
                <a:ea typeface="Yu Gothic"/>
                <a:cs typeface="Yu Gothic"/>
              </a:rPr>
              <a:t>0.783</a:t>
            </a:r>
          </a:p>
        </p:txBody>
      </p:sp>
      <p:sp>
        <p:nvSpPr>
          <p:cNvPr id="16" name="正方形/長方形 15">
            <a:extLst>
              <a:ext uri="{FF2B5EF4-FFF2-40B4-BE49-F238E27FC236}">
                <a16:creationId xmlns:a16="http://schemas.microsoft.com/office/drawing/2014/main" id="{D8C784EB-8FFF-4342-A077-3FF1857C703D}"/>
              </a:ext>
            </a:extLst>
          </p:cNvPr>
          <p:cNvSpPr>
            <a:spLocks noGrp="1"/>
          </p:cNvSpPr>
          <p:nvPr/>
        </p:nvSpPr>
        <p:spPr>
          <a:xfrm>
            <a:off x="742950" y="2667000"/>
            <a:ext cx="1428750" cy="190500"/>
          </a:xfrm>
          <a:prstGeom prst="rect">
            <a:avLst/>
          </a:prstGeom>
          <a:noFill/>
          <a:ln w="0">
            <a:noFill/>
            <a:prstDash val="solid"/>
          </a:ln>
        </p:spPr>
        <p:txBody>
          <a:bodyPr/>
          <a:lstStyle/>
          <a:p>
            <a:pPr algn="l">
              <a:defRPr sz="1050" b="0">
                <a:solidFill>
                  <a:srgbClr val="CBD5E1"/>
                </a:solidFill>
                <a:latin typeface="Yu Gothic"/>
                <a:ea typeface="Yu Gothic"/>
                <a:cs typeface="Yu Gothic"/>
              </a:defRPr>
            </a:pPr>
            <a:r>
              <a:rPr sz="1050" b="0">
                <a:solidFill>
                  <a:srgbClr val="CBD5E1"/>
                </a:solidFill>
                <a:latin typeface="Yu Gothic"/>
                <a:ea typeface="Yu Gothic"/>
                <a:cs typeface="Yu Gothic"/>
              </a:rPr>
              <a:t>Head banging</a:t>
            </a:r>
          </a:p>
        </p:txBody>
      </p:sp>
      <p:sp>
        <p:nvSpPr>
          <p:cNvPr id="17" name="角丸四角形 16">
            <a:extLst>
              <a:ext uri="{FF2B5EF4-FFF2-40B4-BE49-F238E27FC236}">
                <a16:creationId xmlns:a16="http://schemas.microsoft.com/office/drawing/2014/main" id="{C2218982-A6BF-4C42-B154-BD01C998CD9B}"/>
              </a:ext>
            </a:extLst>
          </p:cNvPr>
          <p:cNvSpPr>
            <a:spLocks noGrp="1"/>
          </p:cNvSpPr>
          <p:nvPr/>
        </p:nvSpPr>
        <p:spPr>
          <a:xfrm>
            <a:off x="2209800" y="2705100"/>
            <a:ext cx="1962150" cy="114300"/>
          </a:xfrm>
          <a:prstGeom prst="roundRect">
            <a:avLst>
              <a:gd name="adj" fmla="val 50000"/>
            </a:avLst>
          </a:prstGeom>
          <a:solidFill>
            <a:srgbClr val="1E293B"/>
          </a:solidFill>
          <a:ln w="0">
            <a:noFill/>
            <a:prstDash val="solid"/>
          </a:ln>
        </p:spPr>
        <p:txBody>
          <a:bodyPr/>
          <a:lstStyle/>
          <a:p>
            <a:endParaRPr lang="ja-JP" altLang="en-US"/>
          </a:p>
        </p:txBody>
      </p:sp>
      <p:sp>
        <p:nvSpPr>
          <p:cNvPr id="18" name="角丸四角形 17">
            <a:extLst>
              <a:ext uri="{FF2B5EF4-FFF2-40B4-BE49-F238E27FC236}">
                <a16:creationId xmlns:a16="http://schemas.microsoft.com/office/drawing/2014/main" id="{132465D5-7EE1-4B20-A020-D659D139CCA1}"/>
              </a:ext>
            </a:extLst>
          </p:cNvPr>
          <p:cNvSpPr>
            <a:spLocks noGrp="1"/>
          </p:cNvSpPr>
          <p:nvPr/>
        </p:nvSpPr>
        <p:spPr>
          <a:xfrm>
            <a:off x="2209800" y="2705100"/>
            <a:ext cx="1436127" cy="114300"/>
          </a:xfrm>
          <a:prstGeom prst="roundRect">
            <a:avLst>
              <a:gd name="adj" fmla="val 50000"/>
            </a:avLst>
          </a:prstGeom>
          <a:solidFill>
            <a:srgbClr val="38BDF8"/>
          </a:solidFill>
          <a:ln w="0">
            <a:noFill/>
            <a:prstDash val="solid"/>
          </a:ln>
        </p:spPr>
        <p:txBody>
          <a:bodyPr/>
          <a:lstStyle/>
          <a:p>
            <a:endParaRPr lang="ja-JP" altLang="en-US"/>
          </a:p>
        </p:txBody>
      </p:sp>
      <p:sp>
        <p:nvSpPr>
          <p:cNvPr id="19" name="正方形/長方形 18">
            <a:extLst>
              <a:ext uri="{FF2B5EF4-FFF2-40B4-BE49-F238E27FC236}">
                <a16:creationId xmlns:a16="http://schemas.microsoft.com/office/drawing/2014/main" id="{BAC4C3ED-137A-4BF4-B039-6DB27CC8C4DA}"/>
              </a:ext>
            </a:extLst>
          </p:cNvPr>
          <p:cNvSpPr>
            <a:spLocks noGrp="1"/>
          </p:cNvSpPr>
          <p:nvPr/>
        </p:nvSpPr>
        <p:spPr>
          <a:xfrm>
            <a:off x="4286250" y="2657475"/>
            <a:ext cx="514350" cy="190500"/>
          </a:xfrm>
          <a:prstGeom prst="rect">
            <a:avLst/>
          </a:prstGeom>
          <a:noFill/>
          <a:ln w="0">
            <a:noFill/>
            <a:prstDash val="solid"/>
          </a:ln>
        </p:spPr>
        <p:txBody>
          <a:bodyPr/>
          <a:lstStyle/>
          <a:p>
            <a:pPr algn="r">
              <a:defRPr sz="975" b="1">
                <a:solidFill>
                  <a:srgbClr val="38BDF8"/>
                </a:solidFill>
                <a:latin typeface="Yu Gothic"/>
                <a:ea typeface="Yu Gothic"/>
                <a:cs typeface="Yu Gothic"/>
              </a:defRPr>
            </a:pPr>
            <a:r>
              <a:rPr sz="975" b="1">
                <a:solidFill>
                  <a:srgbClr val="38BDF8"/>
                </a:solidFill>
                <a:latin typeface="Yu Gothic"/>
                <a:ea typeface="Yu Gothic"/>
                <a:cs typeface="Yu Gothic"/>
              </a:rPr>
              <a:t>0.732</a:t>
            </a:r>
          </a:p>
        </p:txBody>
      </p:sp>
      <p:sp>
        <p:nvSpPr>
          <p:cNvPr id="20" name="正方形/長方形 19">
            <a:extLst>
              <a:ext uri="{FF2B5EF4-FFF2-40B4-BE49-F238E27FC236}">
                <a16:creationId xmlns:a16="http://schemas.microsoft.com/office/drawing/2014/main" id="{A8DBC8AB-3A60-4AE7-A474-C896731868D7}"/>
              </a:ext>
            </a:extLst>
          </p:cNvPr>
          <p:cNvSpPr>
            <a:spLocks noGrp="1"/>
          </p:cNvSpPr>
          <p:nvPr/>
        </p:nvSpPr>
        <p:spPr>
          <a:xfrm>
            <a:off x="742950" y="3086100"/>
            <a:ext cx="1428750" cy="190500"/>
          </a:xfrm>
          <a:prstGeom prst="rect">
            <a:avLst/>
          </a:prstGeom>
          <a:noFill/>
          <a:ln w="0">
            <a:noFill/>
            <a:prstDash val="solid"/>
          </a:ln>
        </p:spPr>
        <p:txBody>
          <a:bodyPr/>
          <a:lstStyle/>
          <a:p>
            <a:pPr algn="l">
              <a:defRPr sz="1050" b="0">
                <a:solidFill>
                  <a:srgbClr val="CBD5E1"/>
                </a:solidFill>
                <a:latin typeface="Yu Gothic"/>
                <a:ea typeface="Yu Gothic"/>
                <a:cs typeface="Yu Gothic"/>
              </a:defRPr>
            </a:pPr>
            <a:r>
              <a:rPr sz="1050" b="0">
                <a:solidFill>
                  <a:srgbClr val="CBD5E1"/>
                </a:solidFill>
                <a:latin typeface="Yu Gothic"/>
                <a:ea typeface="Yu Gothic"/>
                <a:cs typeface="Yu Gothic"/>
              </a:rPr>
              <a:t>Throwing things</a:t>
            </a:r>
          </a:p>
        </p:txBody>
      </p:sp>
      <p:sp>
        <p:nvSpPr>
          <p:cNvPr id="21" name="角丸四角形 20">
            <a:extLst>
              <a:ext uri="{FF2B5EF4-FFF2-40B4-BE49-F238E27FC236}">
                <a16:creationId xmlns:a16="http://schemas.microsoft.com/office/drawing/2014/main" id="{26C5D7EE-1F52-48C3-9959-3C4442CE288A}"/>
              </a:ext>
            </a:extLst>
          </p:cNvPr>
          <p:cNvSpPr>
            <a:spLocks noGrp="1"/>
          </p:cNvSpPr>
          <p:nvPr/>
        </p:nvSpPr>
        <p:spPr>
          <a:xfrm>
            <a:off x="2209800" y="3124200"/>
            <a:ext cx="1962150" cy="114300"/>
          </a:xfrm>
          <a:prstGeom prst="roundRect">
            <a:avLst>
              <a:gd name="adj" fmla="val 50000"/>
            </a:avLst>
          </a:prstGeom>
          <a:solidFill>
            <a:srgbClr val="1E293B"/>
          </a:solidFill>
          <a:ln w="0">
            <a:noFill/>
            <a:prstDash val="solid"/>
          </a:ln>
        </p:spPr>
        <p:txBody>
          <a:bodyPr/>
          <a:lstStyle/>
          <a:p>
            <a:endParaRPr lang="ja-JP" altLang="en-US"/>
          </a:p>
        </p:txBody>
      </p:sp>
      <p:sp>
        <p:nvSpPr>
          <p:cNvPr id="22" name="角丸四角形 21">
            <a:extLst>
              <a:ext uri="{FF2B5EF4-FFF2-40B4-BE49-F238E27FC236}">
                <a16:creationId xmlns:a16="http://schemas.microsoft.com/office/drawing/2014/main" id="{51443033-2F39-4FF8-8988-682AAB780218}"/>
              </a:ext>
            </a:extLst>
          </p:cNvPr>
          <p:cNvSpPr>
            <a:spLocks noGrp="1"/>
          </p:cNvSpPr>
          <p:nvPr/>
        </p:nvSpPr>
        <p:spPr>
          <a:xfrm>
            <a:off x="2209800" y="3124200"/>
            <a:ext cx="1330935" cy="114300"/>
          </a:xfrm>
          <a:prstGeom prst="roundRect">
            <a:avLst>
              <a:gd name="adj" fmla="val 50000"/>
            </a:avLst>
          </a:prstGeom>
          <a:solidFill>
            <a:srgbClr val="38BDF8"/>
          </a:solidFill>
          <a:ln w="0">
            <a:noFill/>
            <a:prstDash val="solid"/>
          </a:ln>
        </p:spPr>
        <p:txBody>
          <a:bodyPr/>
          <a:lstStyle/>
          <a:p>
            <a:endParaRPr lang="ja-JP" altLang="en-US"/>
          </a:p>
        </p:txBody>
      </p:sp>
      <p:sp>
        <p:nvSpPr>
          <p:cNvPr id="23" name="正方形/長方形 22">
            <a:extLst>
              <a:ext uri="{FF2B5EF4-FFF2-40B4-BE49-F238E27FC236}">
                <a16:creationId xmlns:a16="http://schemas.microsoft.com/office/drawing/2014/main" id="{E8047785-4BCD-44A8-A9EB-B01A1C7F709A}"/>
              </a:ext>
            </a:extLst>
          </p:cNvPr>
          <p:cNvSpPr>
            <a:spLocks noGrp="1"/>
          </p:cNvSpPr>
          <p:nvPr/>
        </p:nvSpPr>
        <p:spPr>
          <a:xfrm>
            <a:off x="4286250" y="3076575"/>
            <a:ext cx="514350" cy="190500"/>
          </a:xfrm>
          <a:prstGeom prst="rect">
            <a:avLst/>
          </a:prstGeom>
          <a:noFill/>
          <a:ln w="0">
            <a:noFill/>
            <a:prstDash val="solid"/>
          </a:ln>
        </p:spPr>
        <p:txBody>
          <a:bodyPr/>
          <a:lstStyle/>
          <a:p>
            <a:pPr algn="r">
              <a:defRPr sz="975" b="1">
                <a:solidFill>
                  <a:srgbClr val="38BDF8"/>
                </a:solidFill>
                <a:latin typeface="Yu Gothic"/>
                <a:ea typeface="Yu Gothic"/>
                <a:cs typeface="Yu Gothic"/>
              </a:defRPr>
            </a:pPr>
            <a:r>
              <a:rPr sz="975" b="1">
                <a:solidFill>
                  <a:srgbClr val="38BDF8"/>
                </a:solidFill>
                <a:latin typeface="Yu Gothic"/>
                <a:ea typeface="Yu Gothic"/>
                <a:cs typeface="Yu Gothic"/>
              </a:rPr>
              <a:t>0.678</a:t>
            </a:r>
          </a:p>
        </p:txBody>
      </p:sp>
      <p:sp>
        <p:nvSpPr>
          <p:cNvPr id="24" name="正方形/長方形 23">
            <a:extLst>
              <a:ext uri="{FF2B5EF4-FFF2-40B4-BE49-F238E27FC236}">
                <a16:creationId xmlns:a16="http://schemas.microsoft.com/office/drawing/2014/main" id="{8208F189-F758-4885-8980-6B0BA0923A7E}"/>
              </a:ext>
            </a:extLst>
          </p:cNvPr>
          <p:cNvSpPr>
            <a:spLocks noGrp="1"/>
          </p:cNvSpPr>
          <p:nvPr/>
        </p:nvSpPr>
        <p:spPr>
          <a:xfrm>
            <a:off x="742950" y="3505200"/>
            <a:ext cx="1428750" cy="190500"/>
          </a:xfrm>
          <a:prstGeom prst="rect">
            <a:avLst/>
          </a:prstGeom>
          <a:noFill/>
          <a:ln w="0">
            <a:noFill/>
            <a:prstDash val="solid"/>
          </a:ln>
        </p:spPr>
        <p:txBody>
          <a:bodyPr/>
          <a:lstStyle/>
          <a:p>
            <a:pPr algn="l">
              <a:defRPr sz="1050" b="0">
                <a:solidFill>
                  <a:srgbClr val="CBD5E1"/>
                </a:solidFill>
                <a:latin typeface="Yu Gothic"/>
                <a:ea typeface="Yu Gothic"/>
                <a:cs typeface="Yu Gothic"/>
              </a:defRPr>
            </a:pPr>
            <a:r>
              <a:rPr sz="1050" b="0">
                <a:solidFill>
                  <a:srgbClr val="CBD5E1"/>
                </a:solidFill>
                <a:latin typeface="Yu Gothic"/>
                <a:ea typeface="Yu Gothic"/>
                <a:cs typeface="Yu Gothic"/>
              </a:rPr>
              <a:t>Eating snacks</a:t>
            </a:r>
          </a:p>
        </p:txBody>
      </p:sp>
      <p:sp>
        <p:nvSpPr>
          <p:cNvPr id="25" name="角丸四角形 24">
            <a:extLst>
              <a:ext uri="{FF2B5EF4-FFF2-40B4-BE49-F238E27FC236}">
                <a16:creationId xmlns:a16="http://schemas.microsoft.com/office/drawing/2014/main" id="{88409677-7122-4E41-8AA3-530EB2B0A7E8}"/>
              </a:ext>
            </a:extLst>
          </p:cNvPr>
          <p:cNvSpPr>
            <a:spLocks noGrp="1"/>
          </p:cNvSpPr>
          <p:nvPr/>
        </p:nvSpPr>
        <p:spPr>
          <a:xfrm>
            <a:off x="2209800" y="3543300"/>
            <a:ext cx="1962150" cy="114300"/>
          </a:xfrm>
          <a:prstGeom prst="roundRect">
            <a:avLst>
              <a:gd name="adj" fmla="val 50000"/>
            </a:avLst>
          </a:prstGeom>
          <a:solidFill>
            <a:srgbClr val="1E293B"/>
          </a:solidFill>
          <a:ln w="0">
            <a:noFill/>
            <a:prstDash val="solid"/>
          </a:ln>
        </p:spPr>
        <p:txBody>
          <a:bodyPr/>
          <a:lstStyle/>
          <a:p>
            <a:endParaRPr lang="ja-JP" altLang="en-US"/>
          </a:p>
        </p:txBody>
      </p:sp>
      <p:sp>
        <p:nvSpPr>
          <p:cNvPr id="26" name="角丸四角形 25">
            <a:extLst>
              <a:ext uri="{FF2B5EF4-FFF2-40B4-BE49-F238E27FC236}">
                <a16:creationId xmlns:a16="http://schemas.microsoft.com/office/drawing/2014/main" id="{AC10265B-C94C-45A5-A377-B6EE6141257A}"/>
              </a:ext>
            </a:extLst>
          </p:cNvPr>
          <p:cNvSpPr>
            <a:spLocks noGrp="1"/>
          </p:cNvSpPr>
          <p:nvPr/>
        </p:nvSpPr>
        <p:spPr>
          <a:xfrm>
            <a:off x="2209800" y="3543300"/>
            <a:ext cx="1139980" cy="114300"/>
          </a:xfrm>
          <a:prstGeom prst="roundRect">
            <a:avLst>
              <a:gd name="adj" fmla="val 50000"/>
            </a:avLst>
          </a:prstGeom>
          <a:solidFill>
            <a:srgbClr val="38BDF8"/>
          </a:solidFill>
          <a:ln w="0">
            <a:noFill/>
            <a:prstDash val="solid"/>
          </a:ln>
        </p:spPr>
        <p:txBody>
          <a:bodyPr/>
          <a:lstStyle/>
          <a:p>
            <a:endParaRPr lang="ja-JP" altLang="en-US"/>
          </a:p>
        </p:txBody>
      </p:sp>
      <p:sp>
        <p:nvSpPr>
          <p:cNvPr id="27" name="正方形/長方形 26">
            <a:extLst>
              <a:ext uri="{FF2B5EF4-FFF2-40B4-BE49-F238E27FC236}">
                <a16:creationId xmlns:a16="http://schemas.microsoft.com/office/drawing/2014/main" id="{3CB787A5-91C3-4336-A5BB-23422BBD3D1B}"/>
              </a:ext>
            </a:extLst>
          </p:cNvPr>
          <p:cNvSpPr>
            <a:spLocks noGrp="1"/>
          </p:cNvSpPr>
          <p:nvPr/>
        </p:nvSpPr>
        <p:spPr>
          <a:xfrm>
            <a:off x="4286250" y="3495675"/>
            <a:ext cx="514350" cy="190500"/>
          </a:xfrm>
          <a:prstGeom prst="rect">
            <a:avLst/>
          </a:prstGeom>
          <a:noFill/>
          <a:ln w="0">
            <a:noFill/>
            <a:prstDash val="solid"/>
          </a:ln>
        </p:spPr>
        <p:txBody>
          <a:bodyPr/>
          <a:lstStyle/>
          <a:p>
            <a:pPr algn="r">
              <a:defRPr sz="975" b="1">
                <a:solidFill>
                  <a:srgbClr val="38BDF8"/>
                </a:solidFill>
                <a:latin typeface="Yu Gothic"/>
                <a:ea typeface="Yu Gothic"/>
                <a:cs typeface="Yu Gothic"/>
              </a:defRPr>
            </a:pPr>
            <a:r>
              <a:rPr sz="975" b="1">
                <a:solidFill>
                  <a:srgbClr val="38BDF8"/>
                </a:solidFill>
                <a:latin typeface="Yu Gothic"/>
                <a:ea typeface="Yu Gothic"/>
                <a:cs typeface="Yu Gothic"/>
              </a:rPr>
              <a:t>0.581</a:t>
            </a:r>
          </a:p>
        </p:txBody>
      </p:sp>
      <p:sp>
        <p:nvSpPr>
          <p:cNvPr id="28" name="正方形/長方形 27">
            <a:extLst>
              <a:ext uri="{FF2B5EF4-FFF2-40B4-BE49-F238E27FC236}">
                <a16:creationId xmlns:a16="http://schemas.microsoft.com/office/drawing/2014/main" id="{4AA89212-A7B5-4326-A44F-9CB5CDC3CD46}"/>
              </a:ext>
            </a:extLst>
          </p:cNvPr>
          <p:cNvSpPr>
            <a:spLocks noGrp="1"/>
          </p:cNvSpPr>
          <p:nvPr/>
        </p:nvSpPr>
        <p:spPr>
          <a:xfrm>
            <a:off x="742950" y="3924300"/>
            <a:ext cx="1428750" cy="190500"/>
          </a:xfrm>
          <a:prstGeom prst="rect">
            <a:avLst/>
          </a:prstGeom>
          <a:noFill/>
          <a:ln w="0">
            <a:noFill/>
            <a:prstDash val="solid"/>
          </a:ln>
        </p:spPr>
        <p:txBody>
          <a:bodyPr/>
          <a:lstStyle/>
          <a:p>
            <a:pPr algn="l">
              <a:defRPr sz="1050" b="0">
                <a:solidFill>
                  <a:srgbClr val="CBD5E1"/>
                </a:solidFill>
                <a:latin typeface="Yu Gothic"/>
                <a:ea typeface="Yu Gothic"/>
                <a:cs typeface="Yu Gothic"/>
              </a:defRPr>
            </a:pPr>
            <a:r>
              <a:rPr sz="1050" b="0">
                <a:solidFill>
                  <a:srgbClr val="CBD5E1"/>
                </a:solidFill>
                <a:latin typeface="Yu Gothic"/>
                <a:ea typeface="Yu Gothic"/>
                <a:cs typeface="Yu Gothic"/>
              </a:rPr>
              <a:t>Sitting quietly</a:t>
            </a:r>
          </a:p>
        </p:txBody>
      </p:sp>
      <p:sp>
        <p:nvSpPr>
          <p:cNvPr id="29" name="角丸四角形 28">
            <a:extLst>
              <a:ext uri="{FF2B5EF4-FFF2-40B4-BE49-F238E27FC236}">
                <a16:creationId xmlns:a16="http://schemas.microsoft.com/office/drawing/2014/main" id="{63332C4A-557F-4D21-AACA-1F6E919307E8}"/>
              </a:ext>
            </a:extLst>
          </p:cNvPr>
          <p:cNvSpPr>
            <a:spLocks noGrp="1"/>
          </p:cNvSpPr>
          <p:nvPr/>
        </p:nvSpPr>
        <p:spPr>
          <a:xfrm>
            <a:off x="2209800" y="3962400"/>
            <a:ext cx="1962150" cy="114300"/>
          </a:xfrm>
          <a:prstGeom prst="roundRect">
            <a:avLst>
              <a:gd name="adj" fmla="val 50000"/>
            </a:avLst>
          </a:prstGeom>
          <a:solidFill>
            <a:srgbClr val="1E293B"/>
          </a:solidFill>
          <a:ln w="0">
            <a:noFill/>
            <a:prstDash val="solid"/>
          </a:ln>
        </p:spPr>
        <p:txBody>
          <a:bodyPr/>
          <a:lstStyle/>
          <a:p>
            <a:endParaRPr lang="ja-JP" altLang="en-US"/>
          </a:p>
        </p:txBody>
      </p:sp>
      <p:sp>
        <p:nvSpPr>
          <p:cNvPr id="30" name="角丸四角形 29">
            <a:extLst>
              <a:ext uri="{FF2B5EF4-FFF2-40B4-BE49-F238E27FC236}">
                <a16:creationId xmlns:a16="http://schemas.microsoft.com/office/drawing/2014/main" id="{8E95AAFE-0138-4597-91C1-9D4FE17F22AC}"/>
              </a:ext>
            </a:extLst>
          </p:cNvPr>
          <p:cNvSpPr>
            <a:spLocks noGrp="1"/>
          </p:cNvSpPr>
          <p:nvPr/>
        </p:nvSpPr>
        <p:spPr>
          <a:xfrm>
            <a:off x="2209800" y="3962400"/>
            <a:ext cx="1045777" cy="114300"/>
          </a:xfrm>
          <a:prstGeom prst="roundRect">
            <a:avLst>
              <a:gd name="adj" fmla="val 50000"/>
            </a:avLst>
          </a:prstGeom>
          <a:solidFill>
            <a:srgbClr val="F97316"/>
          </a:solidFill>
          <a:ln w="0">
            <a:noFill/>
            <a:prstDash val="solid"/>
          </a:ln>
        </p:spPr>
        <p:txBody>
          <a:bodyPr/>
          <a:lstStyle/>
          <a:p>
            <a:endParaRPr lang="ja-JP" altLang="en-US"/>
          </a:p>
        </p:txBody>
      </p:sp>
      <p:sp>
        <p:nvSpPr>
          <p:cNvPr id="31" name="正方形/長方形 30">
            <a:extLst>
              <a:ext uri="{FF2B5EF4-FFF2-40B4-BE49-F238E27FC236}">
                <a16:creationId xmlns:a16="http://schemas.microsoft.com/office/drawing/2014/main" id="{8009D334-83B2-45CF-B1C4-7268023406AB}"/>
              </a:ext>
            </a:extLst>
          </p:cNvPr>
          <p:cNvSpPr>
            <a:spLocks noGrp="1"/>
          </p:cNvSpPr>
          <p:nvPr/>
        </p:nvSpPr>
        <p:spPr>
          <a:xfrm>
            <a:off x="4286250" y="3914775"/>
            <a:ext cx="514350" cy="190500"/>
          </a:xfrm>
          <a:prstGeom prst="rect">
            <a:avLst/>
          </a:prstGeom>
          <a:noFill/>
          <a:ln w="0">
            <a:noFill/>
            <a:prstDash val="solid"/>
          </a:ln>
        </p:spPr>
        <p:txBody>
          <a:bodyPr/>
          <a:lstStyle/>
          <a:p>
            <a:pPr algn="r">
              <a:defRPr sz="975" b="1">
                <a:solidFill>
                  <a:srgbClr val="F97316"/>
                </a:solidFill>
                <a:latin typeface="Yu Gothic"/>
                <a:ea typeface="Yu Gothic"/>
                <a:cs typeface="Yu Gothic"/>
              </a:defRPr>
            </a:pPr>
            <a:r>
              <a:rPr sz="975" b="1">
                <a:solidFill>
                  <a:srgbClr val="F97316"/>
                </a:solidFill>
                <a:latin typeface="Yu Gothic"/>
                <a:ea typeface="Yu Gothic"/>
                <a:cs typeface="Yu Gothic"/>
              </a:rPr>
              <a:t>0.533</a:t>
            </a:r>
          </a:p>
        </p:txBody>
      </p:sp>
      <p:sp>
        <p:nvSpPr>
          <p:cNvPr id="32" name="正方形/長方形 31">
            <a:extLst>
              <a:ext uri="{FF2B5EF4-FFF2-40B4-BE49-F238E27FC236}">
                <a16:creationId xmlns:a16="http://schemas.microsoft.com/office/drawing/2014/main" id="{4110985C-ACEB-4F54-ABA2-20EA7DF0D888}"/>
              </a:ext>
            </a:extLst>
          </p:cNvPr>
          <p:cNvSpPr>
            <a:spLocks noGrp="1"/>
          </p:cNvSpPr>
          <p:nvPr/>
        </p:nvSpPr>
        <p:spPr>
          <a:xfrm>
            <a:off x="742950" y="4343400"/>
            <a:ext cx="1428750" cy="190500"/>
          </a:xfrm>
          <a:prstGeom prst="rect">
            <a:avLst/>
          </a:prstGeom>
          <a:noFill/>
          <a:ln w="0">
            <a:noFill/>
            <a:prstDash val="solid"/>
          </a:ln>
        </p:spPr>
        <p:txBody>
          <a:bodyPr/>
          <a:lstStyle/>
          <a:p>
            <a:pPr algn="l">
              <a:defRPr sz="1050" b="0">
                <a:solidFill>
                  <a:srgbClr val="CBD5E1"/>
                </a:solidFill>
                <a:latin typeface="Yu Gothic"/>
                <a:ea typeface="Yu Gothic"/>
                <a:cs typeface="Yu Gothic"/>
              </a:defRPr>
            </a:pPr>
            <a:r>
              <a:rPr sz="1050" b="0">
                <a:solidFill>
                  <a:srgbClr val="CBD5E1"/>
                </a:solidFill>
                <a:latin typeface="Yu Gothic"/>
                <a:ea typeface="Yu Gothic"/>
                <a:cs typeface="Yu Gothic"/>
              </a:rPr>
              <a:t>Using phone</a:t>
            </a:r>
          </a:p>
        </p:txBody>
      </p:sp>
      <p:sp>
        <p:nvSpPr>
          <p:cNvPr id="33" name="角丸四角形 32">
            <a:extLst>
              <a:ext uri="{FF2B5EF4-FFF2-40B4-BE49-F238E27FC236}">
                <a16:creationId xmlns:a16="http://schemas.microsoft.com/office/drawing/2014/main" id="{AEC3A72B-BEC3-403D-93A2-80E21449C09F}"/>
              </a:ext>
            </a:extLst>
          </p:cNvPr>
          <p:cNvSpPr>
            <a:spLocks noGrp="1"/>
          </p:cNvSpPr>
          <p:nvPr/>
        </p:nvSpPr>
        <p:spPr>
          <a:xfrm>
            <a:off x="2209800" y="4381500"/>
            <a:ext cx="1962150" cy="114300"/>
          </a:xfrm>
          <a:prstGeom prst="roundRect">
            <a:avLst>
              <a:gd name="adj" fmla="val 50000"/>
            </a:avLst>
          </a:prstGeom>
          <a:solidFill>
            <a:srgbClr val="1E293B"/>
          </a:solidFill>
          <a:ln w="0">
            <a:noFill/>
            <a:prstDash val="solid"/>
          </a:ln>
        </p:spPr>
        <p:txBody>
          <a:bodyPr/>
          <a:lstStyle/>
          <a:p>
            <a:endParaRPr lang="ja-JP" altLang="en-US"/>
          </a:p>
        </p:txBody>
      </p:sp>
      <p:sp>
        <p:nvSpPr>
          <p:cNvPr id="34" name="角丸四角形 33">
            <a:extLst>
              <a:ext uri="{FF2B5EF4-FFF2-40B4-BE49-F238E27FC236}">
                <a16:creationId xmlns:a16="http://schemas.microsoft.com/office/drawing/2014/main" id="{C9CD2B00-9124-475E-BEB8-9ED90A021AE5}"/>
              </a:ext>
            </a:extLst>
          </p:cNvPr>
          <p:cNvSpPr>
            <a:spLocks noGrp="1"/>
          </p:cNvSpPr>
          <p:nvPr/>
        </p:nvSpPr>
        <p:spPr>
          <a:xfrm>
            <a:off x="2209800" y="4381500"/>
            <a:ext cx="807474" cy="114300"/>
          </a:xfrm>
          <a:prstGeom prst="roundRect">
            <a:avLst>
              <a:gd name="adj" fmla="val 50000"/>
            </a:avLst>
          </a:prstGeom>
          <a:solidFill>
            <a:srgbClr val="F97316"/>
          </a:solidFill>
          <a:ln w="0">
            <a:noFill/>
            <a:prstDash val="solid"/>
          </a:ln>
        </p:spPr>
        <p:txBody>
          <a:bodyPr/>
          <a:lstStyle/>
          <a:p>
            <a:endParaRPr lang="ja-JP" altLang="en-US"/>
          </a:p>
        </p:txBody>
      </p:sp>
      <p:sp>
        <p:nvSpPr>
          <p:cNvPr id="35" name="正方形/長方形 34">
            <a:extLst>
              <a:ext uri="{FF2B5EF4-FFF2-40B4-BE49-F238E27FC236}">
                <a16:creationId xmlns:a16="http://schemas.microsoft.com/office/drawing/2014/main" id="{85563826-7242-4112-B37E-F8963855010F}"/>
              </a:ext>
            </a:extLst>
          </p:cNvPr>
          <p:cNvSpPr>
            <a:spLocks noGrp="1"/>
          </p:cNvSpPr>
          <p:nvPr/>
        </p:nvSpPr>
        <p:spPr>
          <a:xfrm>
            <a:off x="4286250" y="4333875"/>
            <a:ext cx="514350" cy="190500"/>
          </a:xfrm>
          <a:prstGeom prst="rect">
            <a:avLst/>
          </a:prstGeom>
          <a:noFill/>
          <a:ln w="0">
            <a:noFill/>
            <a:prstDash val="solid"/>
          </a:ln>
        </p:spPr>
        <p:txBody>
          <a:bodyPr/>
          <a:lstStyle/>
          <a:p>
            <a:pPr algn="r">
              <a:defRPr sz="975" b="1">
                <a:solidFill>
                  <a:srgbClr val="F97316"/>
                </a:solidFill>
                <a:latin typeface="Yu Gothic"/>
                <a:ea typeface="Yu Gothic"/>
                <a:cs typeface="Yu Gothic"/>
              </a:defRPr>
            </a:pPr>
            <a:r>
              <a:rPr sz="975" b="1">
                <a:solidFill>
                  <a:srgbClr val="F97316"/>
                </a:solidFill>
                <a:latin typeface="Yu Gothic"/>
                <a:ea typeface="Yu Gothic"/>
                <a:cs typeface="Yu Gothic"/>
              </a:rPr>
              <a:t>0.412</a:t>
            </a:r>
          </a:p>
        </p:txBody>
      </p:sp>
      <p:sp>
        <p:nvSpPr>
          <p:cNvPr id="36" name="正方形/長方形 35">
            <a:extLst>
              <a:ext uri="{FF2B5EF4-FFF2-40B4-BE49-F238E27FC236}">
                <a16:creationId xmlns:a16="http://schemas.microsoft.com/office/drawing/2014/main" id="{E87724F8-FF00-4688-8DDD-F30990855D85}"/>
              </a:ext>
            </a:extLst>
          </p:cNvPr>
          <p:cNvSpPr>
            <a:spLocks noGrp="1"/>
          </p:cNvSpPr>
          <p:nvPr/>
        </p:nvSpPr>
        <p:spPr>
          <a:xfrm>
            <a:off x="742950" y="4762500"/>
            <a:ext cx="1428750" cy="190500"/>
          </a:xfrm>
          <a:prstGeom prst="rect">
            <a:avLst/>
          </a:prstGeom>
          <a:noFill/>
          <a:ln w="0">
            <a:noFill/>
            <a:prstDash val="solid"/>
          </a:ln>
        </p:spPr>
        <p:txBody>
          <a:bodyPr/>
          <a:lstStyle/>
          <a:p>
            <a:pPr algn="l">
              <a:defRPr sz="1050" b="0">
                <a:solidFill>
                  <a:srgbClr val="CBD5E1"/>
                </a:solidFill>
                <a:latin typeface="Yu Gothic"/>
                <a:ea typeface="Yu Gothic"/>
                <a:cs typeface="Yu Gothic"/>
              </a:defRPr>
            </a:pPr>
            <a:r>
              <a:rPr sz="1050" b="0">
                <a:solidFill>
                  <a:srgbClr val="CBD5E1"/>
                </a:solidFill>
                <a:latin typeface="Yu Gothic"/>
                <a:ea typeface="Yu Gothic"/>
                <a:cs typeface="Yu Gothic"/>
              </a:rPr>
              <a:t>Biting nails</a:t>
            </a:r>
          </a:p>
        </p:txBody>
      </p:sp>
      <p:sp>
        <p:nvSpPr>
          <p:cNvPr id="37" name="角丸四角形 36">
            <a:extLst>
              <a:ext uri="{FF2B5EF4-FFF2-40B4-BE49-F238E27FC236}">
                <a16:creationId xmlns:a16="http://schemas.microsoft.com/office/drawing/2014/main" id="{7C1D2F4F-925F-4CAE-BC0C-291D54E1428B}"/>
              </a:ext>
            </a:extLst>
          </p:cNvPr>
          <p:cNvSpPr>
            <a:spLocks noGrp="1"/>
          </p:cNvSpPr>
          <p:nvPr/>
        </p:nvSpPr>
        <p:spPr>
          <a:xfrm>
            <a:off x="2209800" y="4800600"/>
            <a:ext cx="1962150" cy="114300"/>
          </a:xfrm>
          <a:prstGeom prst="roundRect">
            <a:avLst>
              <a:gd name="adj" fmla="val 50000"/>
            </a:avLst>
          </a:prstGeom>
          <a:solidFill>
            <a:srgbClr val="1E293B"/>
          </a:solidFill>
          <a:ln w="0">
            <a:noFill/>
            <a:prstDash val="solid"/>
          </a:ln>
        </p:spPr>
        <p:txBody>
          <a:bodyPr/>
          <a:lstStyle/>
          <a:p>
            <a:endParaRPr lang="ja-JP" altLang="en-US"/>
          </a:p>
        </p:txBody>
      </p:sp>
      <p:sp>
        <p:nvSpPr>
          <p:cNvPr id="38" name="角丸四角形 37">
            <a:extLst>
              <a:ext uri="{FF2B5EF4-FFF2-40B4-BE49-F238E27FC236}">
                <a16:creationId xmlns:a16="http://schemas.microsoft.com/office/drawing/2014/main" id="{07ED23BD-A39D-4A39-956A-7A15F5B71950}"/>
              </a:ext>
            </a:extLst>
          </p:cNvPr>
          <p:cNvSpPr>
            <a:spLocks noGrp="1"/>
          </p:cNvSpPr>
          <p:nvPr/>
        </p:nvSpPr>
        <p:spPr>
          <a:xfrm>
            <a:off x="2209800" y="4800600"/>
            <a:ext cx="754818" cy="114300"/>
          </a:xfrm>
          <a:prstGeom prst="roundRect">
            <a:avLst>
              <a:gd name="adj" fmla="val 50000"/>
            </a:avLst>
          </a:prstGeom>
          <a:solidFill>
            <a:srgbClr val="F97316"/>
          </a:solidFill>
          <a:ln w="0">
            <a:noFill/>
            <a:prstDash val="solid"/>
          </a:ln>
        </p:spPr>
        <p:txBody>
          <a:bodyPr/>
          <a:lstStyle/>
          <a:p>
            <a:endParaRPr lang="ja-JP" altLang="en-US"/>
          </a:p>
        </p:txBody>
      </p:sp>
      <p:sp>
        <p:nvSpPr>
          <p:cNvPr id="39" name="正方形/長方形 38">
            <a:extLst>
              <a:ext uri="{FF2B5EF4-FFF2-40B4-BE49-F238E27FC236}">
                <a16:creationId xmlns:a16="http://schemas.microsoft.com/office/drawing/2014/main" id="{31F5FA3D-3F08-4928-BDF8-603B7718AA96}"/>
              </a:ext>
            </a:extLst>
          </p:cNvPr>
          <p:cNvSpPr>
            <a:spLocks noGrp="1"/>
          </p:cNvSpPr>
          <p:nvPr/>
        </p:nvSpPr>
        <p:spPr>
          <a:xfrm>
            <a:off x="4286250" y="4752975"/>
            <a:ext cx="514350" cy="190500"/>
          </a:xfrm>
          <a:prstGeom prst="rect">
            <a:avLst/>
          </a:prstGeom>
          <a:noFill/>
          <a:ln w="0">
            <a:noFill/>
            <a:prstDash val="solid"/>
          </a:ln>
        </p:spPr>
        <p:txBody>
          <a:bodyPr/>
          <a:lstStyle/>
          <a:p>
            <a:pPr algn="r">
              <a:defRPr sz="975" b="1">
                <a:solidFill>
                  <a:srgbClr val="F97316"/>
                </a:solidFill>
                <a:latin typeface="Yu Gothic"/>
                <a:ea typeface="Yu Gothic"/>
                <a:cs typeface="Yu Gothic"/>
              </a:defRPr>
            </a:pPr>
            <a:r>
              <a:rPr sz="975" b="1">
                <a:solidFill>
                  <a:srgbClr val="F97316"/>
                </a:solidFill>
                <a:latin typeface="Yu Gothic"/>
                <a:ea typeface="Yu Gothic"/>
                <a:cs typeface="Yu Gothic"/>
              </a:rPr>
              <a:t>0.385</a:t>
            </a:r>
          </a:p>
        </p:txBody>
      </p:sp>
      <p:sp>
        <p:nvSpPr>
          <p:cNvPr id="40" name="正方形/長方形 39">
            <a:extLst>
              <a:ext uri="{FF2B5EF4-FFF2-40B4-BE49-F238E27FC236}">
                <a16:creationId xmlns:a16="http://schemas.microsoft.com/office/drawing/2014/main" id="{42A76115-F51E-449D-BFBC-974ACE185094}"/>
              </a:ext>
            </a:extLst>
          </p:cNvPr>
          <p:cNvSpPr>
            <a:spLocks noGrp="1"/>
          </p:cNvSpPr>
          <p:nvPr/>
        </p:nvSpPr>
        <p:spPr>
          <a:xfrm>
            <a:off x="5753100" y="1409700"/>
            <a:ext cx="3048000" cy="247650"/>
          </a:xfrm>
          <a:prstGeom prst="rect">
            <a:avLst/>
          </a:prstGeom>
          <a:noFill/>
          <a:ln w="0">
            <a:noFill/>
            <a:prstDash val="solid"/>
          </a:ln>
        </p:spPr>
        <p:txBody>
          <a:bodyPr/>
          <a:lstStyle/>
          <a:p>
            <a:pPr algn="l">
              <a:defRPr sz="1575" b="1">
                <a:solidFill>
                  <a:srgbClr val="FFFFFF"/>
                </a:solidFill>
                <a:latin typeface="Yu Gothic"/>
                <a:ea typeface="Yu Gothic"/>
                <a:cs typeface="Yu Gothic"/>
              </a:defRPr>
            </a:pPr>
            <a:r>
              <a:rPr sz="1575" b="1">
                <a:solidFill>
                  <a:srgbClr val="FFFFFF"/>
                </a:solidFill>
                <a:latin typeface="Yu Gothic"/>
                <a:ea typeface="Yu Gothic"/>
                <a:cs typeface="Yu Gothic"/>
              </a:rPr>
              <a:t>Subject別F1の代表例</a:t>
            </a:r>
          </a:p>
        </p:txBody>
      </p:sp>
      <p:sp>
        <p:nvSpPr>
          <p:cNvPr id="41" name="正方形/長方形 40">
            <a:extLst>
              <a:ext uri="{FF2B5EF4-FFF2-40B4-BE49-F238E27FC236}">
                <a16:creationId xmlns:a16="http://schemas.microsoft.com/office/drawing/2014/main" id="{CBD93E59-CD02-4E5D-BC52-682C38D16724}"/>
              </a:ext>
            </a:extLst>
          </p:cNvPr>
          <p:cNvSpPr>
            <a:spLocks noGrp="1"/>
          </p:cNvSpPr>
          <p:nvPr/>
        </p:nvSpPr>
        <p:spPr>
          <a:xfrm>
            <a:off x="5753100" y="2038350"/>
            <a:ext cx="1524000" cy="209550"/>
          </a:xfrm>
          <a:prstGeom prst="rect">
            <a:avLst/>
          </a:prstGeom>
          <a:noFill/>
          <a:ln w="0">
            <a:noFill/>
            <a:prstDash val="solid"/>
          </a:ln>
        </p:spPr>
        <p:txBody>
          <a:bodyPr/>
          <a:lstStyle/>
          <a:p>
            <a:pPr algn="l">
              <a:defRPr sz="1125" b="0">
                <a:solidFill>
                  <a:srgbClr val="CBD5E1"/>
                </a:solidFill>
                <a:latin typeface="Yu Gothic"/>
                <a:ea typeface="Yu Gothic"/>
                <a:cs typeface="Yu Gothic"/>
              </a:defRPr>
            </a:pPr>
            <a:r>
              <a:rPr sz="1125" b="0">
                <a:solidFill>
                  <a:srgbClr val="CBD5E1"/>
                </a:solidFill>
                <a:latin typeface="Yu Gothic"/>
                <a:ea typeface="Yu Gothic"/>
                <a:cs typeface="Yu Gothic"/>
              </a:rPr>
              <a:t>Walking</a:t>
            </a:r>
          </a:p>
        </p:txBody>
      </p:sp>
      <p:sp>
        <p:nvSpPr>
          <p:cNvPr id="42" name="正方形/長方形 41">
            <a:extLst>
              <a:ext uri="{FF2B5EF4-FFF2-40B4-BE49-F238E27FC236}">
                <a16:creationId xmlns:a16="http://schemas.microsoft.com/office/drawing/2014/main" id="{54191EF3-5FDE-4620-9406-13545BB85DD4}"/>
              </a:ext>
            </a:extLst>
          </p:cNvPr>
          <p:cNvSpPr>
            <a:spLocks noGrp="1"/>
          </p:cNvSpPr>
          <p:nvPr/>
        </p:nvSpPr>
        <p:spPr>
          <a:xfrm>
            <a:off x="5753100" y="2724150"/>
            <a:ext cx="1524000" cy="209550"/>
          </a:xfrm>
          <a:prstGeom prst="rect">
            <a:avLst/>
          </a:prstGeom>
          <a:noFill/>
          <a:ln w="0">
            <a:noFill/>
            <a:prstDash val="solid"/>
          </a:ln>
        </p:spPr>
        <p:txBody>
          <a:bodyPr/>
          <a:lstStyle/>
          <a:p>
            <a:pPr algn="l">
              <a:defRPr sz="1125" b="0">
                <a:solidFill>
                  <a:srgbClr val="CBD5E1"/>
                </a:solidFill>
                <a:latin typeface="Yu Gothic"/>
                <a:ea typeface="Yu Gothic"/>
                <a:cs typeface="Yu Gothic"/>
              </a:defRPr>
            </a:pPr>
            <a:r>
              <a:rPr sz="1125" b="0">
                <a:solidFill>
                  <a:srgbClr val="CBD5E1"/>
                </a:solidFill>
                <a:latin typeface="Yu Gothic"/>
                <a:ea typeface="Yu Gothic"/>
                <a:cs typeface="Yu Gothic"/>
              </a:rPr>
              <a:t>Biting nails</a:t>
            </a:r>
          </a:p>
        </p:txBody>
      </p:sp>
      <p:sp>
        <p:nvSpPr>
          <p:cNvPr id="43" name="正方形/長方形 42">
            <a:extLst>
              <a:ext uri="{FF2B5EF4-FFF2-40B4-BE49-F238E27FC236}">
                <a16:creationId xmlns:a16="http://schemas.microsoft.com/office/drawing/2014/main" id="{22D3A1BF-0281-43CB-8F4A-4B33196EB197}"/>
              </a:ext>
            </a:extLst>
          </p:cNvPr>
          <p:cNvSpPr>
            <a:spLocks noGrp="1"/>
          </p:cNvSpPr>
          <p:nvPr/>
        </p:nvSpPr>
        <p:spPr>
          <a:xfrm>
            <a:off x="5753100" y="3409950"/>
            <a:ext cx="1524000" cy="209550"/>
          </a:xfrm>
          <a:prstGeom prst="rect">
            <a:avLst/>
          </a:prstGeom>
          <a:noFill/>
          <a:ln w="0">
            <a:noFill/>
            <a:prstDash val="solid"/>
          </a:ln>
        </p:spPr>
        <p:txBody>
          <a:bodyPr/>
          <a:lstStyle/>
          <a:p>
            <a:pPr algn="l">
              <a:defRPr sz="1125" b="0">
                <a:solidFill>
                  <a:srgbClr val="CBD5E1"/>
                </a:solidFill>
                <a:latin typeface="Yu Gothic"/>
                <a:ea typeface="Yu Gothic"/>
                <a:cs typeface="Yu Gothic"/>
              </a:defRPr>
            </a:pPr>
            <a:r>
              <a:rPr sz="1125" b="0">
                <a:solidFill>
                  <a:srgbClr val="CBD5E1"/>
                </a:solidFill>
                <a:latin typeface="Yu Gothic"/>
                <a:ea typeface="Yu Gothic"/>
                <a:cs typeface="Yu Gothic"/>
              </a:rPr>
              <a:t>Head banging</a:t>
            </a:r>
          </a:p>
        </p:txBody>
      </p:sp>
      <p:sp>
        <p:nvSpPr>
          <p:cNvPr id="44" name="正方形/長方形 43">
            <a:extLst>
              <a:ext uri="{FF2B5EF4-FFF2-40B4-BE49-F238E27FC236}">
                <a16:creationId xmlns:a16="http://schemas.microsoft.com/office/drawing/2014/main" id="{9533A9AE-3EA1-410D-AF04-7E33D8A69132}"/>
              </a:ext>
            </a:extLst>
          </p:cNvPr>
          <p:cNvSpPr>
            <a:spLocks noGrp="1"/>
          </p:cNvSpPr>
          <p:nvPr/>
        </p:nvSpPr>
        <p:spPr>
          <a:xfrm>
            <a:off x="5753100" y="4095750"/>
            <a:ext cx="1524000" cy="209550"/>
          </a:xfrm>
          <a:prstGeom prst="rect">
            <a:avLst/>
          </a:prstGeom>
          <a:noFill/>
          <a:ln w="0">
            <a:noFill/>
            <a:prstDash val="solid"/>
          </a:ln>
        </p:spPr>
        <p:txBody>
          <a:bodyPr/>
          <a:lstStyle/>
          <a:p>
            <a:pPr algn="l">
              <a:defRPr sz="1125" b="0">
                <a:solidFill>
                  <a:srgbClr val="CBD5E1"/>
                </a:solidFill>
                <a:latin typeface="Yu Gothic"/>
                <a:ea typeface="Yu Gothic"/>
                <a:cs typeface="Yu Gothic"/>
              </a:defRPr>
            </a:pPr>
            <a:r>
              <a:rPr sz="1125" b="0">
                <a:solidFill>
                  <a:srgbClr val="CBD5E1"/>
                </a:solidFill>
                <a:latin typeface="Yu Gothic"/>
                <a:ea typeface="Yu Gothic"/>
                <a:cs typeface="Yu Gothic"/>
              </a:rPr>
              <a:t>Using phone</a:t>
            </a:r>
          </a:p>
        </p:txBody>
      </p:sp>
      <p:sp>
        <p:nvSpPr>
          <p:cNvPr id="45" name="正方形/長方形 44">
            <a:extLst>
              <a:ext uri="{FF2B5EF4-FFF2-40B4-BE49-F238E27FC236}">
                <a16:creationId xmlns:a16="http://schemas.microsoft.com/office/drawing/2014/main" id="{384081FB-D596-4503-88F5-AA30457CFE07}"/>
              </a:ext>
            </a:extLst>
          </p:cNvPr>
          <p:cNvSpPr>
            <a:spLocks noGrp="1"/>
          </p:cNvSpPr>
          <p:nvPr/>
        </p:nvSpPr>
        <p:spPr>
          <a:xfrm>
            <a:off x="7429500" y="1695450"/>
            <a:ext cx="609600" cy="209550"/>
          </a:xfrm>
          <a:prstGeom prst="rect">
            <a:avLst/>
          </a:prstGeom>
          <a:noFill/>
          <a:ln w="0">
            <a:noFill/>
            <a:prstDash val="solid"/>
          </a:ln>
        </p:spPr>
        <p:txBody>
          <a:bodyPr/>
          <a:lstStyle/>
          <a:p>
            <a:pPr algn="ctr">
              <a:defRPr sz="1050" b="1">
                <a:solidFill>
                  <a:srgbClr val="38BDF8"/>
                </a:solidFill>
                <a:latin typeface="Yu Gothic"/>
                <a:ea typeface="Yu Gothic"/>
                <a:cs typeface="Yu Gothic"/>
              </a:defRPr>
            </a:pPr>
            <a:r>
              <a:rPr sz="1050" b="1">
                <a:solidFill>
                  <a:srgbClr val="38BDF8"/>
                </a:solidFill>
                <a:latin typeface="Yu Gothic"/>
                <a:ea typeface="Yu Gothic"/>
                <a:cs typeface="Yu Gothic"/>
              </a:rPr>
              <a:t>S1</a:t>
            </a:r>
          </a:p>
        </p:txBody>
      </p:sp>
      <p:sp>
        <p:nvSpPr>
          <p:cNvPr id="46" name="正方形/長方形 45">
            <a:extLst>
              <a:ext uri="{FF2B5EF4-FFF2-40B4-BE49-F238E27FC236}">
                <a16:creationId xmlns:a16="http://schemas.microsoft.com/office/drawing/2014/main" id="{436AED59-B219-4970-86F6-F3EDAD12EF86}"/>
              </a:ext>
            </a:extLst>
          </p:cNvPr>
          <p:cNvSpPr>
            <a:spLocks noGrp="1"/>
          </p:cNvSpPr>
          <p:nvPr/>
        </p:nvSpPr>
        <p:spPr>
          <a:xfrm>
            <a:off x="8305800" y="1695450"/>
            <a:ext cx="609600" cy="209550"/>
          </a:xfrm>
          <a:prstGeom prst="rect">
            <a:avLst/>
          </a:prstGeom>
          <a:noFill/>
          <a:ln w="0">
            <a:noFill/>
            <a:prstDash val="solid"/>
          </a:ln>
        </p:spPr>
        <p:txBody>
          <a:bodyPr/>
          <a:lstStyle/>
          <a:p>
            <a:pPr algn="ctr">
              <a:defRPr sz="1050" b="1">
                <a:solidFill>
                  <a:srgbClr val="38BDF8"/>
                </a:solidFill>
                <a:latin typeface="Yu Gothic"/>
                <a:ea typeface="Yu Gothic"/>
                <a:cs typeface="Yu Gothic"/>
              </a:defRPr>
            </a:pPr>
            <a:r>
              <a:rPr sz="1050" b="1">
                <a:solidFill>
                  <a:srgbClr val="38BDF8"/>
                </a:solidFill>
                <a:latin typeface="Yu Gothic"/>
                <a:ea typeface="Yu Gothic"/>
                <a:cs typeface="Yu Gothic"/>
              </a:rPr>
              <a:t>S2</a:t>
            </a:r>
          </a:p>
        </p:txBody>
      </p:sp>
      <p:sp>
        <p:nvSpPr>
          <p:cNvPr id="47" name="正方形/長方形 46">
            <a:extLst>
              <a:ext uri="{FF2B5EF4-FFF2-40B4-BE49-F238E27FC236}">
                <a16:creationId xmlns:a16="http://schemas.microsoft.com/office/drawing/2014/main" id="{2BD5C7BC-3798-4D4A-8F19-7EA1F4174C5D}"/>
              </a:ext>
            </a:extLst>
          </p:cNvPr>
          <p:cNvSpPr>
            <a:spLocks noGrp="1"/>
          </p:cNvSpPr>
          <p:nvPr/>
        </p:nvSpPr>
        <p:spPr>
          <a:xfrm>
            <a:off x="9182100" y="1695450"/>
            <a:ext cx="609600" cy="209550"/>
          </a:xfrm>
          <a:prstGeom prst="rect">
            <a:avLst/>
          </a:prstGeom>
          <a:noFill/>
          <a:ln w="0">
            <a:noFill/>
            <a:prstDash val="solid"/>
          </a:ln>
        </p:spPr>
        <p:txBody>
          <a:bodyPr/>
          <a:lstStyle/>
          <a:p>
            <a:pPr algn="ctr">
              <a:defRPr sz="1050" b="1">
                <a:solidFill>
                  <a:srgbClr val="38BDF8"/>
                </a:solidFill>
                <a:latin typeface="Yu Gothic"/>
                <a:ea typeface="Yu Gothic"/>
                <a:cs typeface="Yu Gothic"/>
              </a:defRPr>
            </a:pPr>
            <a:r>
              <a:rPr sz="1050" b="1">
                <a:solidFill>
                  <a:srgbClr val="38BDF8"/>
                </a:solidFill>
                <a:latin typeface="Yu Gothic"/>
                <a:ea typeface="Yu Gothic"/>
                <a:cs typeface="Yu Gothic"/>
              </a:rPr>
              <a:t>S3</a:t>
            </a:r>
          </a:p>
        </p:txBody>
      </p:sp>
      <p:sp>
        <p:nvSpPr>
          <p:cNvPr id="48" name="正方形/長方形 47">
            <a:extLst>
              <a:ext uri="{FF2B5EF4-FFF2-40B4-BE49-F238E27FC236}">
                <a16:creationId xmlns:a16="http://schemas.microsoft.com/office/drawing/2014/main" id="{4F0D1129-3E71-4ED6-BE09-661F51393A2D}"/>
              </a:ext>
            </a:extLst>
          </p:cNvPr>
          <p:cNvSpPr>
            <a:spLocks noGrp="1"/>
          </p:cNvSpPr>
          <p:nvPr/>
        </p:nvSpPr>
        <p:spPr>
          <a:xfrm>
            <a:off x="10058400" y="1695450"/>
            <a:ext cx="609600" cy="209550"/>
          </a:xfrm>
          <a:prstGeom prst="rect">
            <a:avLst/>
          </a:prstGeom>
          <a:noFill/>
          <a:ln w="0">
            <a:noFill/>
            <a:prstDash val="solid"/>
          </a:ln>
        </p:spPr>
        <p:txBody>
          <a:bodyPr/>
          <a:lstStyle/>
          <a:p>
            <a:pPr algn="ctr">
              <a:defRPr sz="1050" b="1">
                <a:solidFill>
                  <a:srgbClr val="38BDF8"/>
                </a:solidFill>
                <a:latin typeface="Yu Gothic"/>
                <a:ea typeface="Yu Gothic"/>
                <a:cs typeface="Yu Gothic"/>
              </a:defRPr>
            </a:pPr>
            <a:r>
              <a:rPr sz="1050" b="1">
                <a:solidFill>
                  <a:srgbClr val="38BDF8"/>
                </a:solidFill>
                <a:latin typeface="Yu Gothic"/>
                <a:ea typeface="Yu Gothic"/>
                <a:cs typeface="Yu Gothic"/>
              </a:rPr>
              <a:t>S5</a:t>
            </a:r>
          </a:p>
        </p:txBody>
      </p:sp>
      <p:sp>
        <p:nvSpPr>
          <p:cNvPr id="49" name="角丸四角形 48">
            <a:extLst>
              <a:ext uri="{FF2B5EF4-FFF2-40B4-BE49-F238E27FC236}">
                <a16:creationId xmlns:a16="http://schemas.microsoft.com/office/drawing/2014/main" id="{2981DC66-CE88-4653-BF25-9308BC087866}"/>
              </a:ext>
            </a:extLst>
          </p:cNvPr>
          <p:cNvSpPr>
            <a:spLocks noGrp="1"/>
          </p:cNvSpPr>
          <p:nvPr/>
        </p:nvSpPr>
        <p:spPr>
          <a:xfrm>
            <a:off x="7429500" y="1962150"/>
            <a:ext cx="609600" cy="400050"/>
          </a:xfrm>
          <a:prstGeom prst="roundRect">
            <a:avLst>
              <a:gd name="adj" fmla="val 28571"/>
            </a:avLst>
          </a:prstGeom>
          <a:solidFill>
            <a:srgbClr val="16A34A"/>
          </a:solidFill>
          <a:ln w="0">
            <a:noFill/>
            <a:prstDash val="solid"/>
          </a:ln>
        </p:spPr>
        <p:txBody>
          <a:bodyPr/>
          <a:lstStyle/>
          <a:p>
            <a:endParaRPr lang="ja-JP" altLang="en-US"/>
          </a:p>
        </p:txBody>
      </p:sp>
      <p:sp>
        <p:nvSpPr>
          <p:cNvPr id="50" name="正方形/長方形 49">
            <a:extLst>
              <a:ext uri="{FF2B5EF4-FFF2-40B4-BE49-F238E27FC236}">
                <a16:creationId xmlns:a16="http://schemas.microsoft.com/office/drawing/2014/main" id="{B25DD623-6EC9-405D-96BD-28B5A780ACEA}"/>
              </a:ext>
            </a:extLst>
          </p:cNvPr>
          <p:cNvSpPr>
            <a:spLocks noGrp="1"/>
          </p:cNvSpPr>
          <p:nvPr/>
        </p:nvSpPr>
        <p:spPr>
          <a:xfrm>
            <a:off x="7429500" y="2066925"/>
            <a:ext cx="609600" cy="190500"/>
          </a:xfrm>
          <a:prstGeom prst="rect">
            <a:avLst/>
          </a:prstGeom>
          <a:noFill/>
          <a:ln w="0">
            <a:noFill/>
            <a:prstDash val="solid"/>
          </a:ln>
        </p:spPr>
        <p:txBody>
          <a:bodyPr/>
          <a:lstStyle/>
          <a:p>
            <a:pPr algn="ctr">
              <a:defRPr sz="975" b="1">
                <a:solidFill>
                  <a:srgbClr val="FFFFFF"/>
                </a:solidFill>
                <a:latin typeface="Aptos Display"/>
                <a:ea typeface="Aptos Display"/>
                <a:cs typeface="Aptos Display"/>
              </a:defRPr>
            </a:pPr>
            <a:r>
              <a:rPr sz="975" b="1">
                <a:solidFill>
                  <a:srgbClr val="FFFFFF"/>
                </a:solidFill>
                <a:latin typeface="Aptos Display"/>
                <a:ea typeface="Aptos Display"/>
                <a:cs typeface="Aptos Display"/>
              </a:rPr>
              <a:t>0.936</a:t>
            </a:r>
          </a:p>
        </p:txBody>
      </p:sp>
      <p:sp>
        <p:nvSpPr>
          <p:cNvPr id="51" name="角丸四角形 50">
            <a:extLst>
              <a:ext uri="{FF2B5EF4-FFF2-40B4-BE49-F238E27FC236}">
                <a16:creationId xmlns:a16="http://schemas.microsoft.com/office/drawing/2014/main" id="{789BF92A-C8CC-4560-87CA-2661A234011F}"/>
              </a:ext>
            </a:extLst>
          </p:cNvPr>
          <p:cNvSpPr>
            <a:spLocks noGrp="1"/>
          </p:cNvSpPr>
          <p:nvPr/>
        </p:nvSpPr>
        <p:spPr>
          <a:xfrm>
            <a:off x="8305800" y="1962150"/>
            <a:ext cx="609600" cy="400050"/>
          </a:xfrm>
          <a:prstGeom prst="roundRect">
            <a:avLst>
              <a:gd name="adj" fmla="val 28571"/>
            </a:avLst>
          </a:prstGeom>
          <a:solidFill>
            <a:srgbClr val="16A34A"/>
          </a:solidFill>
          <a:ln w="0">
            <a:noFill/>
            <a:prstDash val="solid"/>
          </a:ln>
        </p:spPr>
        <p:txBody>
          <a:bodyPr/>
          <a:lstStyle/>
          <a:p>
            <a:endParaRPr lang="ja-JP" altLang="en-US"/>
          </a:p>
        </p:txBody>
      </p:sp>
      <p:sp>
        <p:nvSpPr>
          <p:cNvPr id="52" name="正方形/長方形 51">
            <a:extLst>
              <a:ext uri="{FF2B5EF4-FFF2-40B4-BE49-F238E27FC236}">
                <a16:creationId xmlns:a16="http://schemas.microsoft.com/office/drawing/2014/main" id="{F9EAA0F4-21CF-42E9-BFC5-76B2CE413514}"/>
              </a:ext>
            </a:extLst>
          </p:cNvPr>
          <p:cNvSpPr>
            <a:spLocks noGrp="1"/>
          </p:cNvSpPr>
          <p:nvPr/>
        </p:nvSpPr>
        <p:spPr>
          <a:xfrm>
            <a:off x="8305800" y="2066925"/>
            <a:ext cx="609600" cy="190500"/>
          </a:xfrm>
          <a:prstGeom prst="rect">
            <a:avLst/>
          </a:prstGeom>
          <a:noFill/>
          <a:ln w="0">
            <a:noFill/>
            <a:prstDash val="solid"/>
          </a:ln>
        </p:spPr>
        <p:txBody>
          <a:bodyPr/>
          <a:lstStyle/>
          <a:p>
            <a:pPr algn="ctr">
              <a:defRPr sz="975" b="1">
                <a:solidFill>
                  <a:srgbClr val="FFFFFF"/>
                </a:solidFill>
                <a:latin typeface="Aptos Display"/>
                <a:ea typeface="Aptos Display"/>
                <a:cs typeface="Aptos Display"/>
              </a:defRPr>
            </a:pPr>
            <a:r>
              <a:rPr sz="975" b="1">
                <a:solidFill>
                  <a:srgbClr val="FFFFFF"/>
                </a:solidFill>
                <a:latin typeface="Aptos Display"/>
                <a:ea typeface="Aptos Display"/>
                <a:cs typeface="Aptos Display"/>
              </a:rPr>
              <a:t>0.958</a:t>
            </a:r>
          </a:p>
        </p:txBody>
      </p:sp>
      <p:sp>
        <p:nvSpPr>
          <p:cNvPr id="53" name="角丸四角形 52">
            <a:extLst>
              <a:ext uri="{FF2B5EF4-FFF2-40B4-BE49-F238E27FC236}">
                <a16:creationId xmlns:a16="http://schemas.microsoft.com/office/drawing/2014/main" id="{2A19B8A0-9985-4B2D-9FAF-F41A4F14CFD9}"/>
              </a:ext>
            </a:extLst>
          </p:cNvPr>
          <p:cNvSpPr>
            <a:spLocks noGrp="1"/>
          </p:cNvSpPr>
          <p:nvPr/>
        </p:nvSpPr>
        <p:spPr>
          <a:xfrm>
            <a:off x="9182100" y="1962150"/>
            <a:ext cx="609600" cy="400050"/>
          </a:xfrm>
          <a:prstGeom prst="roundRect">
            <a:avLst>
              <a:gd name="adj" fmla="val 28571"/>
            </a:avLst>
          </a:prstGeom>
          <a:solidFill>
            <a:srgbClr val="16A34A"/>
          </a:solidFill>
          <a:ln w="0">
            <a:noFill/>
            <a:prstDash val="solid"/>
          </a:ln>
        </p:spPr>
        <p:txBody>
          <a:bodyPr/>
          <a:lstStyle/>
          <a:p>
            <a:endParaRPr lang="ja-JP" altLang="en-US"/>
          </a:p>
        </p:txBody>
      </p:sp>
      <p:sp>
        <p:nvSpPr>
          <p:cNvPr id="54" name="正方形/長方形 53">
            <a:extLst>
              <a:ext uri="{FF2B5EF4-FFF2-40B4-BE49-F238E27FC236}">
                <a16:creationId xmlns:a16="http://schemas.microsoft.com/office/drawing/2014/main" id="{12CA8D6C-DABB-47DA-B8B2-4F40CD2C22FD}"/>
              </a:ext>
            </a:extLst>
          </p:cNvPr>
          <p:cNvSpPr>
            <a:spLocks noGrp="1"/>
          </p:cNvSpPr>
          <p:nvPr/>
        </p:nvSpPr>
        <p:spPr>
          <a:xfrm>
            <a:off x="9182100" y="2066925"/>
            <a:ext cx="609600" cy="190500"/>
          </a:xfrm>
          <a:prstGeom prst="rect">
            <a:avLst/>
          </a:prstGeom>
          <a:noFill/>
          <a:ln w="0">
            <a:noFill/>
            <a:prstDash val="solid"/>
          </a:ln>
        </p:spPr>
        <p:txBody>
          <a:bodyPr/>
          <a:lstStyle/>
          <a:p>
            <a:pPr algn="ctr">
              <a:defRPr sz="975" b="1">
                <a:solidFill>
                  <a:srgbClr val="FFFFFF"/>
                </a:solidFill>
                <a:latin typeface="Aptos Display"/>
                <a:ea typeface="Aptos Display"/>
                <a:cs typeface="Aptos Display"/>
              </a:defRPr>
            </a:pPr>
            <a:r>
              <a:rPr sz="975" b="1">
                <a:solidFill>
                  <a:srgbClr val="FFFFFF"/>
                </a:solidFill>
                <a:latin typeface="Aptos Display"/>
                <a:ea typeface="Aptos Display"/>
                <a:cs typeface="Aptos Display"/>
              </a:rPr>
              <a:t>0.838</a:t>
            </a:r>
          </a:p>
        </p:txBody>
      </p:sp>
      <p:sp>
        <p:nvSpPr>
          <p:cNvPr id="55" name="角丸四角形 54">
            <a:extLst>
              <a:ext uri="{FF2B5EF4-FFF2-40B4-BE49-F238E27FC236}">
                <a16:creationId xmlns:a16="http://schemas.microsoft.com/office/drawing/2014/main" id="{772D99CF-4E43-488C-BC43-2AD8D2EA6B0E}"/>
              </a:ext>
            </a:extLst>
          </p:cNvPr>
          <p:cNvSpPr>
            <a:spLocks noGrp="1"/>
          </p:cNvSpPr>
          <p:nvPr/>
        </p:nvSpPr>
        <p:spPr>
          <a:xfrm>
            <a:off x="10058400" y="1962150"/>
            <a:ext cx="609600" cy="400050"/>
          </a:xfrm>
          <a:prstGeom prst="roundRect">
            <a:avLst>
              <a:gd name="adj" fmla="val 28571"/>
            </a:avLst>
          </a:prstGeom>
          <a:solidFill>
            <a:srgbClr val="16A34A"/>
          </a:solidFill>
          <a:ln w="0">
            <a:noFill/>
            <a:prstDash val="solid"/>
          </a:ln>
        </p:spPr>
        <p:txBody>
          <a:bodyPr/>
          <a:lstStyle/>
          <a:p>
            <a:endParaRPr lang="ja-JP" altLang="en-US"/>
          </a:p>
        </p:txBody>
      </p:sp>
      <p:sp>
        <p:nvSpPr>
          <p:cNvPr id="56" name="正方形/長方形 55">
            <a:extLst>
              <a:ext uri="{FF2B5EF4-FFF2-40B4-BE49-F238E27FC236}">
                <a16:creationId xmlns:a16="http://schemas.microsoft.com/office/drawing/2014/main" id="{732B1A45-49A9-41C6-B13B-3F2C02065B1D}"/>
              </a:ext>
            </a:extLst>
          </p:cNvPr>
          <p:cNvSpPr>
            <a:spLocks noGrp="1"/>
          </p:cNvSpPr>
          <p:nvPr/>
        </p:nvSpPr>
        <p:spPr>
          <a:xfrm>
            <a:off x="10058400" y="2066925"/>
            <a:ext cx="609600" cy="190500"/>
          </a:xfrm>
          <a:prstGeom prst="rect">
            <a:avLst/>
          </a:prstGeom>
          <a:noFill/>
          <a:ln w="0">
            <a:noFill/>
            <a:prstDash val="solid"/>
          </a:ln>
        </p:spPr>
        <p:txBody>
          <a:bodyPr/>
          <a:lstStyle/>
          <a:p>
            <a:pPr algn="ctr">
              <a:defRPr sz="975" b="1">
                <a:solidFill>
                  <a:srgbClr val="FFFFFF"/>
                </a:solidFill>
                <a:latin typeface="Aptos Display"/>
                <a:ea typeface="Aptos Display"/>
                <a:cs typeface="Aptos Display"/>
              </a:defRPr>
            </a:pPr>
            <a:r>
              <a:rPr sz="975" b="1">
                <a:solidFill>
                  <a:srgbClr val="FFFFFF"/>
                </a:solidFill>
                <a:latin typeface="Aptos Display"/>
                <a:ea typeface="Aptos Display"/>
                <a:cs typeface="Aptos Display"/>
              </a:rPr>
              <a:t>0.992</a:t>
            </a:r>
          </a:p>
        </p:txBody>
      </p:sp>
      <p:sp>
        <p:nvSpPr>
          <p:cNvPr id="57" name="角丸四角形 56">
            <a:extLst>
              <a:ext uri="{FF2B5EF4-FFF2-40B4-BE49-F238E27FC236}">
                <a16:creationId xmlns:a16="http://schemas.microsoft.com/office/drawing/2014/main" id="{BACE0621-3649-4E9A-9AAD-244105A13BD2}"/>
              </a:ext>
            </a:extLst>
          </p:cNvPr>
          <p:cNvSpPr>
            <a:spLocks noGrp="1"/>
          </p:cNvSpPr>
          <p:nvPr/>
        </p:nvSpPr>
        <p:spPr>
          <a:xfrm>
            <a:off x="7429500" y="2647950"/>
            <a:ext cx="609600" cy="400050"/>
          </a:xfrm>
          <a:prstGeom prst="roundRect">
            <a:avLst>
              <a:gd name="adj" fmla="val 28571"/>
            </a:avLst>
          </a:prstGeom>
          <a:solidFill>
            <a:srgbClr val="0EA5E9"/>
          </a:solidFill>
          <a:ln w="0">
            <a:noFill/>
            <a:prstDash val="solid"/>
          </a:ln>
        </p:spPr>
        <p:txBody>
          <a:bodyPr/>
          <a:lstStyle/>
          <a:p>
            <a:endParaRPr lang="ja-JP" altLang="en-US"/>
          </a:p>
        </p:txBody>
      </p:sp>
      <p:sp>
        <p:nvSpPr>
          <p:cNvPr id="58" name="正方形/長方形 57">
            <a:extLst>
              <a:ext uri="{FF2B5EF4-FFF2-40B4-BE49-F238E27FC236}">
                <a16:creationId xmlns:a16="http://schemas.microsoft.com/office/drawing/2014/main" id="{16CD28D2-1A33-41DE-9D21-65CF6EA1D70F}"/>
              </a:ext>
            </a:extLst>
          </p:cNvPr>
          <p:cNvSpPr>
            <a:spLocks noGrp="1"/>
          </p:cNvSpPr>
          <p:nvPr/>
        </p:nvSpPr>
        <p:spPr>
          <a:xfrm>
            <a:off x="7429500" y="2752725"/>
            <a:ext cx="609600" cy="190500"/>
          </a:xfrm>
          <a:prstGeom prst="rect">
            <a:avLst/>
          </a:prstGeom>
          <a:noFill/>
          <a:ln w="0">
            <a:noFill/>
            <a:prstDash val="solid"/>
          </a:ln>
        </p:spPr>
        <p:txBody>
          <a:bodyPr/>
          <a:lstStyle/>
          <a:p>
            <a:pPr algn="ctr">
              <a:defRPr sz="975" b="1">
                <a:solidFill>
                  <a:srgbClr val="FFFFFF"/>
                </a:solidFill>
                <a:latin typeface="Aptos Display"/>
                <a:ea typeface="Aptos Display"/>
                <a:cs typeface="Aptos Display"/>
              </a:defRPr>
            </a:pPr>
            <a:r>
              <a:rPr sz="975" b="1">
                <a:solidFill>
                  <a:srgbClr val="FFFFFF"/>
                </a:solidFill>
                <a:latin typeface="Aptos Display"/>
                <a:ea typeface="Aptos Display"/>
                <a:cs typeface="Aptos Display"/>
              </a:rPr>
              <a:t>0.640</a:t>
            </a:r>
          </a:p>
        </p:txBody>
      </p:sp>
      <p:sp>
        <p:nvSpPr>
          <p:cNvPr id="59" name="角丸四角形 58">
            <a:extLst>
              <a:ext uri="{FF2B5EF4-FFF2-40B4-BE49-F238E27FC236}">
                <a16:creationId xmlns:a16="http://schemas.microsoft.com/office/drawing/2014/main" id="{7DDA2180-8330-49C8-9A06-A5DDF0A8BAF8}"/>
              </a:ext>
            </a:extLst>
          </p:cNvPr>
          <p:cNvSpPr>
            <a:spLocks noGrp="1"/>
          </p:cNvSpPr>
          <p:nvPr/>
        </p:nvSpPr>
        <p:spPr>
          <a:xfrm>
            <a:off x="8305800" y="2647950"/>
            <a:ext cx="609600" cy="400050"/>
          </a:xfrm>
          <a:prstGeom prst="roundRect">
            <a:avLst>
              <a:gd name="adj" fmla="val 28571"/>
            </a:avLst>
          </a:prstGeom>
          <a:solidFill>
            <a:srgbClr val="F97316"/>
          </a:solidFill>
          <a:ln w="0">
            <a:noFill/>
            <a:prstDash val="solid"/>
          </a:ln>
        </p:spPr>
        <p:txBody>
          <a:bodyPr/>
          <a:lstStyle/>
          <a:p>
            <a:endParaRPr lang="ja-JP" altLang="en-US"/>
          </a:p>
        </p:txBody>
      </p:sp>
      <p:sp>
        <p:nvSpPr>
          <p:cNvPr id="60" name="正方形/長方形 59">
            <a:extLst>
              <a:ext uri="{FF2B5EF4-FFF2-40B4-BE49-F238E27FC236}">
                <a16:creationId xmlns:a16="http://schemas.microsoft.com/office/drawing/2014/main" id="{A9AC0E3C-42D2-4453-9B46-C60A20736124}"/>
              </a:ext>
            </a:extLst>
          </p:cNvPr>
          <p:cNvSpPr>
            <a:spLocks noGrp="1"/>
          </p:cNvSpPr>
          <p:nvPr/>
        </p:nvSpPr>
        <p:spPr>
          <a:xfrm>
            <a:off x="8305800" y="2752725"/>
            <a:ext cx="609600" cy="190500"/>
          </a:xfrm>
          <a:prstGeom prst="rect">
            <a:avLst/>
          </a:prstGeom>
          <a:noFill/>
          <a:ln w="0">
            <a:noFill/>
            <a:prstDash val="solid"/>
          </a:ln>
        </p:spPr>
        <p:txBody>
          <a:bodyPr/>
          <a:lstStyle/>
          <a:p>
            <a:pPr algn="ctr">
              <a:defRPr sz="975" b="1">
                <a:solidFill>
                  <a:srgbClr val="FFFFFF"/>
                </a:solidFill>
                <a:latin typeface="Aptos Display"/>
                <a:ea typeface="Aptos Display"/>
                <a:cs typeface="Aptos Display"/>
              </a:defRPr>
            </a:pPr>
            <a:r>
              <a:rPr sz="975" b="1">
                <a:solidFill>
                  <a:srgbClr val="FFFFFF"/>
                </a:solidFill>
                <a:latin typeface="Aptos Display"/>
                <a:ea typeface="Aptos Display"/>
                <a:cs typeface="Aptos Display"/>
              </a:rPr>
              <a:t>0.380</a:t>
            </a:r>
          </a:p>
        </p:txBody>
      </p:sp>
      <p:sp>
        <p:nvSpPr>
          <p:cNvPr id="61" name="角丸四角形 60">
            <a:extLst>
              <a:ext uri="{FF2B5EF4-FFF2-40B4-BE49-F238E27FC236}">
                <a16:creationId xmlns:a16="http://schemas.microsoft.com/office/drawing/2014/main" id="{79D8E5E8-B630-47B3-B092-283C23D0136C}"/>
              </a:ext>
            </a:extLst>
          </p:cNvPr>
          <p:cNvSpPr>
            <a:spLocks noGrp="1"/>
          </p:cNvSpPr>
          <p:nvPr/>
        </p:nvSpPr>
        <p:spPr>
          <a:xfrm>
            <a:off x="9182100" y="2647950"/>
            <a:ext cx="609600" cy="400050"/>
          </a:xfrm>
          <a:prstGeom prst="roundRect">
            <a:avLst>
              <a:gd name="adj" fmla="val 28571"/>
            </a:avLst>
          </a:prstGeom>
          <a:solidFill>
            <a:srgbClr val="DC2626"/>
          </a:solidFill>
          <a:ln w="0">
            <a:noFill/>
            <a:prstDash val="solid"/>
          </a:ln>
        </p:spPr>
        <p:txBody>
          <a:bodyPr/>
          <a:lstStyle/>
          <a:p>
            <a:endParaRPr lang="ja-JP" altLang="en-US"/>
          </a:p>
        </p:txBody>
      </p:sp>
      <p:sp>
        <p:nvSpPr>
          <p:cNvPr id="62" name="正方形/長方形 61">
            <a:extLst>
              <a:ext uri="{FF2B5EF4-FFF2-40B4-BE49-F238E27FC236}">
                <a16:creationId xmlns:a16="http://schemas.microsoft.com/office/drawing/2014/main" id="{153DF4F1-0A86-42E0-945D-EA07F913B51D}"/>
              </a:ext>
            </a:extLst>
          </p:cNvPr>
          <p:cNvSpPr>
            <a:spLocks noGrp="1"/>
          </p:cNvSpPr>
          <p:nvPr/>
        </p:nvSpPr>
        <p:spPr>
          <a:xfrm>
            <a:off x="9182100" y="2752725"/>
            <a:ext cx="609600" cy="190500"/>
          </a:xfrm>
          <a:prstGeom prst="rect">
            <a:avLst/>
          </a:prstGeom>
          <a:noFill/>
          <a:ln w="0">
            <a:noFill/>
            <a:prstDash val="solid"/>
          </a:ln>
        </p:spPr>
        <p:txBody>
          <a:bodyPr/>
          <a:lstStyle/>
          <a:p>
            <a:pPr algn="ctr">
              <a:defRPr sz="975" b="1">
                <a:solidFill>
                  <a:srgbClr val="FFFFFF"/>
                </a:solidFill>
                <a:latin typeface="Aptos Display"/>
                <a:ea typeface="Aptos Display"/>
                <a:cs typeface="Aptos Display"/>
              </a:defRPr>
            </a:pPr>
            <a:r>
              <a:rPr sz="975" b="1">
                <a:solidFill>
                  <a:srgbClr val="FFFFFF"/>
                </a:solidFill>
                <a:latin typeface="Aptos Display"/>
                <a:ea typeface="Aptos Display"/>
                <a:cs typeface="Aptos Display"/>
              </a:rPr>
              <a:t>0.166</a:t>
            </a:r>
          </a:p>
        </p:txBody>
      </p:sp>
      <p:sp>
        <p:nvSpPr>
          <p:cNvPr id="63" name="角丸四角形 62">
            <a:extLst>
              <a:ext uri="{FF2B5EF4-FFF2-40B4-BE49-F238E27FC236}">
                <a16:creationId xmlns:a16="http://schemas.microsoft.com/office/drawing/2014/main" id="{C28A74F7-547C-4D7F-AFFB-260D1283796B}"/>
              </a:ext>
            </a:extLst>
          </p:cNvPr>
          <p:cNvSpPr>
            <a:spLocks noGrp="1"/>
          </p:cNvSpPr>
          <p:nvPr/>
        </p:nvSpPr>
        <p:spPr>
          <a:xfrm>
            <a:off x="10058400" y="2647950"/>
            <a:ext cx="609600" cy="400050"/>
          </a:xfrm>
          <a:prstGeom prst="roundRect">
            <a:avLst>
              <a:gd name="adj" fmla="val 28571"/>
            </a:avLst>
          </a:prstGeom>
          <a:solidFill>
            <a:srgbClr val="F97316"/>
          </a:solidFill>
          <a:ln w="0">
            <a:noFill/>
            <a:prstDash val="solid"/>
          </a:ln>
        </p:spPr>
        <p:txBody>
          <a:bodyPr/>
          <a:lstStyle/>
          <a:p>
            <a:endParaRPr lang="ja-JP" altLang="en-US"/>
          </a:p>
        </p:txBody>
      </p:sp>
      <p:sp>
        <p:nvSpPr>
          <p:cNvPr id="64" name="正方形/長方形 63">
            <a:extLst>
              <a:ext uri="{FF2B5EF4-FFF2-40B4-BE49-F238E27FC236}">
                <a16:creationId xmlns:a16="http://schemas.microsoft.com/office/drawing/2014/main" id="{9FCE71A3-9B58-4DA9-8360-D117DB8E161A}"/>
              </a:ext>
            </a:extLst>
          </p:cNvPr>
          <p:cNvSpPr>
            <a:spLocks noGrp="1"/>
          </p:cNvSpPr>
          <p:nvPr/>
        </p:nvSpPr>
        <p:spPr>
          <a:xfrm>
            <a:off x="10058400" y="2752725"/>
            <a:ext cx="609600" cy="190500"/>
          </a:xfrm>
          <a:prstGeom prst="rect">
            <a:avLst/>
          </a:prstGeom>
          <a:noFill/>
          <a:ln w="0">
            <a:noFill/>
            <a:prstDash val="solid"/>
          </a:ln>
        </p:spPr>
        <p:txBody>
          <a:bodyPr/>
          <a:lstStyle/>
          <a:p>
            <a:pPr algn="ctr">
              <a:defRPr sz="975" b="1">
                <a:solidFill>
                  <a:srgbClr val="FFFFFF"/>
                </a:solidFill>
                <a:latin typeface="Aptos Display"/>
                <a:ea typeface="Aptos Display"/>
                <a:cs typeface="Aptos Display"/>
              </a:defRPr>
            </a:pPr>
            <a:r>
              <a:rPr sz="975" b="1">
                <a:solidFill>
                  <a:srgbClr val="FFFFFF"/>
                </a:solidFill>
                <a:latin typeface="Aptos Display"/>
                <a:ea typeface="Aptos Display"/>
                <a:cs typeface="Aptos Display"/>
              </a:rPr>
              <a:t>0.469</a:t>
            </a:r>
          </a:p>
        </p:txBody>
      </p:sp>
      <p:sp>
        <p:nvSpPr>
          <p:cNvPr id="65" name="角丸四角形 64">
            <a:extLst>
              <a:ext uri="{FF2B5EF4-FFF2-40B4-BE49-F238E27FC236}">
                <a16:creationId xmlns:a16="http://schemas.microsoft.com/office/drawing/2014/main" id="{89327F5B-FDCE-4225-A02D-219D349968B1}"/>
              </a:ext>
            </a:extLst>
          </p:cNvPr>
          <p:cNvSpPr>
            <a:spLocks noGrp="1"/>
          </p:cNvSpPr>
          <p:nvPr/>
        </p:nvSpPr>
        <p:spPr>
          <a:xfrm>
            <a:off x="7429500" y="3333750"/>
            <a:ext cx="609600" cy="400050"/>
          </a:xfrm>
          <a:prstGeom prst="roundRect">
            <a:avLst>
              <a:gd name="adj" fmla="val 28571"/>
            </a:avLst>
          </a:prstGeom>
          <a:solidFill>
            <a:srgbClr val="16A34A"/>
          </a:solidFill>
          <a:ln w="0">
            <a:noFill/>
            <a:prstDash val="solid"/>
          </a:ln>
        </p:spPr>
        <p:txBody>
          <a:bodyPr/>
          <a:lstStyle/>
          <a:p>
            <a:endParaRPr lang="ja-JP" altLang="en-US"/>
          </a:p>
        </p:txBody>
      </p:sp>
      <p:sp>
        <p:nvSpPr>
          <p:cNvPr id="66" name="正方形/長方形 65">
            <a:extLst>
              <a:ext uri="{FF2B5EF4-FFF2-40B4-BE49-F238E27FC236}">
                <a16:creationId xmlns:a16="http://schemas.microsoft.com/office/drawing/2014/main" id="{8A968524-8B52-4C5D-839F-8E61371D70B8}"/>
              </a:ext>
            </a:extLst>
          </p:cNvPr>
          <p:cNvSpPr>
            <a:spLocks noGrp="1"/>
          </p:cNvSpPr>
          <p:nvPr/>
        </p:nvSpPr>
        <p:spPr>
          <a:xfrm>
            <a:off x="7429500" y="3438525"/>
            <a:ext cx="609600" cy="190500"/>
          </a:xfrm>
          <a:prstGeom prst="rect">
            <a:avLst/>
          </a:prstGeom>
          <a:noFill/>
          <a:ln w="0">
            <a:noFill/>
            <a:prstDash val="solid"/>
          </a:ln>
        </p:spPr>
        <p:txBody>
          <a:bodyPr/>
          <a:lstStyle/>
          <a:p>
            <a:pPr algn="ctr">
              <a:defRPr sz="975" b="1">
                <a:solidFill>
                  <a:srgbClr val="FFFFFF"/>
                </a:solidFill>
                <a:latin typeface="Aptos Display"/>
                <a:ea typeface="Aptos Display"/>
                <a:cs typeface="Aptos Display"/>
              </a:defRPr>
            </a:pPr>
            <a:r>
              <a:rPr sz="975" b="1">
                <a:solidFill>
                  <a:srgbClr val="FFFFFF"/>
                </a:solidFill>
                <a:latin typeface="Aptos Display"/>
                <a:ea typeface="Aptos Display"/>
                <a:cs typeface="Aptos Display"/>
              </a:rPr>
              <a:t>0.945</a:t>
            </a:r>
          </a:p>
        </p:txBody>
      </p:sp>
      <p:sp>
        <p:nvSpPr>
          <p:cNvPr id="67" name="角丸四角形 66">
            <a:extLst>
              <a:ext uri="{FF2B5EF4-FFF2-40B4-BE49-F238E27FC236}">
                <a16:creationId xmlns:a16="http://schemas.microsoft.com/office/drawing/2014/main" id="{A2806774-547B-4A04-BA24-912AE2747E37}"/>
              </a:ext>
            </a:extLst>
          </p:cNvPr>
          <p:cNvSpPr>
            <a:spLocks noGrp="1"/>
          </p:cNvSpPr>
          <p:nvPr/>
        </p:nvSpPr>
        <p:spPr>
          <a:xfrm>
            <a:off x="8305800" y="3333750"/>
            <a:ext cx="609600" cy="400050"/>
          </a:xfrm>
          <a:prstGeom prst="roundRect">
            <a:avLst>
              <a:gd name="adj" fmla="val 28571"/>
            </a:avLst>
          </a:prstGeom>
          <a:solidFill>
            <a:srgbClr val="16A34A"/>
          </a:solidFill>
          <a:ln w="0">
            <a:noFill/>
            <a:prstDash val="solid"/>
          </a:ln>
        </p:spPr>
        <p:txBody>
          <a:bodyPr/>
          <a:lstStyle/>
          <a:p>
            <a:endParaRPr lang="ja-JP" altLang="en-US"/>
          </a:p>
        </p:txBody>
      </p:sp>
      <p:sp>
        <p:nvSpPr>
          <p:cNvPr id="68" name="正方形/長方形 67">
            <a:extLst>
              <a:ext uri="{FF2B5EF4-FFF2-40B4-BE49-F238E27FC236}">
                <a16:creationId xmlns:a16="http://schemas.microsoft.com/office/drawing/2014/main" id="{E12C4017-6E6D-444B-835F-5143B5738395}"/>
              </a:ext>
            </a:extLst>
          </p:cNvPr>
          <p:cNvSpPr>
            <a:spLocks noGrp="1"/>
          </p:cNvSpPr>
          <p:nvPr/>
        </p:nvSpPr>
        <p:spPr>
          <a:xfrm>
            <a:off x="8305800" y="3438525"/>
            <a:ext cx="609600" cy="190500"/>
          </a:xfrm>
          <a:prstGeom prst="rect">
            <a:avLst/>
          </a:prstGeom>
          <a:noFill/>
          <a:ln w="0">
            <a:noFill/>
            <a:prstDash val="solid"/>
          </a:ln>
        </p:spPr>
        <p:txBody>
          <a:bodyPr/>
          <a:lstStyle/>
          <a:p>
            <a:pPr algn="ctr">
              <a:defRPr sz="975" b="1">
                <a:solidFill>
                  <a:srgbClr val="FFFFFF"/>
                </a:solidFill>
                <a:latin typeface="Aptos Display"/>
                <a:ea typeface="Aptos Display"/>
                <a:cs typeface="Aptos Display"/>
              </a:defRPr>
            </a:pPr>
            <a:r>
              <a:rPr sz="975" b="1">
                <a:solidFill>
                  <a:srgbClr val="FFFFFF"/>
                </a:solidFill>
                <a:latin typeface="Aptos Display"/>
                <a:ea typeface="Aptos Display"/>
                <a:cs typeface="Aptos Display"/>
              </a:rPr>
              <a:t>0.847</a:t>
            </a:r>
          </a:p>
        </p:txBody>
      </p:sp>
      <p:sp>
        <p:nvSpPr>
          <p:cNvPr id="69" name="角丸四角形 68">
            <a:extLst>
              <a:ext uri="{FF2B5EF4-FFF2-40B4-BE49-F238E27FC236}">
                <a16:creationId xmlns:a16="http://schemas.microsoft.com/office/drawing/2014/main" id="{2D71717E-B816-4F0C-B018-DF84F0A87EB9}"/>
              </a:ext>
            </a:extLst>
          </p:cNvPr>
          <p:cNvSpPr>
            <a:spLocks noGrp="1"/>
          </p:cNvSpPr>
          <p:nvPr/>
        </p:nvSpPr>
        <p:spPr>
          <a:xfrm>
            <a:off x="9182100" y="3333750"/>
            <a:ext cx="609600" cy="400050"/>
          </a:xfrm>
          <a:prstGeom prst="roundRect">
            <a:avLst>
              <a:gd name="adj" fmla="val 28571"/>
            </a:avLst>
          </a:prstGeom>
          <a:solidFill>
            <a:srgbClr val="DC2626"/>
          </a:solidFill>
          <a:ln w="0">
            <a:noFill/>
            <a:prstDash val="solid"/>
          </a:ln>
        </p:spPr>
        <p:txBody>
          <a:bodyPr/>
          <a:lstStyle/>
          <a:p>
            <a:endParaRPr lang="ja-JP" altLang="en-US"/>
          </a:p>
        </p:txBody>
      </p:sp>
      <p:sp>
        <p:nvSpPr>
          <p:cNvPr id="70" name="正方形/長方形 69">
            <a:extLst>
              <a:ext uri="{FF2B5EF4-FFF2-40B4-BE49-F238E27FC236}">
                <a16:creationId xmlns:a16="http://schemas.microsoft.com/office/drawing/2014/main" id="{EDBFD0C5-A782-4198-8FD8-244A021D4922}"/>
              </a:ext>
            </a:extLst>
          </p:cNvPr>
          <p:cNvSpPr>
            <a:spLocks noGrp="1"/>
          </p:cNvSpPr>
          <p:nvPr/>
        </p:nvSpPr>
        <p:spPr>
          <a:xfrm>
            <a:off x="9182100" y="3438525"/>
            <a:ext cx="609600" cy="190500"/>
          </a:xfrm>
          <a:prstGeom prst="rect">
            <a:avLst/>
          </a:prstGeom>
          <a:noFill/>
          <a:ln w="0">
            <a:noFill/>
            <a:prstDash val="solid"/>
          </a:ln>
        </p:spPr>
        <p:txBody>
          <a:bodyPr/>
          <a:lstStyle/>
          <a:p>
            <a:pPr algn="ctr">
              <a:defRPr sz="975" b="1">
                <a:solidFill>
                  <a:srgbClr val="FFFFFF"/>
                </a:solidFill>
                <a:latin typeface="Aptos Display"/>
                <a:ea typeface="Aptos Display"/>
                <a:cs typeface="Aptos Display"/>
              </a:defRPr>
            </a:pPr>
            <a:r>
              <a:rPr sz="975" b="1">
                <a:solidFill>
                  <a:srgbClr val="FFFFFF"/>
                </a:solidFill>
                <a:latin typeface="Aptos Display"/>
                <a:ea typeface="Aptos Display"/>
                <a:cs typeface="Aptos Display"/>
              </a:rPr>
              <a:t>0.082</a:t>
            </a:r>
          </a:p>
        </p:txBody>
      </p:sp>
      <p:sp>
        <p:nvSpPr>
          <p:cNvPr id="71" name="角丸四角形 70">
            <a:extLst>
              <a:ext uri="{FF2B5EF4-FFF2-40B4-BE49-F238E27FC236}">
                <a16:creationId xmlns:a16="http://schemas.microsoft.com/office/drawing/2014/main" id="{23236DF5-7454-47C1-8A5F-1CAA0B73B773}"/>
              </a:ext>
            </a:extLst>
          </p:cNvPr>
          <p:cNvSpPr>
            <a:spLocks noGrp="1"/>
          </p:cNvSpPr>
          <p:nvPr/>
        </p:nvSpPr>
        <p:spPr>
          <a:xfrm>
            <a:off x="10058400" y="3333750"/>
            <a:ext cx="609600" cy="400050"/>
          </a:xfrm>
          <a:prstGeom prst="roundRect">
            <a:avLst>
              <a:gd name="adj" fmla="val 28571"/>
            </a:avLst>
          </a:prstGeom>
          <a:solidFill>
            <a:srgbClr val="16A34A"/>
          </a:solidFill>
          <a:ln w="0">
            <a:noFill/>
            <a:prstDash val="solid"/>
          </a:ln>
        </p:spPr>
        <p:txBody>
          <a:bodyPr/>
          <a:lstStyle/>
          <a:p>
            <a:endParaRPr lang="ja-JP" altLang="en-US"/>
          </a:p>
        </p:txBody>
      </p:sp>
      <p:sp>
        <p:nvSpPr>
          <p:cNvPr id="72" name="正方形/長方形 71">
            <a:extLst>
              <a:ext uri="{FF2B5EF4-FFF2-40B4-BE49-F238E27FC236}">
                <a16:creationId xmlns:a16="http://schemas.microsoft.com/office/drawing/2014/main" id="{377DD22A-8D91-45F2-8FF5-2CBEA3959B51}"/>
              </a:ext>
            </a:extLst>
          </p:cNvPr>
          <p:cNvSpPr>
            <a:spLocks noGrp="1"/>
          </p:cNvSpPr>
          <p:nvPr/>
        </p:nvSpPr>
        <p:spPr>
          <a:xfrm>
            <a:off x="10058400" y="3438525"/>
            <a:ext cx="609600" cy="190500"/>
          </a:xfrm>
          <a:prstGeom prst="rect">
            <a:avLst/>
          </a:prstGeom>
          <a:noFill/>
          <a:ln w="0">
            <a:noFill/>
            <a:prstDash val="solid"/>
          </a:ln>
        </p:spPr>
        <p:txBody>
          <a:bodyPr/>
          <a:lstStyle/>
          <a:p>
            <a:pPr algn="ctr">
              <a:defRPr sz="975" b="1">
                <a:solidFill>
                  <a:srgbClr val="FFFFFF"/>
                </a:solidFill>
                <a:latin typeface="Aptos Display"/>
                <a:ea typeface="Aptos Display"/>
                <a:cs typeface="Aptos Display"/>
              </a:defRPr>
            </a:pPr>
            <a:r>
              <a:rPr sz="975" b="1">
                <a:solidFill>
                  <a:srgbClr val="FFFFFF"/>
                </a:solidFill>
                <a:latin typeface="Aptos Display"/>
                <a:ea typeface="Aptos Display"/>
                <a:cs typeface="Aptos Display"/>
              </a:rPr>
              <a:t>0.988</a:t>
            </a:r>
          </a:p>
        </p:txBody>
      </p:sp>
      <p:sp>
        <p:nvSpPr>
          <p:cNvPr id="73" name="角丸四角形 72">
            <a:extLst>
              <a:ext uri="{FF2B5EF4-FFF2-40B4-BE49-F238E27FC236}">
                <a16:creationId xmlns:a16="http://schemas.microsoft.com/office/drawing/2014/main" id="{0D002729-97F1-4734-A9FA-D1E5D4DD18F3}"/>
              </a:ext>
            </a:extLst>
          </p:cNvPr>
          <p:cNvSpPr>
            <a:spLocks noGrp="1"/>
          </p:cNvSpPr>
          <p:nvPr/>
        </p:nvSpPr>
        <p:spPr>
          <a:xfrm>
            <a:off x="7429500" y="4019550"/>
            <a:ext cx="609600" cy="400050"/>
          </a:xfrm>
          <a:prstGeom prst="roundRect">
            <a:avLst>
              <a:gd name="adj" fmla="val 28571"/>
            </a:avLst>
          </a:prstGeom>
          <a:solidFill>
            <a:srgbClr val="F97316"/>
          </a:solidFill>
          <a:ln w="0">
            <a:noFill/>
            <a:prstDash val="solid"/>
          </a:ln>
        </p:spPr>
        <p:txBody>
          <a:bodyPr/>
          <a:lstStyle/>
          <a:p>
            <a:endParaRPr lang="ja-JP" altLang="en-US"/>
          </a:p>
        </p:txBody>
      </p:sp>
      <p:sp>
        <p:nvSpPr>
          <p:cNvPr id="74" name="正方形/長方形 73">
            <a:extLst>
              <a:ext uri="{FF2B5EF4-FFF2-40B4-BE49-F238E27FC236}">
                <a16:creationId xmlns:a16="http://schemas.microsoft.com/office/drawing/2014/main" id="{4618EB23-8D13-4BFD-A9D7-599FD26ACA2A}"/>
              </a:ext>
            </a:extLst>
          </p:cNvPr>
          <p:cNvSpPr>
            <a:spLocks noGrp="1"/>
          </p:cNvSpPr>
          <p:nvPr/>
        </p:nvSpPr>
        <p:spPr>
          <a:xfrm>
            <a:off x="7429500" y="4124325"/>
            <a:ext cx="609600" cy="190500"/>
          </a:xfrm>
          <a:prstGeom prst="rect">
            <a:avLst/>
          </a:prstGeom>
          <a:noFill/>
          <a:ln w="0">
            <a:noFill/>
            <a:prstDash val="solid"/>
          </a:ln>
        </p:spPr>
        <p:txBody>
          <a:bodyPr/>
          <a:lstStyle/>
          <a:p>
            <a:pPr algn="ctr">
              <a:defRPr sz="975" b="1">
                <a:solidFill>
                  <a:srgbClr val="FFFFFF"/>
                </a:solidFill>
                <a:latin typeface="Aptos Display"/>
                <a:ea typeface="Aptos Display"/>
                <a:cs typeface="Aptos Display"/>
              </a:defRPr>
            </a:pPr>
            <a:r>
              <a:rPr sz="975" b="1">
                <a:solidFill>
                  <a:srgbClr val="FFFFFF"/>
                </a:solidFill>
                <a:latin typeface="Aptos Display"/>
                <a:ea typeface="Aptos Display"/>
                <a:cs typeface="Aptos Display"/>
              </a:rPr>
              <a:t>0.467</a:t>
            </a:r>
          </a:p>
        </p:txBody>
      </p:sp>
      <p:sp>
        <p:nvSpPr>
          <p:cNvPr id="75" name="角丸四角形 74">
            <a:extLst>
              <a:ext uri="{FF2B5EF4-FFF2-40B4-BE49-F238E27FC236}">
                <a16:creationId xmlns:a16="http://schemas.microsoft.com/office/drawing/2014/main" id="{A2AEF0A6-C09C-4798-AD9F-63A2675AFCE9}"/>
              </a:ext>
            </a:extLst>
          </p:cNvPr>
          <p:cNvSpPr>
            <a:spLocks noGrp="1"/>
          </p:cNvSpPr>
          <p:nvPr/>
        </p:nvSpPr>
        <p:spPr>
          <a:xfrm>
            <a:off x="8305800" y="4019550"/>
            <a:ext cx="609600" cy="400050"/>
          </a:xfrm>
          <a:prstGeom prst="roundRect">
            <a:avLst>
              <a:gd name="adj" fmla="val 28571"/>
            </a:avLst>
          </a:prstGeom>
          <a:solidFill>
            <a:srgbClr val="DC2626"/>
          </a:solidFill>
          <a:ln w="0">
            <a:noFill/>
            <a:prstDash val="solid"/>
          </a:ln>
        </p:spPr>
        <p:txBody>
          <a:bodyPr/>
          <a:lstStyle/>
          <a:p>
            <a:endParaRPr lang="ja-JP" altLang="en-US"/>
          </a:p>
        </p:txBody>
      </p:sp>
      <p:sp>
        <p:nvSpPr>
          <p:cNvPr id="76" name="正方形/長方形 75">
            <a:extLst>
              <a:ext uri="{FF2B5EF4-FFF2-40B4-BE49-F238E27FC236}">
                <a16:creationId xmlns:a16="http://schemas.microsoft.com/office/drawing/2014/main" id="{2622294F-F727-4AF4-93DA-19AF84C41ACE}"/>
              </a:ext>
            </a:extLst>
          </p:cNvPr>
          <p:cNvSpPr>
            <a:spLocks noGrp="1"/>
          </p:cNvSpPr>
          <p:nvPr/>
        </p:nvSpPr>
        <p:spPr>
          <a:xfrm>
            <a:off x="8305800" y="4124325"/>
            <a:ext cx="609600" cy="190500"/>
          </a:xfrm>
          <a:prstGeom prst="rect">
            <a:avLst/>
          </a:prstGeom>
          <a:noFill/>
          <a:ln w="0">
            <a:noFill/>
            <a:prstDash val="solid"/>
          </a:ln>
        </p:spPr>
        <p:txBody>
          <a:bodyPr/>
          <a:lstStyle/>
          <a:p>
            <a:pPr algn="ctr">
              <a:defRPr sz="975" b="1">
                <a:solidFill>
                  <a:srgbClr val="FFFFFF"/>
                </a:solidFill>
                <a:latin typeface="Aptos Display"/>
                <a:ea typeface="Aptos Display"/>
                <a:cs typeface="Aptos Display"/>
              </a:defRPr>
            </a:pPr>
            <a:r>
              <a:rPr sz="975" b="1">
                <a:solidFill>
                  <a:srgbClr val="FFFFFF"/>
                </a:solidFill>
                <a:latin typeface="Aptos Display"/>
                <a:ea typeface="Aptos Display"/>
                <a:cs typeface="Aptos Display"/>
              </a:rPr>
              <a:t>0.000</a:t>
            </a:r>
          </a:p>
        </p:txBody>
      </p:sp>
      <p:sp>
        <p:nvSpPr>
          <p:cNvPr id="77" name="角丸四角形 76">
            <a:extLst>
              <a:ext uri="{FF2B5EF4-FFF2-40B4-BE49-F238E27FC236}">
                <a16:creationId xmlns:a16="http://schemas.microsoft.com/office/drawing/2014/main" id="{3CBF64BF-5A44-4296-A6A1-0BE84004A317}"/>
              </a:ext>
            </a:extLst>
          </p:cNvPr>
          <p:cNvSpPr>
            <a:spLocks noGrp="1"/>
          </p:cNvSpPr>
          <p:nvPr/>
        </p:nvSpPr>
        <p:spPr>
          <a:xfrm>
            <a:off x="9182100" y="4019550"/>
            <a:ext cx="609600" cy="400050"/>
          </a:xfrm>
          <a:prstGeom prst="roundRect">
            <a:avLst>
              <a:gd name="adj" fmla="val 28571"/>
            </a:avLst>
          </a:prstGeom>
          <a:solidFill>
            <a:srgbClr val="F97316"/>
          </a:solidFill>
          <a:ln w="0">
            <a:noFill/>
            <a:prstDash val="solid"/>
          </a:ln>
        </p:spPr>
        <p:txBody>
          <a:bodyPr/>
          <a:lstStyle/>
          <a:p>
            <a:endParaRPr lang="ja-JP" altLang="en-US"/>
          </a:p>
        </p:txBody>
      </p:sp>
      <p:sp>
        <p:nvSpPr>
          <p:cNvPr id="78" name="正方形/長方形 77">
            <a:extLst>
              <a:ext uri="{FF2B5EF4-FFF2-40B4-BE49-F238E27FC236}">
                <a16:creationId xmlns:a16="http://schemas.microsoft.com/office/drawing/2014/main" id="{FFCA56B7-9929-42B3-AAA1-26C67A40B970}"/>
              </a:ext>
            </a:extLst>
          </p:cNvPr>
          <p:cNvSpPr>
            <a:spLocks noGrp="1"/>
          </p:cNvSpPr>
          <p:nvPr/>
        </p:nvSpPr>
        <p:spPr>
          <a:xfrm>
            <a:off x="9182100" y="4124325"/>
            <a:ext cx="609600" cy="190500"/>
          </a:xfrm>
          <a:prstGeom prst="rect">
            <a:avLst/>
          </a:prstGeom>
          <a:noFill/>
          <a:ln w="0">
            <a:noFill/>
            <a:prstDash val="solid"/>
          </a:ln>
        </p:spPr>
        <p:txBody>
          <a:bodyPr/>
          <a:lstStyle/>
          <a:p>
            <a:pPr algn="ctr">
              <a:defRPr sz="975" b="1">
                <a:solidFill>
                  <a:srgbClr val="FFFFFF"/>
                </a:solidFill>
                <a:latin typeface="Aptos Display"/>
                <a:ea typeface="Aptos Display"/>
                <a:cs typeface="Aptos Display"/>
              </a:defRPr>
            </a:pPr>
            <a:r>
              <a:rPr sz="975" b="1">
                <a:solidFill>
                  <a:srgbClr val="FFFFFF"/>
                </a:solidFill>
                <a:latin typeface="Aptos Display"/>
                <a:ea typeface="Aptos Display"/>
                <a:cs typeface="Aptos Display"/>
              </a:rPr>
              <a:t>0.442</a:t>
            </a:r>
          </a:p>
        </p:txBody>
      </p:sp>
      <p:sp>
        <p:nvSpPr>
          <p:cNvPr id="79" name="角丸四角形 78">
            <a:extLst>
              <a:ext uri="{FF2B5EF4-FFF2-40B4-BE49-F238E27FC236}">
                <a16:creationId xmlns:a16="http://schemas.microsoft.com/office/drawing/2014/main" id="{38462D6C-1397-4458-AA3E-7DF69BF87ED7}"/>
              </a:ext>
            </a:extLst>
          </p:cNvPr>
          <p:cNvSpPr>
            <a:spLocks noGrp="1"/>
          </p:cNvSpPr>
          <p:nvPr/>
        </p:nvSpPr>
        <p:spPr>
          <a:xfrm>
            <a:off x="10058400" y="4019550"/>
            <a:ext cx="609600" cy="400050"/>
          </a:xfrm>
          <a:prstGeom prst="roundRect">
            <a:avLst>
              <a:gd name="adj" fmla="val 28571"/>
            </a:avLst>
          </a:prstGeom>
          <a:solidFill>
            <a:srgbClr val="0EA5E9"/>
          </a:solidFill>
          <a:ln w="0">
            <a:noFill/>
            <a:prstDash val="solid"/>
          </a:ln>
        </p:spPr>
        <p:txBody>
          <a:bodyPr/>
          <a:lstStyle/>
          <a:p>
            <a:endParaRPr lang="ja-JP" altLang="en-US"/>
          </a:p>
        </p:txBody>
      </p:sp>
      <p:sp>
        <p:nvSpPr>
          <p:cNvPr id="80" name="正方形/長方形 79">
            <a:extLst>
              <a:ext uri="{FF2B5EF4-FFF2-40B4-BE49-F238E27FC236}">
                <a16:creationId xmlns:a16="http://schemas.microsoft.com/office/drawing/2014/main" id="{8A3424B5-7E90-4C62-B4D2-779C3BDABCCC}"/>
              </a:ext>
            </a:extLst>
          </p:cNvPr>
          <p:cNvSpPr>
            <a:spLocks noGrp="1"/>
          </p:cNvSpPr>
          <p:nvPr/>
        </p:nvSpPr>
        <p:spPr>
          <a:xfrm>
            <a:off x="10058400" y="4124325"/>
            <a:ext cx="609600" cy="190500"/>
          </a:xfrm>
          <a:prstGeom prst="rect">
            <a:avLst/>
          </a:prstGeom>
          <a:noFill/>
          <a:ln w="0">
            <a:noFill/>
            <a:prstDash val="solid"/>
          </a:ln>
        </p:spPr>
        <p:txBody>
          <a:bodyPr/>
          <a:lstStyle/>
          <a:p>
            <a:pPr algn="ctr">
              <a:defRPr sz="975" b="1">
                <a:solidFill>
                  <a:srgbClr val="FFFFFF"/>
                </a:solidFill>
                <a:latin typeface="Aptos Display"/>
                <a:ea typeface="Aptos Display"/>
                <a:cs typeface="Aptos Display"/>
              </a:defRPr>
            </a:pPr>
            <a:r>
              <a:rPr sz="975" b="1">
                <a:solidFill>
                  <a:srgbClr val="FFFFFF"/>
                </a:solidFill>
                <a:latin typeface="Aptos Display"/>
                <a:ea typeface="Aptos Display"/>
                <a:cs typeface="Aptos Display"/>
              </a:rPr>
              <a:t>0.551</a:t>
            </a:r>
          </a:p>
        </p:txBody>
      </p:sp>
      <p:sp>
        <p:nvSpPr>
          <p:cNvPr id="81" name="角丸四角形 80">
            <a:extLst>
              <a:ext uri="{FF2B5EF4-FFF2-40B4-BE49-F238E27FC236}">
                <a16:creationId xmlns:a16="http://schemas.microsoft.com/office/drawing/2014/main" id="{FD7407EA-FA15-4379-96C7-444BB3614D78}"/>
              </a:ext>
            </a:extLst>
          </p:cNvPr>
          <p:cNvSpPr>
            <a:spLocks noGrp="1"/>
          </p:cNvSpPr>
          <p:nvPr/>
        </p:nvSpPr>
        <p:spPr>
          <a:xfrm>
            <a:off x="5753100" y="5010150"/>
            <a:ext cx="5162550" cy="704850"/>
          </a:xfrm>
          <a:prstGeom prst="roundRect">
            <a:avLst>
              <a:gd name="adj" fmla="val 21622"/>
            </a:avLst>
          </a:prstGeom>
          <a:solidFill>
            <a:srgbClr val="172033"/>
          </a:solidFill>
          <a:ln w="9525">
            <a:solidFill>
              <a:srgbClr val="334155"/>
            </a:solidFill>
            <a:prstDash val="solid"/>
          </a:ln>
        </p:spPr>
        <p:txBody>
          <a:bodyPr/>
          <a:lstStyle/>
          <a:p>
            <a:endParaRPr lang="ja-JP" altLang="en-US"/>
          </a:p>
        </p:txBody>
      </p:sp>
      <p:sp>
        <p:nvSpPr>
          <p:cNvPr id="82" name="正方形/長方形 81">
            <a:extLst>
              <a:ext uri="{FF2B5EF4-FFF2-40B4-BE49-F238E27FC236}">
                <a16:creationId xmlns:a16="http://schemas.microsoft.com/office/drawing/2014/main" id="{7607363F-ECFA-4B9B-A71A-662AF5B0BF6E}"/>
              </a:ext>
            </a:extLst>
          </p:cNvPr>
          <p:cNvSpPr>
            <a:spLocks noGrp="1"/>
          </p:cNvSpPr>
          <p:nvPr/>
        </p:nvSpPr>
        <p:spPr>
          <a:xfrm>
            <a:off x="6000750" y="5200650"/>
            <a:ext cx="952500" cy="209550"/>
          </a:xfrm>
          <a:prstGeom prst="rect">
            <a:avLst/>
          </a:prstGeom>
          <a:noFill/>
          <a:ln w="0">
            <a:noFill/>
            <a:prstDash val="solid"/>
          </a:ln>
        </p:spPr>
        <p:txBody>
          <a:bodyPr/>
          <a:lstStyle/>
          <a:p>
            <a:pPr algn="l">
              <a:defRPr sz="1200" b="1">
                <a:solidFill>
                  <a:srgbClr val="38BDF8"/>
                </a:solidFill>
                <a:latin typeface="Yu Gothic"/>
                <a:ea typeface="Yu Gothic"/>
                <a:cs typeface="Yu Gothic"/>
              </a:defRPr>
            </a:pPr>
            <a:r>
              <a:rPr sz="1200" b="1">
                <a:solidFill>
                  <a:srgbClr val="38BDF8"/>
                </a:solidFill>
                <a:latin typeface="Yu Gothic"/>
                <a:ea typeface="Yu Gothic"/>
                <a:cs typeface="Yu Gothic"/>
              </a:rPr>
              <a:t>読み取り</a:t>
            </a:r>
          </a:p>
        </p:txBody>
      </p:sp>
      <p:sp>
        <p:nvSpPr>
          <p:cNvPr id="83" name="正方形/長方形 82">
            <a:extLst>
              <a:ext uri="{FF2B5EF4-FFF2-40B4-BE49-F238E27FC236}">
                <a16:creationId xmlns:a16="http://schemas.microsoft.com/office/drawing/2014/main" id="{B8F5C5ED-94A9-43BE-9949-4E20F3091BFC}"/>
              </a:ext>
            </a:extLst>
          </p:cNvPr>
          <p:cNvSpPr>
            <a:spLocks noGrp="1"/>
          </p:cNvSpPr>
          <p:nvPr/>
        </p:nvSpPr>
        <p:spPr>
          <a:xfrm>
            <a:off x="6953250" y="5200650"/>
            <a:ext cx="3676650" cy="381000"/>
          </a:xfrm>
          <a:prstGeom prst="rect">
            <a:avLst/>
          </a:prstGeom>
          <a:noFill/>
          <a:ln w="0">
            <a:noFill/>
            <a:prstDash val="solid"/>
          </a:ln>
        </p:spPr>
        <p:txBody>
          <a:bodyPr/>
          <a:lstStyle/>
          <a:p>
            <a:pPr algn="l">
              <a:defRPr sz="1125" b="0">
                <a:solidFill>
                  <a:srgbClr val="FFFFFF"/>
                </a:solidFill>
                <a:latin typeface="Yu Gothic"/>
                <a:ea typeface="Yu Gothic"/>
                <a:cs typeface="Yu Gothic"/>
              </a:defRPr>
            </a:pPr>
            <a:r>
              <a:rPr sz="1125" b="0">
                <a:solidFill>
                  <a:srgbClr val="FFFFFF"/>
                </a:solidFill>
                <a:latin typeface="Yu Gothic"/>
                <a:ea typeface="Yu Gothic"/>
                <a:cs typeface="Yu Gothic"/>
              </a:rPr>
              <a:t>Walkingは安定。一方で Biting nails / Using phone は手元動作が似ており、Subject差も大きい。</a:t>
            </a:r>
          </a:p>
        </p:txBody>
      </p:sp>
      <p:sp>
        <p:nvSpPr>
          <p:cNvPr id="84" name="正方形/長方形 83">
            <a:extLst>
              <a:ext uri="{FF2B5EF4-FFF2-40B4-BE49-F238E27FC236}">
                <a16:creationId xmlns:a16="http://schemas.microsoft.com/office/drawing/2014/main" id="{85A9DF11-651C-4BDF-9D36-5E569F880EC2}"/>
              </a:ext>
            </a:extLst>
          </p:cNvPr>
          <p:cNvSpPr>
            <a:spLocks noGrp="1"/>
          </p:cNvSpPr>
          <p:nvPr/>
        </p:nvSpPr>
        <p:spPr>
          <a:xfrm>
            <a:off x="742950" y="5657850"/>
            <a:ext cx="2857500" cy="209550"/>
          </a:xfrm>
          <a:prstGeom prst="rect">
            <a:avLst/>
          </a:prstGeom>
          <a:noFill/>
          <a:ln w="0">
            <a:noFill/>
            <a:prstDash val="solid"/>
          </a:ln>
        </p:spPr>
        <p:txBody>
          <a:bodyPr/>
          <a:lstStyle/>
          <a:p>
            <a:pPr algn="l">
              <a:defRPr sz="900" b="0">
                <a:solidFill>
                  <a:srgbClr val="94A3B8"/>
                </a:solidFill>
                <a:latin typeface="Yu Gothic"/>
                <a:ea typeface="Yu Gothic"/>
                <a:cs typeface="Yu Gothic"/>
              </a:defRPr>
            </a:pPr>
            <a:r>
              <a:rPr sz="900" b="0">
                <a:solidFill>
                  <a:srgbClr val="94A3B8"/>
                </a:solidFill>
                <a:latin typeface="Yu Gothic"/>
                <a:ea typeface="Yu Gothic"/>
                <a:cs typeface="Yu Gothic"/>
              </a:rPr>
              <a:t>support = そのクラスの正解窓数</a:t>
            </a:r>
          </a:p>
        </p:txBody>
      </p:sp>
    </p:spTree>
    <p:extLst>
      <p:ext uri="{BB962C8B-B14F-4D97-AF65-F5344CB8AC3E}">
        <p14:creationId xmlns:p14="http://schemas.microsoft.com/office/powerpoint/2010/main" val="1154041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3" name="正方形/長方形 32">
            <a:extLst>
              <a:ext uri="{FF2B5EF4-FFF2-40B4-BE49-F238E27FC236}">
                <a16:creationId xmlns:a16="http://schemas.microsoft.com/office/drawing/2014/main" id="{495ACD64-36F9-48AD-A88F-472FE293AEC8}"/>
              </a:ext>
            </a:extLst>
          </p:cNvPr>
          <p:cNvSpPr>
            <a:spLocks noGrp="1"/>
          </p:cNvSpPr>
          <p:nvPr/>
        </p:nvSpPr>
        <p:spPr>
          <a:xfrm>
            <a:off x="609600" y="381000"/>
            <a:ext cx="5905500" cy="228600"/>
          </a:xfrm>
          <a:prstGeom prst="rect">
            <a:avLst/>
          </a:prstGeom>
          <a:noFill/>
          <a:ln w="0">
            <a:noFill/>
            <a:prstDash val="solid"/>
          </a:ln>
        </p:spPr>
        <p:txBody>
          <a:bodyPr/>
          <a:lstStyle/>
          <a:p>
            <a:pPr algn="l">
              <a:defRPr sz="900" b="1">
                <a:solidFill>
                  <a:srgbClr val="0EA5E9"/>
                </a:solidFill>
                <a:latin typeface="Yu Gothic"/>
                <a:ea typeface="Yu Gothic"/>
                <a:cs typeface="Yu Gothic"/>
              </a:defRPr>
            </a:pPr>
            <a:r>
              <a:rPr sz="900" b="1">
                <a:solidFill>
                  <a:srgbClr val="0EA5E9"/>
                </a:solidFill>
                <a:latin typeface="Yu Gothic"/>
                <a:ea typeface="Yu Gothic"/>
                <a:cs typeface="Yu Gothic"/>
              </a:rPr>
              <a:t>WHAT WORKED AND WHAT REMAINS</a:t>
            </a:r>
          </a:p>
        </p:txBody>
      </p:sp>
      <p:sp>
        <p:nvSpPr>
          <p:cNvPr id="2" name="正方形/長方形 1">
            <a:extLst>
              <a:ext uri="{FF2B5EF4-FFF2-40B4-BE49-F238E27FC236}">
                <a16:creationId xmlns:a16="http://schemas.microsoft.com/office/drawing/2014/main" id="{9E0700C8-993E-42F0-A617-C6FD6EF101F5}"/>
              </a:ext>
            </a:extLst>
          </p:cNvPr>
          <p:cNvSpPr>
            <a:spLocks noGrp="1"/>
          </p:cNvSpPr>
          <p:nvPr/>
        </p:nvSpPr>
        <p:spPr>
          <a:xfrm>
            <a:off x="609600" y="647700"/>
            <a:ext cx="8096250" cy="514350"/>
          </a:xfrm>
          <a:prstGeom prst="rect">
            <a:avLst/>
          </a:prstGeom>
          <a:noFill/>
          <a:ln w="0">
            <a:noFill/>
            <a:prstDash val="solid"/>
          </a:ln>
        </p:spPr>
        <p:txBody>
          <a:bodyPr/>
          <a:lstStyle/>
          <a:p>
            <a:pPr algn="l">
              <a:defRPr sz="2700" b="1">
                <a:solidFill>
                  <a:srgbClr val="0B1220"/>
                </a:solidFill>
                <a:latin typeface="Yu Gothic"/>
                <a:ea typeface="Yu Gothic"/>
                <a:cs typeface="Yu Gothic"/>
              </a:defRPr>
            </a:pPr>
            <a:r>
              <a:rPr sz="2700" b="1">
                <a:solidFill>
                  <a:srgbClr val="0B1220"/>
                </a:solidFill>
                <a:latin typeface="Yu Gothic"/>
                <a:ea typeface="Yu Gothic"/>
                <a:cs typeface="Yu Gothic"/>
              </a:rPr>
              <a:t>考察</a:t>
            </a:r>
          </a:p>
        </p:txBody>
      </p:sp>
      <p:sp>
        <p:nvSpPr>
          <p:cNvPr id="3" name="正方形/長方形 2">
            <a:extLst>
              <a:ext uri="{FF2B5EF4-FFF2-40B4-BE49-F238E27FC236}">
                <a16:creationId xmlns:a16="http://schemas.microsoft.com/office/drawing/2014/main" id="{0930F323-7FB1-40E3-8383-B9A118C43ECA}"/>
              </a:ext>
            </a:extLst>
          </p:cNvPr>
          <p:cNvSpPr>
            <a:spLocks noGrp="1"/>
          </p:cNvSpPr>
          <p:nvPr/>
        </p:nvSpPr>
        <p:spPr>
          <a:xfrm>
            <a:off x="609600" y="1200150"/>
            <a:ext cx="742950" cy="38100"/>
          </a:xfrm>
          <a:prstGeom prst="rect">
            <a:avLst/>
          </a:prstGeom>
          <a:solidFill>
            <a:srgbClr val="38BDF8"/>
          </a:solidFill>
          <a:ln w="0">
            <a:noFill/>
            <a:prstDash val="solid"/>
          </a:ln>
        </p:spPr>
        <p:txBody>
          <a:bodyPr/>
          <a:lstStyle/>
          <a:p>
            <a:endParaRPr lang="ja-JP" altLang="en-US"/>
          </a:p>
        </p:txBody>
      </p:sp>
      <p:sp>
        <p:nvSpPr>
          <p:cNvPr id="4" name="正方形/長方形 3">
            <a:extLst>
              <a:ext uri="{FF2B5EF4-FFF2-40B4-BE49-F238E27FC236}">
                <a16:creationId xmlns:a16="http://schemas.microsoft.com/office/drawing/2014/main" id="{00B3A841-8E59-49A9-908F-3C83D68DAC2C}"/>
              </a:ext>
            </a:extLst>
          </p:cNvPr>
          <p:cNvSpPr>
            <a:spLocks noGrp="1"/>
          </p:cNvSpPr>
          <p:nvPr/>
        </p:nvSpPr>
        <p:spPr>
          <a:xfrm>
            <a:off x="7810500" y="419100"/>
            <a:ext cx="3771900" cy="228600"/>
          </a:xfrm>
          <a:prstGeom prst="rect">
            <a:avLst/>
          </a:prstGeom>
          <a:noFill/>
          <a:ln w="0">
            <a:noFill/>
            <a:prstDash val="solid"/>
          </a:ln>
        </p:spPr>
        <p:txBody>
          <a:bodyPr/>
          <a:lstStyle/>
          <a:p>
            <a:pPr algn="r">
              <a:defRPr sz="900" b="0">
                <a:solidFill>
                  <a:srgbClr val="64748B"/>
                </a:solidFill>
                <a:latin typeface="Yu Gothic"/>
                <a:ea typeface="Yu Gothic"/>
                <a:cs typeface="Yu Gothic"/>
              </a:defRPr>
            </a:pPr>
            <a:r>
              <a:rPr sz="900" b="0">
                <a:solidFill>
                  <a:srgbClr val="64748B"/>
                </a:solidFill>
                <a:latin typeface="Yu Gothic"/>
                <a:ea typeface="Yu Gothic"/>
                <a:cs typeface="Yu Gothic"/>
              </a:rPr>
              <a:t>Pose-keypoint unusual activity recognition</a:t>
            </a:r>
          </a:p>
        </p:txBody>
      </p:sp>
      <p:sp>
        <p:nvSpPr>
          <p:cNvPr id="5" name="正方形/長方形 4">
            <a:extLst>
              <a:ext uri="{FF2B5EF4-FFF2-40B4-BE49-F238E27FC236}">
                <a16:creationId xmlns:a16="http://schemas.microsoft.com/office/drawing/2014/main" id="{4F174F09-8902-47E5-A1AF-4455ABC0F8C0}"/>
              </a:ext>
            </a:extLst>
          </p:cNvPr>
          <p:cNvSpPr>
            <a:spLocks noGrp="1"/>
          </p:cNvSpPr>
          <p:nvPr/>
        </p:nvSpPr>
        <p:spPr>
          <a:xfrm>
            <a:off x="609600" y="6496050"/>
            <a:ext cx="6477000" cy="190500"/>
          </a:xfrm>
          <a:prstGeom prst="rect">
            <a:avLst/>
          </a:prstGeom>
          <a:noFill/>
          <a:ln w="0">
            <a:noFill/>
            <a:prstDash val="solid"/>
          </a:ln>
        </p:spPr>
        <p:txBody>
          <a:bodyPr/>
          <a:lstStyle/>
          <a:p>
            <a:pPr algn="l">
              <a:defRPr sz="750" b="0">
                <a:solidFill>
                  <a:srgbClr val="64748B"/>
                </a:solidFill>
                <a:latin typeface="Yu Gothic"/>
                <a:ea typeface="Yu Gothic"/>
                <a:cs typeface="Yu Gothic"/>
              </a:defRPr>
            </a:pPr>
            <a:r>
              <a:rPr sz="750" b="0">
                <a:solidFill>
                  <a:srgbClr val="64748B"/>
                </a:solidFill>
                <a:latin typeface="Yu Gothic"/>
                <a:ea typeface="Yu Gothic"/>
                <a:cs typeface="Yu Gothic"/>
              </a:rPr>
              <a:t>Sources: specification / LOSO metrics / per-class CSV</a:t>
            </a:r>
          </a:p>
        </p:txBody>
      </p:sp>
      <p:sp>
        <p:nvSpPr>
          <p:cNvPr id="6" name="正方形/長方形 5">
            <a:extLst>
              <a:ext uri="{FF2B5EF4-FFF2-40B4-BE49-F238E27FC236}">
                <a16:creationId xmlns:a16="http://schemas.microsoft.com/office/drawing/2014/main" id="{87811F59-1D3B-4D26-A849-7BD0B7E38E78}"/>
              </a:ext>
            </a:extLst>
          </p:cNvPr>
          <p:cNvSpPr>
            <a:spLocks noGrp="1"/>
          </p:cNvSpPr>
          <p:nvPr/>
        </p:nvSpPr>
        <p:spPr>
          <a:xfrm>
            <a:off x="10744200" y="6477000"/>
            <a:ext cx="838200" cy="209550"/>
          </a:xfrm>
          <a:prstGeom prst="rect">
            <a:avLst/>
          </a:prstGeom>
          <a:noFill/>
          <a:ln w="0">
            <a:noFill/>
            <a:prstDash val="solid"/>
          </a:ln>
        </p:spPr>
        <p:txBody>
          <a:bodyPr/>
          <a:lstStyle/>
          <a:p>
            <a:pPr algn="r">
              <a:defRPr sz="900" b="1">
                <a:solidFill>
                  <a:srgbClr val="64748B"/>
                </a:solidFill>
                <a:latin typeface="Yu Gothic"/>
                <a:ea typeface="Yu Gothic"/>
                <a:cs typeface="Yu Gothic"/>
              </a:defRPr>
            </a:pPr>
            <a:r>
              <a:rPr sz="900" b="1">
                <a:solidFill>
                  <a:srgbClr val="64748B"/>
                </a:solidFill>
                <a:latin typeface="Yu Gothic"/>
                <a:ea typeface="Yu Gothic"/>
                <a:cs typeface="Yu Gothic"/>
              </a:rPr>
              <a:t>9/10</a:t>
            </a:r>
          </a:p>
        </p:txBody>
      </p:sp>
      <p:sp>
        <p:nvSpPr>
          <p:cNvPr id="7" name="正方形/長方形 6">
            <a:extLst>
              <a:ext uri="{FF2B5EF4-FFF2-40B4-BE49-F238E27FC236}">
                <a16:creationId xmlns:a16="http://schemas.microsoft.com/office/drawing/2014/main" id="{794D9BF6-0460-478A-A58F-7638BF385373}"/>
              </a:ext>
            </a:extLst>
          </p:cNvPr>
          <p:cNvSpPr>
            <a:spLocks noGrp="1"/>
          </p:cNvSpPr>
          <p:nvPr/>
        </p:nvSpPr>
        <p:spPr>
          <a:xfrm>
            <a:off x="781050" y="1485900"/>
            <a:ext cx="2286000" cy="285750"/>
          </a:xfrm>
          <a:prstGeom prst="rect">
            <a:avLst/>
          </a:prstGeom>
          <a:noFill/>
          <a:ln w="0">
            <a:noFill/>
            <a:prstDash val="solid"/>
          </a:ln>
        </p:spPr>
        <p:txBody>
          <a:bodyPr/>
          <a:lstStyle/>
          <a:p>
            <a:pPr algn="l">
              <a:defRPr sz="1800" b="1">
                <a:solidFill>
                  <a:srgbClr val="0B1220"/>
                </a:solidFill>
                <a:latin typeface="Yu Gothic"/>
                <a:ea typeface="Yu Gothic"/>
                <a:cs typeface="Yu Gothic"/>
              </a:defRPr>
            </a:pPr>
            <a:r>
              <a:rPr sz="1800" b="1">
                <a:solidFill>
                  <a:srgbClr val="0B1220"/>
                </a:solidFill>
                <a:latin typeface="Yu Gothic"/>
                <a:ea typeface="Yu Gothic"/>
                <a:cs typeface="Yu Gothic"/>
              </a:rPr>
              <a:t>効いた改善</a:t>
            </a:r>
          </a:p>
        </p:txBody>
      </p:sp>
      <p:sp>
        <p:nvSpPr>
          <p:cNvPr id="8" name="角丸四角形 7">
            <a:extLst>
              <a:ext uri="{FF2B5EF4-FFF2-40B4-BE49-F238E27FC236}">
                <a16:creationId xmlns:a16="http://schemas.microsoft.com/office/drawing/2014/main" id="{B5D2EC63-35E5-4123-A1C4-CB5DD9C2BD7C}"/>
              </a:ext>
            </a:extLst>
          </p:cNvPr>
          <p:cNvSpPr>
            <a:spLocks noGrp="1"/>
          </p:cNvSpPr>
          <p:nvPr/>
        </p:nvSpPr>
        <p:spPr>
          <a:xfrm>
            <a:off x="781050" y="1962150"/>
            <a:ext cx="4781550" cy="876300"/>
          </a:xfrm>
          <a:prstGeom prst="roundRect">
            <a:avLst>
              <a:gd name="adj" fmla="val 17391"/>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9" name="正方形/長方形 8">
            <a:extLst>
              <a:ext uri="{FF2B5EF4-FFF2-40B4-BE49-F238E27FC236}">
                <a16:creationId xmlns:a16="http://schemas.microsoft.com/office/drawing/2014/main" id="{027A7F64-6CF9-430E-9E91-1E8A85352AC6}"/>
              </a:ext>
            </a:extLst>
          </p:cNvPr>
          <p:cNvSpPr>
            <a:spLocks noGrp="1"/>
          </p:cNvSpPr>
          <p:nvPr/>
        </p:nvSpPr>
        <p:spPr>
          <a:xfrm>
            <a:off x="781050" y="1962150"/>
            <a:ext cx="66675" cy="876300"/>
          </a:xfrm>
          <a:prstGeom prst="rect">
            <a:avLst/>
          </a:prstGeom>
          <a:solidFill>
            <a:srgbClr val="0EA5E9"/>
          </a:solidFill>
          <a:ln w="0">
            <a:noFill/>
            <a:prstDash val="solid"/>
          </a:ln>
        </p:spPr>
        <p:txBody>
          <a:bodyPr/>
          <a:lstStyle/>
          <a:p>
            <a:endParaRPr lang="ja-JP" altLang="en-US"/>
          </a:p>
        </p:txBody>
      </p:sp>
      <p:sp>
        <p:nvSpPr>
          <p:cNvPr id="10" name="正方形/長方形 9">
            <a:extLst>
              <a:ext uri="{FF2B5EF4-FFF2-40B4-BE49-F238E27FC236}">
                <a16:creationId xmlns:a16="http://schemas.microsoft.com/office/drawing/2014/main" id="{B0A50933-C9DB-4AE1-8EC5-3F2ABFE2F2E9}"/>
              </a:ext>
            </a:extLst>
          </p:cNvPr>
          <p:cNvSpPr>
            <a:spLocks noGrp="1"/>
          </p:cNvSpPr>
          <p:nvPr/>
        </p:nvSpPr>
        <p:spPr>
          <a:xfrm>
            <a:off x="1009650" y="2152650"/>
            <a:ext cx="4362450" cy="285750"/>
          </a:xfrm>
          <a:prstGeom prst="rect">
            <a:avLst/>
          </a:prstGeom>
          <a:noFill/>
          <a:ln w="0">
            <a:noFill/>
            <a:prstDash val="solid"/>
          </a:ln>
        </p:spPr>
        <p:txBody>
          <a:bodyPr/>
          <a:lstStyle/>
          <a:p>
            <a:pPr algn="l">
              <a:defRPr sz="1425" b="1">
                <a:solidFill>
                  <a:srgbClr val="0B1220"/>
                </a:solidFill>
                <a:latin typeface="Yu Gothic"/>
                <a:ea typeface="Yu Gothic"/>
                <a:cs typeface="Yu Gothic"/>
              </a:defRPr>
            </a:pPr>
            <a:r>
              <a:rPr sz="1425" b="1">
                <a:solidFill>
                  <a:srgbClr val="0B1220"/>
                </a:solidFill>
                <a:latin typeface="Yu Gothic"/>
                <a:ea typeface="Yu Gothic"/>
                <a:cs typeface="Yu Gothic"/>
              </a:rPr>
              <a:t>被験者単位z-score</a:t>
            </a:r>
          </a:p>
        </p:txBody>
      </p:sp>
      <p:sp>
        <p:nvSpPr>
          <p:cNvPr id="11" name="正方形/長方形 10">
            <a:extLst>
              <a:ext uri="{FF2B5EF4-FFF2-40B4-BE49-F238E27FC236}">
                <a16:creationId xmlns:a16="http://schemas.microsoft.com/office/drawing/2014/main" id="{E10A1095-AD6C-4BF8-8F34-F7004C1696BD}"/>
              </a:ext>
            </a:extLst>
          </p:cNvPr>
          <p:cNvSpPr>
            <a:spLocks noGrp="1"/>
          </p:cNvSpPr>
          <p:nvPr/>
        </p:nvSpPr>
        <p:spPr>
          <a:xfrm>
            <a:off x="1009650" y="2514600"/>
            <a:ext cx="4362450" cy="190500"/>
          </a:xfrm>
          <a:prstGeom prst="rect">
            <a:avLst/>
          </a:prstGeom>
          <a:noFill/>
          <a:ln w="0">
            <a:noFill/>
            <a:prstDash val="solid"/>
          </a:ln>
        </p:spPr>
        <p:txBody>
          <a:bodyPr/>
          <a:lstStyle/>
          <a:p>
            <a:pPr algn="l">
              <a:defRPr sz="1125" b="0">
                <a:solidFill>
                  <a:srgbClr val="334155"/>
                </a:solidFill>
                <a:latin typeface="Yu Gothic"/>
                <a:ea typeface="Yu Gothic"/>
                <a:cs typeface="Yu Gothic"/>
              </a:defRPr>
            </a:pPr>
            <a:r>
              <a:rPr sz="1125" b="0">
                <a:solidFill>
                  <a:srgbClr val="334155"/>
                </a:solidFill>
                <a:latin typeface="Yu Gothic"/>
                <a:ea typeface="Yu Gothic"/>
                <a:cs typeface="Yu Gothic"/>
              </a:rPr>
              <a:t>個人ごとの姿勢・スケールのずれを抑え、LOSOでの特徴分布差を小さくした。</a:t>
            </a:r>
          </a:p>
        </p:txBody>
      </p:sp>
      <p:sp>
        <p:nvSpPr>
          <p:cNvPr id="12" name="角丸四角形 11">
            <a:extLst>
              <a:ext uri="{FF2B5EF4-FFF2-40B4-BE49-F238E27FC236}">
                <a16:creationId xmlns:a16="http://schemas.microsoft.com/office/drawing/2014/main" id="{C928DD19-EEBE-412D-83E8-B139698766E3}"/>
              </a:ext>
            </a:extLst>
          </p:cNvPr>
          <p:cNvSpPr>
            <a:spLocks noGrp="1"/>
          </p:cNvSpPr>
          <p:nvPr/>
        </p:nvSpPr>
        <p:spPr>
          <a:xfrm>
            <a:off x="781050" y="3067050"/>
            <a:ext cx="4781550" cy="876300"/>
          </a:xfrm>
          <a:prstGeom prst="roundRect">
            <a:avLst>
              <a:gd name="adj" fmla="val 17391"/>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13" name="正方形/長方形 12">
            <a:extLst>
              <a:ext uri="{FF2B5EF4-FFF2-40B4-BE49-F238E27FC236}">
                <a16:creationId xmlns:a16="http://schemas.microsoft.com/office/drawing/2014/main" id="{7D100FB6-18BB-482B-8492-71EE7C5ACF7E}"/>
              </a:ext>
            </a:extLst>
          </p:cNvPr>
          <p:cNvSpPr>
            <a:spLocks noGrp="1"/>
          </p:cNvSpPr>
          <p:nvPr/>
        </p:nvSpPr>
        <p:spPr>
          <a:xfrm>
            <a:off x="781050" y="3067050"/>
            <a:ext cx="66675" cy="876300"/>
          </a:xfrm>
          <a:prstGeom prst="rect">
            <a:avLst/>
          </a:prstGeom>
          <a:solidFill>
            <a:srgbClr val="22C55E"/>
          </a:solidFill>
          <a:ln w="0">
            <a:noFill/>
            <a:prstDash val="solid"/>
          </a:ln>
        </p:spPr>
        <p:txBody>
          <a:bodyPr/>
          <a:lstStyle/>
          <a:p>
            <a:endParaRPr lang="ja-JP" altLang="en-US"/>
          </a:p>
        </p:txBody>
      </p:sp>
      <p:sp>
        <p:nvSpPr>
          <p:cNvPr id="14" name="正方形/長方形 13">
            <a:extLst>
              <a:ext uri="{FF2B5EF4-FFF2-40B4-BE49-F238E27FC236}">
                <a16:creationId xmlns:a16="http://schemas.microsoft.com/office/drawing/2014/main" id="{85860550-7E48-4CDA-B612-09678954E1BF}"/>
              </a:ext>
            </a:extLst>
          </p:cNvPr>
          <p:cNvSpPr>
            <a:spLocks noGrp="1"/>
          </p:cNvSpPr>
          <p:nvPr/>
        </p:nvSpPr>
        <p:spPr>
          <a:xfrm>
            <a:off x="1009650" y="3257550"/>
            <a:ext cx="4362450" cy="285750"/>
          </a:xfrm>
          <a:prstGeom prst="rect">
            <a:avLst/>
          </a:prstGeom>
          <a:noFill/>
          <a:ln w="0">
            <a:noFill/>
            <a:prstDash val="solid"/>
          </a:ln>
        </p:spPr>
        <p:txBody>
          <a:bodyPr/>
          <a:lstStyle/>
          <a:p>
            <a:pPr algn="l">
              <a:defRPr sz="1425" b="1">
                <a:solidFill>
                  <a:srgbClr val="0B1220"/>
                </a:solidFill>
                <a:latin typeface="Yu Gothic"/>
                <a:ea typeface="Yu Gothic"/>
                <a:cs typeface="Yu Gothic"/>
              </a:defRPr>
            </a:pPr>
            <a:r>
              <a:rPr sz="1425" b="1">
                <a:solidFill>
                  <a:srgbClr val="0B1220"/>
                </a:solidFill>
                <a:latin typeface="Yu Gothic"/>
                <a:ea typeface="Yu Gothic"/>
                <a:cs typeface="Yu Gothic"/>
              </a:rPr>
              <a:t>関節間距離特徴</a:t>
            </a:r>
          </a:p>
        </p:txBody>
      </p:sp>
      <p:sp>
        <p:nvSpPr>
          <p:cNvPr id="15" name="正方形/長方形 14">
            <a:extLst>
              <a:ext uri="{FF2B5EF4-FFF2-40B4-BE49-F238E27FC236}">
                <a16:creationId xmlns:a16="http://schemas.microsoft.com/office/drawing/2014/main" id="{F108BC29-C626-4788-8D87-CC035056356B}"/>
              </a:ext>
            </a:extLst>
          </p:cNvPr>
          <p:cNvSpPr>
            <a:spLocks noGrp="1"/>
          </p:cNvSpPr>
          <p:nvPr/>
        </p:nvSpPr>
        <p:spPr>
          <a:xfrm>
            <a:off x="1009650" y="3619500"/>
            <a:ext cx="4362450" cy="190500"/>
          </a:xfrm>
          <a:prstGeom prst="rect">
            <a:avLst/>
          </a:prstGeom>
          <a:noFill/>
          <a:ln w="0">
            <a:noFill/>
            <a:prstDash val="solid"/>
          </a:ln>
        </p:spPr>
        <p:txBody>
          <a:bodyPr/>
          <a:lstStyle/>
          <a:p>
            <a:pPr algn="l">
              <a:defRPr sz="1125" b="0">
                <a:solidFill>
                  <a:srgbClr val="334155"/>
                </a:solidFill>
                <a:latin typeface="Yu Gothic"/>
                <a:ea typeface="Yu Gothic"/>
                <a:cs typeface="Yu Gothic"/>
              </a:defRPr>
            </a:pPr>
            <a:r>
              <a:rPr sz="1125" b="0">
                <a:solidFill>
                  <a:srgbClr val="334155"/>
                </a:solidFill>
                <a:latin typeface="Yu Gothic"/>
                <a:ea typeface="Yu Gothic"/>
                <a:cs typeface="Yu Gothic"/>
              </a:rPr>
              <a:t>座標だけでなく、上半身の相対的な形を使えるようにした。</a:t>
            </a:r>
          </a:p>
        </p:txBody>
      </p:sp>
      <p:sp>
        <p:nvSpPr>
          <p:cNvPr id="16" name="角丸四角形 15">
            <a:extLst>
              <a:ext uri="{FF2B5EF4-FFF2-40B4-BE49-F238E27FC236}">
                <a16:creationId xmlns:a16="http://schemas.microsoft.com/office/drawing/2014/main" id="{3D8B1B97-18EF-48E6-AA5C-0C84D1F1F2C3}"/>
              </a:ext>
            </a:extLst>
          </p:cNvPr>
          <p:cNvSpPr>
            <a:spLocks noGrp="1"/>
          </p:cNvSpPr>
          <p:nvPr/>
        </p:nvSpPr>
        <p:spPr>
          <a:xfrm>
            <a:off x="781050" y="4171950"/>
            <a:ext cx="4781550" cy="876300"/>
          </a:xfrm>
          <a:prstGeom prst="roundRect">
            <a:avLst>
              <a:gd name="adj" fmla="val 17391"/>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17" name="正方形/長方形 16">
            <a:extLst>
              <a:ext uri="{FF2B5EF4-FFF2-40B4-BE49-F238E27FC236}">
                <a16:creationId xmlns:a16="http://schemas.microsoft.com/office/drawing/2014/main" id="{B81F0D15-6EF3-4275-A656-D8B6D2F5D61A}"/>
              </a:ext>
            </a:extLst>
          </p:cNvPr>
          <p:cNvSpPr>
            <a:spLocks noGrp="1"/>
          </p:cNvSpPr>
          <p:nvPr/>
        </p:nvSpPr>
        <p:spPr>
          <a:xfrm>
            <a:off x="781050" y="4171950"/>
            <a:ext cx="66675" cy="876300"/>
          </a:xfrm>
          <a:prstGeom prst="rect">
            <a:avLst/>
          </a:prstGeom>
          <a:solidFill>
            <a:srgbClr val="F97316"/>
          </a:solidFill>
          <a:ln w="0">
            <a:noFill/>
            <a:prstDash val="solid"/>
          </a:ln>
        </p:spPr>
        <p:txBody>
          <a:bodyPr/>
          <a:lstStyle/>
          <a:p>
            <a:endParaRPr lang="ja-JP" altLang="en-US"/>
          </a:p>
        </p:txBody>
      </p:sp>
      <p:sp>
        <p:nvSpPr>
          <p:cNvPr id="18" name="正方形/長方形 17">
            <a:extLst>
              <a:ext uri="{FF2B5EF4-FFF2-40B4-BE49-F238E27FC236}">
                <a16:creationId xmlns:a16="http://schemas.microsoft.com/office/drawing/2014/main" id="{3A66EF0D-B927-46DF-9327-3FDF6F6DDE3E}"/>
              </a:ext>
            </a:extLst>
          </p:cNvPr>
          <p:cNvSpPr>
            <a:spLocks noGrp="1"/>
          </p:cNvSpPr>
          <p:nvPr/>
        </p:nvSpPr>
        <p:spPr>
          <a:xfrm>
            <a:off x="1009650" y="4362450"/>
            <a:ext cx="4362450" cy="285750"/>
          </a:xfrm>
          <a:prstGeom prst="rect">
            <a:avLst/>
          </a:prstGeom>
          <a:noFill/>
          <a:ln w="0">
            <a:noFill/>
            <a:prstDash val="solid"/>
          </a:ln>
        </p:spPr>
        <p:txBody>
          <a:bodyPr/>
          <a:lstStyle/>
          <a:p>
            <a:pPr algn="l">
              <a:defRPr sz="1425" b="1">
                <a:solidFill>
                  <a:srgbClr val="0B1220"/>
                </a:solidFill>
                <a:latin typeface="Yu Gothic"/>
                <a:ea typeface="Yu Gothic"/>
                <a:cs typeface="Yu Gothic"/>
              </a:defRPr>
            </a:pPr>
            <a:r>
              <a:rPr sz="1425" b="1">
                <a:solidFill>
                  <a:srgbClr val="0B1220"/>
                </a:solidFill>
                <a:latin typeface="Yu Gothic"/>
                <a:ea typeface="Yu Gothic"/>
                <a:cs typeface="Yu Gothic"/>
              </a:rPr>
              <a:t>異常判定ゲート</a:t>
            </a:r>
          </a:p>
        </p:txBody>
      </p:sp>
      <p:sp>
        <p:nvSpPr>
          <p:cNvPr id="19" name="正方形/長方形 18">
            <a:extLst>
              <a:ext uri="{FF2B5EF4-FFF2-40B4-BE49-F238E27FC236}">
                <a16:creationId xmlns:a16="http://schemas.microsoft.com/office/drawing/2014/main" id="{E350CF6B-9721-4FCA-A4CF-30BE0B1A1310}"/>
              </a:ext>
            </a:extLst>
          </p:cNvPr>
          <p:cNvSpPr>
            <a:spLocks noGrp="1"/>
          </p:cNvSpPr>
          <p:nvPr/>
        </p:nvSpPr>
        <p:spPr>
          <a:xfrm>
            <a:off x="1009650" y="4724400"/>
            <a:ext cx="4362450" cy="190500"/>
          </a:xfrm>
          <a:prstGeom prst="rect">
            <a:avLst/>
          </a:prstGeom>
          <a:noFill/>
          <a:ln w="0">
            <a:noFill/>
            <a:prstDash val="solid"/>
          </a:ln>
        </p:spPr>
        <p:txBody>
          <a:bodyPr/>
          <a:lstStyle/>
          <a:p>
            <a:pPr algn="l">
              <a:defRPr sz="1125" b="0">
                <a:solidFill>
                  <a:srgbClr val="334155"/>
                </a:solidFill>
                <a:latin typeface="Yu Gothic"/>
                <a:ea typeface="Yu Gothic"/>
                <a:cs typeface="Yu Gothic"/>
              </a:defRPr>
            </a:pPr>
            <a:r>
              <a:rPr sz="1125" b="0">
                <a:solidFill>
                  <a:srgbClr val="334155"/>
                </a:solidFill>
                <a:latin typeface="Yu Gothic"/>
                <a:ea typeface="Yu Gothic"/>
                <a:cs typeface="Yu Gothic"/>
              </a:rPr>
              <a:t>8クラス分類とは別に Normal / Unusual を直接学習し、異常F1を底上げした。</a:t>
            </a:r>
          </a:p>
        </p:txBody>
      </p:sp>
      <p:sp>
        <p:nvSpPr>
          <p:cNvPr id="20" name="正方形/長方形 19">
            <a:extLst>
              <a:ext uri="{FF2B5EF4-FFF2-40B4-BE49-F238E27FC236}">
                <a16:creationId xmlns:a16="http://schemas.microsoft.com/office/drawing/2014/main" id="{F5FC0373-1A2E-4BF1-828C-77F7F97E8990}"/>
              </a:ext>
            </a:extLst>
          </p:cNvPr>
          <p:cNvSpPr>
            <a:spLocks noGrp="1"/>
          </p:cNvSpPr>
          <p:nvPr/>
        </p:nvSpPr>
        <p:spPr>
          <a:xfrm>
            <a:off x="6667500" y="1485900"/>
            <a:ext cx="2286000" cy="285750"/>
          </a:xfrm>
          <a:prstGeom prst="rect">
            <a:avLst/>
          </a:prstGeom>
          <a:noFill/>
          <a:ln w="0">
            <a:noFill/>
            <a:prstDash val="solid"/>
          </a:ln>
        </p:spPr>
        <p:txBody>
          <a:bodyPr/>
          <a:lstStyle/>
          <a:p>
            <a:pPr algn="l">
              <a:defRPr sz="1800" b="1">
                <a:solidFill>
                  <a:srgbClr val="0B1220"/>
                </a:solidFill>
                <a:latin typeface="Yu Gothic"/>
                <a:ea typeface="Yu Gothic"/>
                <a:cs typeface="Yu Gothic"/>
              </a:defRPr>
            </a:pPr>
            <a:r>
              <a:rPr sz="1800" b="1">
                <a:solidFill>
                  <a:srgbClr val="0B1220"/>
                </a:solidFill>
                <a:latin typeface="Yu Gothic"/>
                <a:ea typeface="Yu Gothic"/>
                <a:cs typeface="Yu Gothic"/>
              </a:rPr>
              <a:t>残る問題</a:t>
            </a:r>
          </a:p>
        </p:txBody>
      </p:sp>
      <p:sp>
        <p:nvSpPr>
          <p:cNvPr id="21" name="角丸四角形 20">
            <a:extLst>
              <a:ext uri="{FF2B5EF4-FFF2-40B4-BE49-F238E27FC236}">
                <a16:creationId xmlns:a16="http://schemas.microsoft.com/office/drawing/2014/main" id="{945F0571-22A4-4138-8ACA-81B2808F2246}"/>
              </a:ext>
            </a:extLst>
          </p:cNvPr>
          <p:cNvSpPr>
            <a:spLocks noGrp="1"/>
          </p:cNvSpPr>
          <p:nvPr/>
        </p:nvSpPr>
        <p:spPr>
          <a:xfrm>
            <a:off x="6667500" y="1962150"/>
            <a:ext cx="4781550" cy="876300"/>
          </a:xfrm>
          <a:prstGeom prst="roundRect">
            <a:avLst>
              <a:gd name="adj" fmla="val 17391"/>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22" name="正方形/長方形 21">
            <a:extLst>
              <a:ext uri="{FF2B5EF4-FFF2-40B4-BE49-F238E27FC236}">
                <a16:creationId xmlns:a16="http://schemas.microsoft.com/office/drawing/2014/main" id="{02EEEC37-D2D9-4129-8CFA-D093C4A66260}"/>
              </a:ext>
            </a:extLst>
          </p:cNvPr>
          <p:cNvSpPr>
            <a:spLocks noGrp="1"/>
          </p:cNvSpPr>
          <p:nvPr/>
        </p:nvSpPr>
        <p:spPr>
          <a:xfrm>
            <a:off x="6667500" y="1962150"/>
            <a:ext cx="66675" cy="876300"/>
          </a:xfrm>
          <a:prstGeom prst="rect">
            <a:avLst/>
          </a:prstGeom>
          <a:solidFill>
            <a:srgbClr val="F97316"/>
          </a:solidFill>
          <a:ln w="0">
            <a:noFill/>
            <a:prstDash val="solid"/>
          </a:ln>
        </p:spPr>
        <p:txBody>
          <a:bodyPr/>
          <a:lstStyle/>
          <a:p>
            <a:endParaRPr lang="ja-JP" altLang="en-US"/>
          </a:p>
        </p:txBody>
      </p:sp>
      <p:sp>
        <p:nvSpPr>
          <p:cNvPr id="23" name="正方形/長方形 22">
            <a:extLst>
              <a:ext uri="{FF2B5EF4-FFF2-40B4-BE49-F238E27FC236}">
                <a16:creationId xmlns:a16="http://schemas.microsoft.com/office/drawing/2014/main" id="{DEAC1A3E-5065-414B-BE2B-12D6D595B7E4}"/>
              </a:ext>
            </a:extLst>
          </p:cNvPr>
          <p:cNvSpPr>
            <a:spLocks noGrp="1"/>
          </p:cNvSpPr>
          <p:nvPr/>
        </p:nvSpPr>
        <p:spPr>
          <a:xfrm>
            <a:off x="6896100" y="2152650"/>
            <a:ext cx="4362450" cy="285750"/>
          </a:xfrm>
          <a:prstGeom prst="rect">
            <a:avLst/>
          </a:prstGeom>
          <a:noFill/>
          <a:ln w="0">
            <a:noFill/>
            <a:prstDash val="solid"/>
          </a:ln>
        </p:spPr>
        <p:txBody>
          <a:bodyPr/>
          <a:lstStyle/>
          <a:p>
            <a:pPr algn="l">
              <a:defRPr sz="1425" b="1">
                <a:solidFill>
                  <a:srgbClr val="0B1220"/>
                </a:solidFill>
                <a:latin typeface="Yu Gothic"/>
                <a:ea typeface="Yu Gothic"/>
                <a:cs typeface="Yu Gothic"/>
              </a:defRPr>
            </a:pPr>
            <a:r>
              <a:rPr sz="1425" b="1">
                <a:solidFill>
                  <a:srgbClr val="0B1220"/>
                </a:solidFill>
                <a:latin typeface="Yu Gothic"/>
                <a:ea typeface="Yu Gothic"/>
                <a:cs typeface="Yu Gothic"/>
              </a:rPr>
              <a:t>Subject 3のドメイン差</a:t>
            </a:r>
          </a:p>
        </p:txBody>
      </p:sp>
      <p:sp>
        <p:nvSpPr>
          <p:cNvPr id="24" name="正方形/長方形 23">
            <a:extLst>
              <a:ext uri="{FF2B5EF4-FFF2-40B4-BE49-F238E27FC236}">
                <a16:creationId xmlns:a16="http://schemas.microsoft.com/office/drawing/2014/main" id="{2870533C-6EB2-42A4-9105-02EAB6B933E2}"/>
              </a:ext>
            </a:extLst>
          </p:cNvPr>
          <p:cNvSpPr>
            <a:spLocks noGrp="1"/>
          </p:cNvSpPr>
          <p:nvPr/>
        </p:nvSpPr>
        <p:spPr>
          <a:xfrm>
            <a:off x="6896100" y="2514600"/>
            <a:ext cx="4362450" cy="190500"/>
          </a:xfrm>
          <a:prstGeom prst="rect">
            <a:avLst/>
          </a:prstGeom>
          <a:noFill/>
          <a:ln w="0">
            <a:noFill/>
            <a:prstDash val="solid"/>
          </a:ln>
        </p:spPr>
        <p:txBody>
          <a:bodyPr/>
          <a:lstStyle/>
          <a:p>
            <a:pPr algn="l">
              <a:defRPr sz="1125" b="0">
                <a:solidFill>
                  <a:srgbClr val="334155"/>
                </a:solidFill>
                <a:latin typeface="Yu Gothic"/>
                <a:ea typeface="Yu Gothic"/>
                <a:cs typeface="Yu Gothic"/>
              </a:defRPr>
            </a:pPr>
            <a:r>
              <a:rPr sz="1125" b="0">
                <a:solidFill>
                  <a:srgbClr val="334155"/>
                </a:solidFill>
                <a:latin typeface="Yu Gothic"/>
                <a:ea typeface="Yu Gothic"/>
                <a:cs typeface="Yu Gothic"/>
              </a:rPr>
              <a:t>カメラ位置・動作スタイル差が、正規化だけでは吸収しきれていない。</a:t>
            </a:r>
          </a:p>
        </p:txBody>
      </p:sp>
      <p:sp>
        <p:nvSpPr>
          <p:cNvPr id="25" name="角丸四角形 24">
            <a:extLst>
              <a:ext uri="{FF2B5EF4-FFF2-40B4-BE49-F238E27FC236}">
                <a16:creationId xmlns:a16="http://schemas.microsoft.com/office/drawing/2014/main" id="{A00B1979-FA44-4A4D-A197-3CFA043E0999}"/>
              </a:ext>
            </a:extLst>
          </p:cNvPr>
          <p:cNvSpPr>
            <a:spLocks noGrp="1"/>
          </p:cNvSpPr>
          <p:nvPr/>
        </p:nvSpPr>
        <p:spPr>
          <a:xfrm>
            <a:off x="6667500" y="3067050"/>
            <a:ext cx="4781550" cy="876300"/>
          </a:xfrm>
          <a:prstGeom prst="roundRect">
            <a:avLst>
              <a:gd name="adj" fmla="val 17391"/>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26" name="正方形/長方形 25">
            <a:extLst>
              <a:ext uri="{FF2B5EF4-FFF2-40B4-BE49-F238E27FC236}">
                <a16:creationId xmlns:a16="http://schemas.microsoft.com/office/drawing/2014/main" id="{B33C8E9D-DA1A-4A7C-A64E-EACF7746B6CD}"/>
              </a:ext>
            </a:extLst>
          </p:cNvPr>
          <p:cNvSpPr>
            <a:spLocks noGrp="1"/>
          </p:cNvSpPr>
          <p:nvPr/>
        </p:nvSpPr>
        <p:spPr>
          <a:xfrm>
            <a:off x="6667500" y="3067050"/>
            <a:ext cx="66675" cy="876300"/>
          </a:xfrm>
          <a:prstGeom prst="rect">
            <a:avLst/>
          </a:prstGeom>
          <a:solidFill>
            <a:srgbClr val="EF4444"/>
          </a:solidFill>
          <a:ln w="0">
            <a:noFill/>
            <a:prstDash val="solid"/>
          </a:ln>
        </p:spPr>
        <p:txBody>
          <a:bodyPr/>
          <a:lstStyle/>
          <a:p>
            <a:endParaRPr lang="ja-JP" altLang="en-US"/>
          </a:p>
        </p:txBody>
      </p:sp>
      <p:sp>
        <p:nvSpPr>
          <p:cNvPr id="27" name="正方形/長方形 26">
            <a:extLst>
              <a:ext uri="{FF2B5EF4-FFF2-40B4-BE49-F238E27FC236}">
                <a16:creationId xmlns:a16="http://schemas.microsoft.com/office/drawing/2014/main" id="{ED73C6E0-5CBC-49F6-8790-C31384A011F9}"/>
              </a:ext>
            </a:extLst>
          </p:cNvPr>
          <p:cNvSpPr>
            <a:spLocks noGrp="1"/>
          </p:cNvSpPr>
          <p:nvPr/>
        </p:nvSpPr>
        <p:spPr>
          <a:xfrm>
            <a:off x="6896100" y="3257550"/>
            <a:ext cx="4362450" cy="285750"/>
          </a:xfrm>
          <a:prstGeom prst="rect">
            <a:avLst/>
          </a:prstGeom>
          <a:noFill/>
          <a:ln w="0">
            <a:noFill/>
            <a:prstDash val="solid"/>
          </a:ln>
        </p:spPr>
        <p:txBody>
          <a:bodyPr/>
          <a:lstStyle/>
          <a:p>
            <a:pPr algn="l">
              <a:defRPr sz="1425" b="1">
                <a:solidFill>
                  <a:srgbClr val="0B1220"/>
                </a:solidFill>
                <a:latin typeface="Yu Gothic"/>
                <a:ea typeface="Yu Gothic"/>
                <a:cs typeface="Yu Gothic"/>
              </a:defRPr>
            </a:pPr>
            <a:r>
              <a:rPr sz="1425" b="1">
                <a:solidFill>
                  <a:srgbClr val="0B1220"/>
                </a:solidFill>
                <a:latin typeface="Yu Gothic"/>
                <a:ea typeface="Yu Gothic"/>
                <a:cs typeface="Yu Gothic"/>
              </a:rPr>
              <a:t>手元の細かい動作</a:t>
            </a:r>
          </a:p>
        </p:txBody>
      </p:sp>
      <p:sp>
        <p:nvSpPr>
          <p:cNvPr id="28" name="正方形/長方形 27">
            <a:extLst>
              <a:ext uri="{FF2B5EF4-FFF2-40B4-BE49-F238E27FC236}">
                <a16:creationId xmlns:a16="http://schemas.microsoft.com/office/drawing/2014/main" id="{C723AC86-CF51-4B8D-9699-16FDEA0D8C22}"/>
              </a:ext>
            </a:extLst>
          </p:cNvPr>
          <p:cNvSpPr>
            <a:spLocks noGrp="1"/>
          </p:cNvSpPr>
          <p:nvPr/>
        </p:nvSpPr>
        <p:spPr>
          <a:xfrm>
            <a:off x="6896100" y="3619500"/>
            <a:ext cx="4362450" cy="190500"/>
          </a:xfrm>
          <a:prstGeom prst="rect">
            <a:avLst/>
          </a:prstGeom>
          <a:noFill/>
          <a:ln w="0">
            <a:noFill/>
            <a:prstDash val="solid"/>
          </a:ln>
        </p:spPr>
        <p:txBody>
          <a:bodyPr/>
          <a:lstStyle/>
          <a:p>
            <a:pPr algn="l">
              <a:defRPr sz="1125" b="0">
                <a:solidFill>
                  <a:srgbClr val="334155"/>
                </a:solidFill>
                <a:latin typeface="Yu Gothic"/>
                <a:ea typeface="Yu Gothic"/>
                <a:cs typeface="Yu Gothic"/>
              </a:defRPr>
            </a:pPr>
            <a:r>
              <a:rPr sz="1125" b="0">
                <a:solidFill>
                  <a:srgbClr val="334155"/>
                </a:solidFill>
                <a:latin typeface="Yu Gothic"/>
                <a:ea typeface="Yu Gothic"/>
                <a:cs typeface="Yu Gothic"/>
              </a:rPr>
              <a:t>Biting nailsとUsing phoneのように、局所動作が似るクラスは混同しやすい。</a:t>
            </a:r>
          </a:p>
        </p:txBody>
      </p:sp>
      <p:sp>
        <p:nvSpPr>
          <p:cNvPr id="29" name="角丸四角形 28">
            <a:extLst>
              <a:ext uri="{FF2B5EF4-FFF2-40B4-BE49-F238E27FC236}">
                <a16:creationId xmlns:a16="http://schemas.microsoft.com/office/drawing/2014/main" id="{6AF8FBAC-BB69-4D45-B007-AC5D713F13F4}"/>
              </a:ext>
            </a:extLst>
          </p:cNvPr>
          <p:cNvSpPr>
            <a:spLocks noGrp="1"/>
          </p:cNvSpPr>
          <p:nvPr/>
        </p:nvSpPr>
        <p:spPr>
          <a:xfrm>
            <a:off x="6667500" y="4171950"/>
            <a:ext cx="4781550" cy="876300"/>
          </a:xfrm>
          <a:prstGeom prst="roundRect">
            <a:avLst>
              <a:gd name="adj" fmla="val 17391"/>
            </a:avLst>
          </a:prstGeom>
          <a:solidFill>
            <a:srgbClr val="FFFFFF"/>
          </a:solidFill>
          <a:ln w="9525">
            <a:solidFill>
              <a:srgbClr val="E2E8F0"/>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30" name="正方形/長方形 29">
            <a:extLst>
              <a:ext uri="{FF2B5EF4-FFF2-40B4-BE49-F238E27FC236}">
                <a16:creationId xmlns:a16="http://schemas.microsoft.com/office/drawing/2014/main" id="{29811A9B-5D90-4004-BD16-8CF67EB157A4}"/>
              </a:ext>
            </a:extLst>
          </p:cNvPr>
          <p:cNvSpPr>
            <a:spLocks noGrp="1"/>
          </p:cNvSpPr>
          <p:nvPr/>
        </p:nvSpPr>
        <p:spPr>
          <a:xfrm>
            <a:off x="6667500" y="4171950"/>
            <a:ext cx="66675" cy="876300"/>
          </a:xfrm>
          <a:prstGeom prst="rect">
            <a:avLst/>
          </a:prstGeom>
          <a:solidFill>
            <a:srgbClr val="8B5CF6"/>
          </a:solidFill>
          <a:ln w="0">
            <a:noFill/>
            <a:prstDash val="solid"/>
          </a:ln>
        </p:spPr>
        <p:txBody>
          <a:bodyPr/>
          <a:lstStyle/>
          <a:p>
            <a:endParaRPr lang="ja-JP" altLang="en-US"/>
          </a:p>
        </p:txBody>
      </p:sp>
      <p:sp>
        <p:nvSpPr>
          <p:cNvPr id="31" name="正方形/長方形 30">
            <a:extLst>
              <a:ext uri="{FF2B5EF4-FFF2-40B4-BE49-F238E27FC236}">
                <a16:creationId xmlns:a16="http://schemas.microsoft.com/office/drawing/2014/main" id="{BDFBD6EF-CE57-4F7A-8772-DCBA929FE407}"/>
              </a:ext>
            </a:extLst>
          </p:cNvPr>
          <p:cNvSpPr>
            <a:spLocks noGrp="1"/>
          </p:cNvSpPr>
          <p:nvPr/>
        </p:nvSpPr>
        <p:spPr>
          <a:xfrm>
            <a:off x="6896100" y="4362450"/>
            <a:ext cx="4362450" cy="285750"/>
          </a:xfrm>
          <a:prstGeom prst="rect">
            <a:avLst/>
          </a:prstGeom>
          <a:noFill/>
          <a:ln w="0">
            <a:noFill/>
            <a:prstDash val="solid"/>
          </a:ln>
        </p:spPr>
        <p:txBody>
          <a:bodyPr/>
          <a:lstStyle/>
          <a:p>
            <a:pPr algn="l">
              <a:defRPr sz="1425" b="1">
                <a:solidFill>
                  <a:srgbClr val="0B1220"/>
                </a:solidFill>
                <a:latin typeface="Yu Gothic"/>
                <a:ea typeface="Yu Gothic"/>
                <a:cs typeface="Yu Gothic"/>
              </a:defRPr>
            </a:pPr>
            <a:r>
              <a:rPr sz="1425" b="1">
                <a:solidFill>
                  <a:srgbClr val="0B1220"/>
                </a:solidFill>
                <a:latin typeface="Yu Gothic"/>
                <a:ea typeface="Yu Gothic"/>
                <a:cs typeface="Yu Gothic"/>
              </a:rPr>
              <a:t>window-level評価</a:t>
            </a:r>
          </a:p>
        </p:txBody>
      </p:sp>
      <p:sp>
        <p:nvSpPr>
          <p:cNvPr id="32" name="正方形/長方形 31">
            <a:extLst>
              <a:ext uri="{FF2B5EF4-FFF2-40B4-BE49-F238E27FC236}">
                <a16:creationId xmlns:a16="http://schemas.microsoft.com/office/drawing/2014/main" id="{B13035F2-93C3-4A57-BE70-8FA97DFA2DC0}"/>
              </a:ext>
            </a:extLst>
          </p:cNvPr>
          <p:cNvSpPr>
            <a:spLocks noGrp="1"/>
          </p:cNvSpPr>
          <p:nvPr/>
        </p:nvSpPr>
        <p:spPr>
          <a:xfrm>
            <a:off x="6896100" y="4724400"/>
            <a:ext cx="4362450" cy="190500"/>
          </a:xfrm>
          <a:prstGeom prst="rect">
            <a:avLst/>
          </a:prstGeom>
          <a:noFill/>
          <a:ln w="0">
            <a:noFill/>
            <a:prstDash val="solid"/>
          </a:ln>
        </p:spPr>
        <p:txBody>
          <a:bodyPr/>
          <a:lstStyle/>
          <a:p>
            <a:pPr algn="l">
              <a:defRPr sz="1125" b="0">
                <a:solidFill>
                  <a:srgbClr val="334155"/>
                </a:solidFill>
                <a:latin typeface="Yu Gothic"/>
                <a:ea typeface="Yu Gothic"/>
                <a:cs typeface="Yu Gothic"/>
              </a:defRPr>
            </a:pPr>
            <a:r>
              <a:rPr sz="1125" b="0">
                <a:solidFill>
                  <a:srgbClr val="334155"/>
                </a:solidFill>
                <a:latin typeface="Yu Gothic"/>
                <a:ea typeface="Yu Gothic"/>
                <a:cs typeface="Yu Gothic"/>
              </a:rPr>
              <a:t>イベント単位の開始・終了精度まではまだ評価していない。</a:t>
            </a:r>
          </a:p>
        </p:txBody>
      </p:sp>
    </p:spTree>
    <p:extLst>
      <p:ext uri="{BB962C8B-B14F-4D97-AF65-F5344CB8AC3E}">
        <p14:creationId xmlns:p14="http://schemas.microsoft.com/office/powerpoint/2010/main" val="42456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58A6586D-12AE-4DD6-8B17-A6066E44B08B}"/>
              </a:ext>
            </a:extLst>
          </p:cNvPr>
          <p:cNvSpPr>
            <a:spLocks noGrp="1"/>
          </p:cNvSpPr>
          <p:nvPr/>
        </p:nvSpPr>
        <p:spPr>
          <a:xfrm>
            <a:off x="609600" y="381000"/>
            <a:ext cx="5905500" cy="228600"/>
          </a:xfrm>
          <a:prstGeom prst="rect">
            <a:avLst/>
          </a:prstGeom>
          <a:noFill/>
          <a:ln w="0">
            <a:noFill/>
            <a:prstDash val="solid"/>
          </a:ln>
        </p:spPr>
        <p:txBody>
          <a:bodyPr/>
          <a:lstStyle/>
          <a:p>
            <a:pPr algn="l">
              <a:defRPr sz="900" b="1">
                <a:solidFill>
                  <a:srgbClr val="38BDF8"/>
                </a:solidFill>
                <a:latin typeface="Yu Gothic"/>
                <a:ea typeface="Yu Gothic"/>
                <a:cs typeface="Yu Gothic"/>
              </a:defRPr>
            </a:pPr>
            <a:r>
              <a:rPr sz="900" b="1">
                <a:solidFill>
                  <a:srgbClr val="38BDF8"/>
                </a:solidFill>
                <a:latin typeface="Yu Gothic"/>
                <a:ea typeface="Yu Gothic"/>
                <a:cs typeface="Yu Gothic"/>
              </a:rPr>
              <a:t>CONCLUSION AND NEXT STEPS</a:t>
            </a:r>
          </a:p>
        </p:txBody>
      </p:sp>
      <p:sp>
        <p:nvSpPr>
          <p:cNvPr id="2" name="正方形/長方形 1">
            <a:extLst>
              <a:ext uri="{FF2B5EF4-FFF2-40B4-BE49-F238E27FC236}">
                <a16:creationId xmlns:a16="http://schemas.microsoft.com/office/drawing/2014/main" id="{960AE53F-9990-46F5-B964-32A3AE0328E8}"/>
              </a:ext>
            </a:extLst>
          </p:cNvPr>
          <p:cNvSpPr>
            <a:spLocks noGrp="1"/>
          </p:cNvSpPr>
          <p:nvPr/>
        </p:nvSpPr>
        <p:spPr>
          <a:xfrm>
            <a:off x="609600" y="647700"/>
            <a:ext cx="8096250" cy="514350"/>
          </a:xfrm>
          <a:prstGeom prst="rect">
            <a:avLst/>
          </a:prstGeom>
          <a:noFill/>
          <a:ln w="0">
            <a:noFill/>
            <a:prstDash val="solid"/>
          </a:ln>
        </p:spPr>
        <p:txBody>
          <a:bodyPr/>
          <a:lstStyle/>
          <a:p>
            <a:pPr algn="l">
              <a:defRPr sz="2700" b="1">
                <a:solidFill>
                  <a:srgbClr val="FFFFFF"/>
                </a:solidFill>
                <a:latin typeface="Yu Gothic"/>
                <a:ea typeface="Yu Gothic"/>
                <a:cs typeface="Yu Gothic"/>
              </a:defRPr>
            </a:pPr>
            <a:r>
              <a:rPr sz="2700" b="1">
                <a:solidFill>
                  <a:srgbClr val="FFFFFF"/>
                </a:solidFill>
                <a:latin typeface="Yu Gothic"/>
                <a:ea typeface="Yu Gothic"/>
                <a:cs typeface="Yu Gothic"/>
              </a:rPr>
              <a:t>結論・今後の課題</a:t>
            </a:r>
          </a:p>
        </p:txBody>
      </p:sp>
      <p:sp>
        <p:nvSpPr>
          <p:cNvPr id="3" name="正方形/長方形 2">
            <a:extLst>
              <a:ext uri="{FF2B5EF4-FFF2-40B4-BE49-F238E27FC236}">
                <a16:creationId xmlns:a16="http://schemas.microsoft.com/office/drawing/2014/main" id="{E5939EBD-033C-4955-AAA6-B036345017B4}"/>
              </a:ext>
            </a:extLst>
          </p:cNvPr>
          <p:cNvSpPr>
            <a:spLocks noGrp="1"/>
          </p:cNvSpPr>
          <p:nvPr/>
        </p:nvSpPr>
        <p:spPr>
          <a:xfrm>
            <a:off x="609600" y="1200150"/>
            <a:ext cx="742950" cy="38100"/>
          </a:xfrm>
          <a:prstGeom prst="rect">
            <a:avLst/>
          </a:prstGeom>
          <a:solidFill>
            <a:srgbClr val="38BDF8"/>
          </a:solidFill>
          <a:ln w="0">
            <a:noFill/>
            <a:prstDash val="solid"/>
          </a:ln>
        </p:spPr>
        <p:txBody>
          <a:bodyPr/>
          <a:lstStyle/>
          <a:p>
            <a:endParaRPr lang="ja-JP" altLang="en-US"/>
          </a:p>
        </p:txBody>
      </p:sp>
      <p:sp>
        <p:nvSpPr>
          <p:cNvPr id="4" name="正方形/長方形 3">
            <a:extLst>
              <a:ext uri="{FF2B5EF4-FFF2-40B4-BE49-F238E27FC236}">
                <a16:creationId xmlns:a16="http://schemas.microsoft.com/office/drawing/2014/main" id="{E0F04F3D-8647-4560-A5BB-A73C0DF9CA79}"/>
              </a:ext>
            </a:extLst>
          </p:cNvPr>
          <p:cNvSpPr>
            <a:spLocks noGrp="1"/>
          </p:cNvSpPr>
          <p:nvPr/>
        </p:nvSpPr>
        <p:spPr>
          <a:xfrm>
            <a:off x="7810500" y="419100"/>
            <a:ext cx="3771900" cy="228600"/>
          </a:xfrm>
          <a:prstGeom prst="rect">
            <a:avLst/>
          </a:prstGeom>
          <a:noFill/>
          <a:ln w="0">
            <a:noFill/>
            <a:prstDash val="solid"/>
          </a:ln>
        </p:spPr>
        <p:txBody>
          <a:bodyPr/>
          <a:lstStyle/>
          <a:p>
            <a:pPr algn="r">
              <a:defRPr sz="900" b="0">
                <a:solidFill>
                  <a:srgbClr val="94A3B8"/>
                </a:solidFill>
                <a:latin typeface="Yu Gothic"/>
                <a:ea typeface="Yu Gothic"/>
                <a:cs typeface="Yu Gothic"/>
              </a:defRPr>
            </a:pPr>
            <a:r>
              <a:rPr sz="900" b="0">
                <a:solidFill>
                  <a:srgbClr val="94A3B8"/>
                </a:solidFill>
                <a:latin typeface="Yu Gothic"/>
                <a:ea typeface="Yu Gothic"/>
                <a:cs typeface="Yu Gothic"/>
              </a:rPr>
              <a:t>Pose-keypoint unusual activity recognition</a:t>
            </a:r>
          </a:p>
        </p:txBody>
      </p:sp>
      <p:sp>
        <p:nvSpPr>
          <p:cNvPr id="5" name="正方形/長方形 4">
            <a:extLst>
              <a:ext uri="{FF2B5EF4-FFF2-40B4-BE49-F238E27FC236}">
                <a16:creationId xmlns:a16="http://schemas.microsoft.com/office/drawing/2014/main" id="{2400F0CD-58B8-4C04-BA34-13A34C179F3D}"/>
              </a:ext>
            </a:extLst>
          </p:cNvPr>
          <p:cNvSpPr>
            <a:spLocks noGrp="1"/>
          </p:cNvSpPr>
          <p:nvPr/>
        </p:nvSpPr>
        <p:spPr>
          <a:xfrm>
            <a:off x="609600" y="6496050"/>
            <a:ext cx="6477000" cy="190500"/>
          </a:xfrm>
          <a:prstGeom prst="rect">
            <a:avLst/>
          </a:prstGeom>
          <a:noFill/>
          <a:ln w="0">
            <a:noFill/>
            <a:prstDash val="solid"/>
          </a:ln>
        </p:spPr>
        <p:txBody>
          <a:bodyPr/>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Sources: specification / LOSO metrics / per-class CSV</a:t>
            </a:r>
          </a:p>
        </p:txBody>
      </p:sp>
      <p:sp>
        <p:nvSpPr>
          <p:cNvPr id="6" name="正方形/長方形 5">
            <a:extLst>
              <a:ext uri="{FF2B5EF4-FFF2-40B4-BE49-F238E27FC236}">
                <a16:creationId xmlns:a16="http://schemas.microsoft.com/office/drawing/2014/main" id="{FE6308A9-0576-4935-99B0-B4616D10E8ED}"/>
              </a:ext>
            </a:extLst>
          </p:cNvPr>
          <p:cNvSpPr>
            <a:spLocks noGrp="1"/>
          </p:cNvSpPr>
          <p:nvPr/>
        </p:nvSpPr>
        <p:spPr>
          <a:xfrm>
            <a:off x="10744200" y="6477000"/>
            <a:ext cx="838200" cy="209550"/>
          </a:xfrm>
          <a:prstGeom prst="rect">
            <a:avLst/>
          </a:prstGeom>
          <a:noFill/>
          <a:ln w="0">
            <a:noFill/>
            <a:prstDash val="solid"/>
          </a:ln>
        </p:spPr>
        <p:txBody>
          <a:bodyPr/>
          <a:lstStyle/>
          <a:p>
            <a:pPr algn="r">
              <a:defRPr sz="900" b="1">
                <a:solidFill>
                  <a:srgbClr val="94A3B8"/>
                </a:solidFill>
                <a:latin typeface="Yu Gothic"/>
                <a:ea typeface="Yu Gothic"/>
                <a:cs typeface="Yu Gothic"/>
              </a:defRPr>
            </a:pPr>
            <a:r>
              <a:rPr sz="900" b="1">
                <a:solidFill>
                  <a:srgbClr val="94A3B8"/>
                </a:solidFill>
                <a:latin typeface="Yu Gothic"/>
                <a:ea typeface="Yu Gothic"/>
                <a:cs typeface="Yu Gothic"/>
              </a:rPr>
              <a:t>10/10</a:t>
            </a:r>
          </a:p>
        </p:txBody>
      </p:sp>
      <p:sp>
        <p:nvSpPr>
          <p:cNvPr id="7" name="角丸四角形 6">
            <a:extLst>
              <a:ext uri="{FF2B5EF4-FFF2-40B4-BE49-F238E27FC236}">
                <a16:creationId xmlns:a16="http://schemas.microsoft.com/office/drawing/2014/main" id="{8B126BF0-4F8A-4A82-8A5E-4D8E45298E07}"/>
              </a:ext>
            </a:extLst>
          </p:cNvPr>
          <p:cNvSpPr>
            <a:spLocks noGrp="1"/>
          </p:cNvSpPr>
          <p:nvPr/>
        </p:nvSpPr>
        <p:spPr>
          <a:xfrm>
            <a:off x="838200" y="1504950"/>
            <a:ext cx="10515600" cy="1257300"/>
          </a:xfrm>
          <a:prstGeom prst="roundRect">
            <a:avLst>
              <a:gd name="adj" fmla="val 18182"/>
            </a:avLst>
          </a:prstGeom>
          <a:solidFill>
            <a:srgbClr val="172033"/>
          </a:solidFill>
          <a:ln w="9525">
            <a:solidFill>
              <a:srgbClr val="334155"/>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6B9079D3-0B20-4335-9110-6DAFD1B26D6E}"/>
              </a:ext>
            </a:extLst>
          </p:cNvPr>
          <p:cNvSpPr>
            <a:spLocks noGrp="1"/>
          </p:cNvSpPr>
          <p:nvPr/>
        </p:nvSpPr>
        <p:spPr>
          <a:xfrm>
            <a:off x="1219200" y="1790700"/>
            <a:ext cx="952500" cy="285750"/>
          </a:xfrm>
          <a:prstGeom prst="rect">
            <a:avLst/>
          </a:prstGeom>
          <a:noFill/>
          <a:ln w="0">
            <a:noFill/>
            <a:prstDash val="solid"/>
          </a:ln>
        </p:spPr>
        <p:txBody>
          <a:bodyPr/>
          <a:lstStyle/>
          <a:p>
            <a:pPr algn="l">
              <a:defRPr sz="1650" b="1">
                <a:solidFill>
                  <a:srgbClr val="38BDF8"/>
                </a:solidFill>
                <a:latin typeface="Yu Gothic"/>
                <a:ea typeface="Yu Gothic"/>
                <a:cs typeface="Yu Gothic"/>
              </a:defRPr>
            </a:pPr>
            <a:r>
              <a:rPr sz="1650" b="1">
                <a:solidFill>
                  <a:srgbClr val="38BDF8"/>
                </a:solidFill>
                <a:latin typeface="Yu Gothic"/>
                <a:ea typeface="Yu Gothic"/>
                <a:cs typeface="Yu Gothic"/>
              </a:rPr>
              <a:t>結論</a:t>
            </a:r>
          </a:p>
        </p:txBody>
      </p:sp>
      <p:sp>
        <p:nvSpPr>
          <p:cNvPr id="9" name="正方形/長方形 8">
            <a:extLst>
              <a:ext uri="{FF2B5EF4-FFF2-40B4-BE49-F238E27FC236}">
                <a16:creationId xmlns:a16="http://schemas.microsoft.com/office/drawing/2014/main" id="{0B715B85-6CB0-40EC-9C04-D41071E1F45B}"/>
              </a:ext>
            </a:extLst>
          </p:cNvPr>
          <p:cNvSpPr>
            <a:spLocks noGrp="1"/>
          </p:cNvSpPr>
          <p:nvPr/>
        </p:nvSpPr>
        <p:spPr>
          <a:xfrm>
            <a:off x="2286000" y="1695450"/>
            <a:ext cx="8382000" cy="666750"/>
          </a:xfrm>
          <a:prstGeom prst="rect">
            <a:avLst/>
          </a:prstGeom>
          <a:noFill/>
          <a:ln w="0">
            <a:noFill/>
            <a:prstDash val="solid"/>
          </a:ln>
        </p:spPr>
        <p:txBody>
          <a:bodyPr/>
          <a:lstStyle/>
          <a:p>
            <a:pPr algn="l">
              <a:defRPr sz="1800" b="1">
                <a:solidFill>
                  <a:srgbClr val="FFFFFF"/>
                </a:solidFill>
                <a:latin typeface="Yu Gothic"/>
                <a:ea typeface="Yu Gothic"/>
                <a:cs typeface="Yu Gothic"/>
              </a:defRPr>
            </a:pPr>
            <a:r>
              <a:rPr sz="1800" b="1">
                <a:solidFill>
                  <a:srgbClr val="FFFFFF"/>
                </a:solidFill>
                <a:latin typeface="Yu Gothic"/>
                <a:ea typeface="Yu Gothic"/>
                <a:cs typeface="Yu Gothic"/>
              </a:rPr>
              <a:t>姿勢キーポイントのみでも、LOSO条件で異常F1 0.7574 を達成。</a:t>
            </a:r>
          </a:p>
          <a:p>
            <a:pPr algn="l">
              <a:defRPr sz="1800" b="1">
                <a:solidFill>
                  <a:srgbClr val="FFFFFF"/>
                </a:solidFill>
                <a:latin typeface="Yu Gothic"/>
                <a:ea typeface="Yu Gothic"/>
                <a:cs typeface="Yu Gothic"/>
              </a:defRPr>
            </a:pPr>
            <a:r>
              <a:rPr sz="1800" b="1">
                <a:solidFill>
                  <a:srgbClr val="FFFFFF"/>
                </a:solidFill>
                <a:latin typeface="Yu Gothic"/>
                <a:ea typeface="Yu Gothic"/>
                <a:cs typeface="Yu Gothic"/>
              </a:rPr>
              <a:t>改善前からAccuracy、Macro-F1、異常F1をすべて向上できた。</a:t>
            </a:r>
          </a:p>
        </p:txBody>
      </p:sp>
      <p:sp>
        <p:nvSpPr>
          <p:cNvPr id="10" name="角丸四角形 9">
            <a:extLst>
              <a:ext uri="{FF2B5EF4-FFF2-40B4-BE49-F238E27FC236}">
                <a16:creationId xmlns:a16="http://schemas.microsoft.com/office/drawing/2014/main" id="{385F9C7E-9AA1-432D-A7B7-2D5FF6E8EF3D}"/>
              </a:ext>
            </a:extLst>
          </p:cNvPr>
          <p:cNvSpPr>
            <a:spLocks noGrp="1"/>
          </p:cNvSpPr>
          <p:nvPr/>
        </p:nvSpPr>
        <p:spPr>
          <a:xfrm>
            <a:off x="876300" y="3600450"/>
            <a:ext cx="1790700" cy="1428750"/>
          </a:xfrm>
          <a:prstGeom prst="roundRect">
            <a:avLst>
              <a:gd name="adj" fmla="val 10667"/>
            </a:avLst>
          </a:prstGeom>
          <a:solidFill>
            <a:srgbClr val="111827"/>
          </a:solidFill>
          <a:ln w="9525">
            <a:solidFill>
              <a:srgbClr val="334155"/>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11" name="円/楕円 10">
            <a:extLst>
              <a:ext uri="{FF2B5EF4-FFF2-40B4-BE49-F238E27FC236}">
                <a16:creationId xmlns:a16="http://schemas.microsoft.com/office/drawing/2014/main" id="{A5DDE52C-04A5-41B7-BC19-6B8E0E683418}"/>
              </a:ext>
            </a:extLst>
          </p:cNvPr>
          <p:cNvSpPr>
            <a:spLocks noGrp="1"/>
          </p:cNvSpPr>
          <p:nvPr/>
        </p:nvSpPr>
        <p:spPr>
          <a:xfrm>
            <a:off x="1047750" y="3810000"/>
            <a:ext cx="342900" cy="342900"/>
          </a:xfrm>
          <a:prstGeom prst="ellipse">
            <a:avLst/>
          </a:prstGeom>
          <a:solidFill>
            <a:srgbClr val="38BDF8"/>
          </a:solidFill>
          <a:ln w="0">
            <a:noFill/>
            <a:prstDash val="solid"/>
          </a:ln>
        </p:spPr>
        <p:txBody>
          <a:bodyPr/>
          <a:lstStyle/>
          <a:p>
            <a:endParaRPr lang="ja-JP" altLang="en-US"/>
          </a:p>
        </p:txBody>
      </p:sp>
      <p:sp>
        <p:nvSpPr>
          <p:cNvPr id="12" name="正方形/長方形 11">
            <a:extLst>
              <a:ext uri="{FF2B5EF4-FFF2-40B4-BE49-F238E27FC236}">
                <a16:creationId xmlns:a16="http://schemas.microsoft.com/office/drawing/2014/main" id="{DC330316-15B9-4D8D-884C-155673C15ADC}"/>
              </a:ext>
            </a:extLst>
          </p:cNvPr>
          <p:cNvSpPr>
            <a:spLocks noGrp="1"/>
          </p:cNvSpPr>
          <p:nvPr/>
        </p:nvSpPr>
        <p:spPr>
          <a:xfrm>
            <a:off x="1047750" y="3857625"/>
            <a:ext cx="342900" cy="228600"/>
          </a:xfrm>
          <a:prstGeom prst="rect">
            <a:avLst/>
          </a:prstGeom>
          <a:noFill/>
          <a:ln w="0">
            <a:noFill/>
            <a:prstDash val="solid"/>
          </a:ln>
        </p:spPr>
        <p:txBody>
          <a:bodyPr/>
          <a:lstStyle/>
          <a:p>
            <a:pPr algn="ct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1</a:t>
            </a:r>
          </a:p>
        </p:txBody>
      </p:sp>
      <p:sp>
        <p:nvSpPr>
          <p:cNvPr id="13" name="正方形/長方形 12">
            <a:extLst>
              <a:ext uri="{FF2B5EF4-FFF2-40B4-BE49-F238E27FC236}">
                <a16:creationId xmlns:a16="http://schemas.microsoft.com/office/drawing/2014/main" id="{0F1DDC28-5B90-4D39-BD85-4B9552D72F01}"/>
              </a:ext>
            </a:extLst>
          </p:cNvPr>
          <p:cNvSpPr>
            <a:spLocks noGrp="1"/>
          </p:cNvSpPr>
          <p:nvPr/>
        </p:nvSpPr>
        <p:spPr>
          <a:xfrm>
            <a:off x="1047750" y="4324350"/>
            <a:ext cx="1447800" cy="361950"/>
          </a:xfrm>
          <a:prstGeom prst="rect">
            <a:avLst/>
          </a:prstGeom>
          <a:noFill/>
          <a:ln w="0">
            <a:noFill/>
            <a:prstDash val="solid"/>
          </a:ln>
        </p:spPr>
        <p:txBody>
          <a:bodyPr/>
          <a:lstStyle/>
          <a:p>
            <a:pPr algn="l">
              <a:defRPr sz="1275" b="1">
                <a:solidFill>
                  <a:srgbClr val="FFFFFF"/>
                </a:solidFill>
                <a:latin typeface="Yu Gothic"/>
                <a:ea typeface="Yu Gothic"/>
                <a:cs typeface="Yu Gothic"/>
              </a:defRPr>
            </a:pPr>
            <a:r>
              <a:rPr sz="1275" b="1">
                <a:solidFill>
                  <a:srgbClr val="FFFFFF"/>
                </a:solidFill>
                <a:latin typeface="Yu Gothic"/>
                <a:ea typeface="Yu Gothic"/>
                <a:cs typeface="Yu Gothic"/>
              </a:rPr>
              <a:t>被験者数の追加</a:t>
            </a:r>
          </a:p>
        </p:txBody>
      </p:sp>
      <p:sp>
        <p:nvSpPr>
          <p:cNvPr id="14" name="正方形/長方形 13">
            <a:extLst>
              <a:ext uri="{FF2B5EF4-FFF2-40B4-BE49-F238E27FC236}">
                <a16:creationId xmlns:a16="http://schemas.microsoft.com/office/drawing/2014/main" id="{A7B4F6CE-06BF-49D1-BE32-BA7AF8DC129D}"/>
              </a:ext>
            </a:extLst>
          </p:cNvPr>
          <p:cNvSpPr>
            <a:spLocks noGrp="1"/>
          </p:cNvSpPr>
          <p:nvPr/>
        </p:nvSpPr>
        <p:spPr>
          <a:xfrm>
            <a:off x="1047750" y="4762500"/>
            <a:ext cx="1447800" cy="323850"/>
          </a:xfrm>
          <a:prstGeom prst="rect">
            <a:avLst/>
          </a:prstGeom>
          <a:noFill/>
          <a:ln w="0">
            <a:noFill/>
            <a:prstDash val="solid"/>
          </a:ln>
        </p:spPr>
        <p:txBody>
          <a:bodyPr/>
          <a:lstStyle/>
          <a:p>
            <a:pPr algn="l">
              <a:defRPr sz="975" b="0">
                <a:solidFill>
                  <a:srgbClr val="CBD5E1"/>
                </a:solidFill>
                <a:latin typeface="Yu Gothic"/>
                <a:ea typeface="Yu Gothic"/>
                <a:cs typeface="Yu Gothic"/>
              </a:defRPr>
            </a:pPr>
            <a:r>
              <a:rPr sz="975" b="0">
                <a:solidFill>
                  <a:srgbClr val="CBD5E1"/>
                </a:solidFill>
                <a:latin typeface="Yu Gothic"/>
                <a:ea typeface="Yu Gothic"/>
                <a:cs typeface="Yu Gothic"/>
              </a:rPr>
              <a:t>LOSOの信頼性を高める</a:t>
            </a:r>
          </a:p>
        </p:txBody>
      </p:sp>
      <p:sp>
        <p:nvSpPr>
          <p:cNvPr id="15" name="角丸四角形 14">
            <a:extLst>
              <a:ext uri="{FF2B5EF4-FFF2-40B4-BE49-F238E27FC236}">
                <a16:creationId xmlns:a16="http://schemas.microsoft.com/office/drawing/2014/main" id="{C998C7A5-FA60-413E-A80C-0ED9C4DE6512}"/>
              </a:ext>
            </a:extLst>
          </p:cNvPr>
          <p:cNvSpPr>
            <a:spLocks noGrp="1"/>
          </p:cNvSpPr>
          <p:nvPr/>
        </p:nvSpPr>
        <p:spPr>
          <a:xfrm>
            <a:off x="3009900" y="3600450"/>
            <a:ext cx="1790700" cy="1428750"/>
          </a:xfrm>
          <a:prstGeom prst="roundRect">
            <a:avLst>
              <a:gd name="adj" fmla="val 10667"/>
            </a:avLst>
          </a:prstGeom>
          <a:solidFill>
            <a:srgbClr val="111827"/>
          </a:solidFill>
          <a:ln w="9525">
            <a:solidFill>
              <a:srgbClr val="334155"/>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16" name="円/楕円 15">
            <a:extLst>
              <a:ext uri="{FF2B5EF4-FFF2-40B4-BE49-F238E27FC236}">
                <a16:creationId xmlns:a16="http://schemas.microsoft.com/office/drawing/2014/main" id="{1BF6F6BB-BAB3-4401-8E36-158F1812A411}"/>
              </a:ext>
            </a:extLst>
          </p:cNvPr>
          <p:cNvSpPr>
            <a:spLocks noGrp="1"/>
          </p:cNvSpPr>
          <p:nvPr/>
        </p:nvSpPr>
        <p:spPr>
          <a:xfrm>
            <a:off x="3181350" y="3810000"/>
            <a:ext cx="342900" cy="342900"/>
          </a:xfrm>
          <a:prstGeom prst="ellipse">
            <a:avLst/>
          </a:prstGeom>
          <a:solidFill>
            <a:srgbClr val="38BDF8"/>
          </a:solidFill>
          <a:ln w="0">
            <a:noFill/>
            <a:prstDash val="solid"/>
          </a:ln>
        </p:spPr>
        <p:txBody>
          <a:bodyPr/>
          <a:lstStyle/>
          <a:p>
            <a:endParaRPr lang="ja-JP" altLang="en-US"/>
          </a:p>
        </p:txBody>
      </p:sp>
      <p:sp>
        <p:nvSpPr>
          <p:cNvPr id="17" name="正方形/長方形 16">
            <a:extLst>
              <a:ext uri="{FF2B5EF4-FFF2-40B4-BE49-F238E27FC236}">
                <a16:creationId xmlns:a16="http://schemas.microsoft.com/office/drawing/2014/main" id="{ED68E2B2-F567-4447-8BB6-927F6B3BFDD4}"/>
              </a:ext>
            </a:extLst>
          </p:cNvPr>
          <p:cNvSpPr>
            <a:spLocks noGrp="1"/>
          </p:cNvSpPr>
          <p:nvPr/>
        </p:nvSpPr>
        <p:spPr>
          <a:xfrm>
            <a:off x="3181350" y="3857625"/>
            <a:ext cx="342900" cy="228600"/>
          </a:xfrm>
          <a:prstGeom prst="rect">
            <a:avLst/>
          </a:prstGeom>
          <a:noFill/>
          <a:ln w="0">
            <a:noFill/>
            <a:prstDash val="solid"/>
          </a:ln>
        </p:spPr>
        <p:txBody>
          <a:bodyPr/>
          <a:lstStyle/>
          <a:p>
            <a:pPr algn="ct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2</a:t>
            </a:r>
          </a:p>
        </p:txBody>
      </p:sp>
      <p:sp>
        <p:nvSpPr>
          <p:cNvPr id="18" name="正方形/長方形 17">
            <a:extLst>
              <a:ext uri="{FF2B5EF4-FFF2-40B4-BE49-F238E27FC236}">
                <a16:creationId xmlns:a16="http://schemas.microsoft.com/office/drawing/2014/main" id="{9612B40F-2221-4D00-9C70-AD18890A7B81}"/>
              </a:ext>
            </a:extLst>
          </p:cNvPr>
          <p:cNvSpPr>
            <a:spLocks noGrp="1"/>
          </p:cNvSpPr>
          <p:nvPr/>
        </p:nvSpPr>
        <p:spPr>
          <a:xfrm>
            <a:off x="3181350" y="4324350"/>
            <a:ext cx="1447800" cy="361950"/>
          </a:xfrm>
          <a:prstGeom prst="rect">
            <a:avLst/>
          </a:prstGeom>
          <a:noFill/>
          <a:ln w="0">
            <a:noFill/>
            <a:prstDash val="solid"/>
          </a:ln>
        </p:spPr>
        <p:txBody>
          <a:bodyPr/>
          <a:lstStyle/>
          <a:p>
            <a:pPr algn="l">
              <a:defRPr sz="1275" b="1">
                <a:solidFill>
                  <a:srgbClr val="FFFFFF"/>
                </a:solidFill>
                <a:latin typeface="Yu Gothic"/>
                <a:ea typeface="Yu Gothic"/>
                <a:cs typeface="Yu Gothic"/>
              </a:defRPr>
            </a:pPr>
            <a:r>
              <a:rPr sz="1275" b="1">
                <a:solidFill>
                  <a:srgbClr val="FFFFFF"/>
                </a:solidFill>
                <a:latin typeface="Yu Gothic"/>
                <a:ea typeface="Yu Gothic"/>
                <a:cs typeface="Yu Gothic"/>
              </a:rPr>
              <a:t>マルチスケール窓</a:t>
            </a:r>
          </a:p>
        </p:txBody>
      </p:sp>
      <p:sp>
        <p:nvSpPr>
          <p:cNvPr id="19" name="正方形/長方形 18">
            <a:extLst>
              <a:ext uri="{FF2B5EF4-FFF2-40B4-BE49-F238E27FC236}">
                <a16:creationId xmlns:a16="http://schemas.microsoft.com/office/drawing/2014/main" id="{BA9997CC-0FE2-44FC-A91D-F3CC745DEDBF}"/>
              </a:ext>
            </a:extLst>
          </p:cNvPr>
          <p:cNvSpPr>
            <a:spLocks noGrp="1"/>
          </p:cNvSpPr>
          <p:nvPr/>
        </p:nvSpPr>
        <p:spPr>
          <a:xfrm>
            <a:off x="3181350" y="4762500"/>
            <a:ext cx="1447800" cy="323850"/>
          </a:xfrm>
          <a:prstGeom prst="rect">
            <a:avLst/>
          </a:prstGeom>
          <a:noFill/>
          <a:ln w="0">
            <a:noFill/>
            <a:prstDash val="solid"/>
          </a:ln>
        </p:spPr>
        <p:txBody>
          <a:bodyPr/>
          <a:lstStyle/>
          <a:p>
            <a:pPr algn="l">
              <a:defRPr sz="975" b="0">
                <a:solidFill>
                  <a:srgbClr val="CBD5E1"/>
                </a:solidFill>
                <a:latin typeface="Yu Gothic"/>
                <a:ea typeface="Yu Gothic"/>
                <a:cs typeface="Yu Gothic"/>
              </a:defRPr>
            </a:pPr>
            <a:r>
              <a:rPr sz="975" b="0">
                <a:solidFill>
                  <a:srgbClr val="CBD5E1"/>
                </a:solidFill>
                <a:latin typeface="Yu Gothic"/>
                <a:ea typeface="Yu Gothic"/>
                <a:cs typeface="Yu Gothic"/>
              </a:rPr>
              <a:t>短い異常動作を拾う</a:t>
            </a:r>
          </a:p>
        </p:txBody>
      </p:sp>
      <p:sp>
        <p:nvSpPr>
          <p:cNvPr id="20" name="角丸四角形 19">
            <a:extLst>
              <a:ext uri="{FF2B5EF4-FFF2-40B4-BE49-F238E27FC236}">
                <a16:creationId xmlns:a16="http://schemas.microsoft.com/office/drawing/2014/main" id="{6036C3CA-C56B-4AE7-8FF5-4FDFC51AE6D8}"/>
              </a:ext>
            </a:extLst>
          </p:cNvPr>
          <p:cNvSpPr>
            <a:spLocks noGrp="1"/>
          </p:cNvSpPr>
          <p:nvPr/>
        </p:nvSpPr>
        <p:spPr>
          <a:xfrm>
            <a:off x="5143500" y="3600450"/>
            <a:ext cx="1790700" cy="1428750"/>
          </a:xfrm>
          <a:prstGeom prst="roundRect">
            <a:avLst>
              <a:gd name="adj" fmla="val 10667"/>
            </a:avLst>
          </a:prstGeom>
          <a:solidFill>
            <a:srgbClr val="111827"/>
          </a:solidFill>
          <a:ln w="9525">
            <a:solidFill>
              <a:srgbClr val="334155"/>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21" name="円/楕円 20">
            <a:extLst>
              <a:ext uri="{FF2B5EF4-FFF2-40B4-BE49-F238E27FC236}">
                <a16:creationId xmlns:a16="http://schemas.microsoft.com/office/drawing/2014/main" id="{8A7573A3-763E-49DE-95F3-B79C1C143F31}"/>
              </a:ext>
            </a:extLst>
          </p:cNvPr>
          <p:cNvSpPr>
            <a:spLocks noGrp="1"/>
          </p:cNvSpPr>
          <p:nvPr/>
        </p:nvSpPr>
        <p:spPr>
          <a:xfrm>
            <a:off x="5314950" y="3810000"/>
            <a:ext cx="342900" cy="342900"/>
          </a:xfrm>
          <a:prstGeom prst="ellipse">
            <a:avLst/>
          </a:prstGeom>
          <a:solidFill>
            <a:srgbClr val="F97316"/>
          </a:solidFill>
          <a:ln w="0">
            <a:noFill/>
            <a:prstDash val="solid"/>
          </a:ln>
        </p:spPr>
        <p:txBody>
          <a:bodyPr/>
          <a:lstStyle/>
          <a:p>
            <a:endParaRPr lang="ja-JP" altLang="en-US"/>
          </a:p>
        </p:txBody>
      </p:sp>
      <p:sp>
        <p:nvSpPr>
          <p:cNvPr id="22" name="正方形/長方形 21">
            <a:extLst>
              <a:ext uri="{FF2B5EF4-FFF2-40B4-BE49-F238E27FC236}">
                <a16:creationId xmlns:a16="http://schemas.microsoft.com/office/drawing/2014/main" id="{F477A534-2A65-475A-A7A7-5D5F8F982183}"/>
              </a:ext>
            </a:extLst>
          </p:cNvPr>
          <p:cNvSpPr>
            <a:spLocks noGrp="1"/>
          </p:cNvSpPr>
          <p:nvPr/>
        </p:nvSpPr>
        <p:spPr>
          <a:xfrm>
            <a:off x="5314950" y="3857625"/>
            <a:ext cx="342900" cy="228600"/>
          </a:xfrm>
          <a:prstGeom prst="rect">
            <a:avLst/>
          </a:prstGeom>
          <a:noFill/>
          <a:ln w="0">
            <a:noFill/>
            <a:prstDash val="solid"/>
          </a:ln>
        </p:spPr>
        <p:txBody>
          <a:bodyPr/>
          <a:lstStyle/>
          <a:p>
            <a:pPr algn="ct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3</a:t>
            </a:r>
          </a:p>
        </p:txBody>
      </p:sp>
      <p:sp>
        <p:nvSpPr>
          <p:cNvPr id="23" name="正方形/長方形 22">
            <a:extLst>
              <a:ext uri="{FF2B5EF4-FFF2-40B4-BE49-F238E27FC236}">
                <a16:creationId xmlns:a16="http://schemas.microsoft.com/office/drawing/2014/main" id="{D1CFD17C-5E60-449D-A293-6FF834FA2C4A}"/>
              </a:ext>
            </a:extLst>
          </p:cNvPr>
          <p:cNvSpPr>
            <a:spLocks noGrp="1"/>
          </p:cNvSpPr>
          <p:nvPr/>
        </p:nvSpPr>
        <p:spPr>
          <a:xfrm>
            <a:off x="5314950" y="4324350"/>
            <a:ext cx="1447800" cy="361950"/>
          </a:xfrm>
          <a:prstGeom prst="rect">
            <a:avLst/>
          </a:prstGeom>
          <a:noFill/>
          <a:ln w="0">
            <a:noFill/>
            <a:prstDash val="solid"/>
          </a:ln>
        </p:spPr>
        <p:txBody>
          <a:bodyPr/>
          <a:lstStyle/>
          <a:p>
            <a:pPr algn="l">
              <a:defRPr sz="1275" b="1">
                <a:solidFill>
                  <a:srgbClr val="FFFFFF"/>
                </a:solidFill>
                <a:latin typeface="Yu Gothic"/>
                <a:ea typeface="Yu Gothic"/>
                <a:cs typeface="Yu Gothic"/>
              </a:defRPr>
            </a:pPr>
            <a:r>
              <a:rPr sz="1275" b="1">
                <a:solidFill>
                  <a:srgbClr val="FFFFFF"/>
                </a:solidFill>
                <a:latin typeface="Yu Gothic"/>
                <a:ea typeface="Yu Gothic"/>
                <a:cs typeface="Yu Gothic"/>
              </a:rPr>
              <a:t>左右反転・時系列拡張</a:t>
            </a:r>
          </a:p>
        </p:txBody>
      </p:sp>
      <p:sp>
        <p:nvSpPr>
          <p:cNvPr id="24" name="正方形/長方形 23">
            <a:extLst>
              <a:ext uri="{FF2B5EF4-FFF2-40B4-BE49-F238E27FC236}">
                <a16:creationId xmlns:a16="http://schemas.microsoft.com/office/drawing/2014/main" id="{295E1D6D-B38B-4C5B-B691-D6241CFD71C7}"/>
              </a:ext>
            </a:extLst>
          </p:cNvPr>
          <p:cNvSpPr>
            <a:spLocks noGrp="1"/>
          </p:cNvSpPr>
          <p:nvPr/>
        </p:nvSpPr>
        <p:spPr>
          <a:xfrm>
            <a:off x="5314950" y="4762500"/>
            <a:ext cx="1447800" cy="323850"/>
          </a:xfrm>
          <a:prstGeom prst="rect">
            <a:avLst/>
          </a:prstGeom>
          <a:noFill/>
          <a:ln w="0">
            <a:noFill/>
            <a:prstDash val="solid"/>
          </a:ln>
        </p:spPr>
        <p:txBody>
          <a:bodyPr/>
          <a:lstStyle/>
          <a:p>
            <a:pPr algn="l">
              <a:defRPr sz="975" b="0">
                <a:solidFill>
                  <a:srgbClr val="CBD5E1"/>
                </a:solidFill>
                <a:latin typeface="Yu Gothic"/>
                <a:ea typeface="Yu Gothic"/>
                <a:cs typeface="Yu Gothic"/>
              </a:defRPr>
            </a:pPr>
            <a:r>
              <a:rPr sz="975" b="0">
                <a:solidFill>
                  <a:srgbClr val="CBD5E1"/>
                </a:solidFill>
                <a:latin typeface="Yu Gothic"/>
                <a:ea typeface="Yu Gothic"/>
                <a:cs typeface="Yu Gothic"/>
              </a:rPr>
              <a:t>動作表現のばらつきに強くする</a:t>
            </a:r>
          </a:p>
        </p:txBody>
      </p:sp>
      <p:sp>
        <p:nvSpPr>
          <p:cNvPr id="25" name="角丸四角形 24">
            <a:extLst>
              <a:ext uri="{FF2B5EF4-FFF2-40B4-BE49-F238E27FC236}">
                <a16:creationId xmlns:a16="http://schemas.microsoft.com/office/drawing/2014/main" id="{CE1E4BF6-E15D-4C7B-BC7B-DAAA766C88C8}"/>
              </a:ext>
            </a:extLst>
          </p:cNvPr>
          <p:cNvSpPr>
            <a:spLocks noGrp="1"/>
          </p:cNvSpPr>
          <p:nvPr/>
        </p:nvSpPr>
        <p:spPr>
          <a:xfrm>
            <a:off x="7277100" y="3600450"/>
            <a:ext cx="1790700" cy="1428750"/>
          </a:xfrm>
          <a:prstGeom prst="roundRect">
            <a:avLst>
              <a:gd name="adj" fmla="val 10667"/>
            </a:avLst>
          </a:prstGeom>
          <a:solidFill>
            <a:srgbClr val="111827"/>
          </a:solidFill>
          <a:ln w="9525">
            <a:solidFill>
              <a:srgbClr val="334155"/>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26" name="円/楕円 25">
            <a:extLst>
              <a:ext uri="{FF2B5EF4-FFF2-40B4-BE49-F238E27FC236}">
                <a16:creationId xmlns:a16="http://schemas.microsoft.com/office/drawing/2014/main" id="{6064EAB9-29B2-41F6-B647-C9095FB33A2C}"/>
              </a:ext>
            </a:extLst>
          </p:cNvPr>
          <p:cNvSpPr>
            <a:spLocks noGrp="1"/>
          </p:cNvSpPr>
          <p:nvPr/>
        </p:nvSpPr>
        <p:spPr>
          <a:xfrm>
            <a:off x="7448550" y="3810000"/>
            <a:ext cx="342900" cy="342900"/>
          </a:xfrm>
          <a:prstGeom prst="ellipse">
            <a:avLst/>
          </a:prstGeom>
          <a:solidFill>
            <a:srgbClr val="F97316"/>
          </a:solidFill>
          <a:ln w="0">
            <a:noFill/>
            <a:prstDash val="solid"/>
          </a:ln>
        </p:spPr>
        <p:txBody>
          <a:bodyPr/>
          <a:lstStyle/>
          <a:p>
            <a:endParaRPr lang="ja-JP" altLang="en-US"/>
          </a:p>
        </p:txBody>
      </p:sp>
      <p:sp>
        <p:nvSpPr>
          <p:cNvPr id="27" name="正方形/長方形 26">
            <a:extLst>
              <a:ext uri="{FF2B5EF4-FFF2-40B4-BE49-F238E27FC236}">
                <a16:creationId xmlns:a16="http://schemas.microsoft.com/office/drawing/2014/main" id="{3A092B62-7DD0-48E3-B168-62F41E3C4AAF}"/>
              </a:ext>
            </a:extLst>
          </p:cNvPr>
          <p:cNvSpPr>
            <a:spLocks noGrp="1"/>
          </p:cNvSpPr>
          <p:nvPr/>
        </p:nvSpPr>
        <p:spPr>
          <a:xfrm>
            <a:off x="7448550" y="3857625"/>
            <a:ext cx="342900" cy="228600"/>
          </a:xfrm>
          <a:prstGeom prst="rect">
            <a:avLst/>
          </a:prstGeom>
          <a:noFill/>
          <a:ln w="0">
            <a:noFill/>
            <a:prstDash val="solid"/>
          </a:ln>
        </p:spPr>
        <p:txBody>
          <a:bodyPr/>
          <a:lstStyle/>
          <a:p>
            <a:pPr algn="ct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4</a:t>
            </a:r>
          </a:p>
        </p:txBody>
      </p:sp>
      <p:sp>
        <p:nvSpPr>
          <p:cNvPr id="28" name="正方形/長方形 27">
            <a:extLst>
              <a:ext uri="{FF2B5EF4-FFF2-40B4-BE49-F238E27FC236}">
                <a16:creationId xmlns:a16="http://schemas.microsoft.com/office/drawing/2014/main" id="{9B59A9B5-C4DF-45AE-B7C4-92894726E31E}"/>
              </a:ext>
            </a:extLst>
          </p:cNvPr>
          <p:cNvSpPr>
            <a:spLocks noGrp="1"/>
          </p:cNvSpPr>
          <p:nvPr/>
        </p:nvSpPr>
        <p:spPr>
          <a:xfrm>
            <a:off x="7448550" y="4324350"/>
            <a:ext cx="1447800" cy="361950"/>
          </a:xfrm>
          <a:prstGeom prst="rect">
            <a:avLst/>
          </a:prstGeom>
          <a:noFill/>
          <a:ln w="0">
            <a:noFill/>
            <a:prstDash val="solid"/>
          </a:ln>
        </p:spPr>
        <p:txBody>
          <a:bodyPr/>
          <a:lstStyle/>
          <a:p>
            <a:pPr algn="l">
              <a:defRPr sz="1275" b="1">
                <a:solidFill>
                  <a:srgbClr val="FFFFFF"/>
                </a:solidFill>
                <a:latin typeface="Yu Gothic"/>
                <a:ea typeface="Yu Gothic"/>
                <a:cs typeface="Yu Gothic"/>
              </a:defRPr>
            </a:pPr>
            <a:r>
              <a:rPr sz="1275" b="1">
                <a:solidFill>
                  <a:srgbClr val="FFFFFF"/>
                </a:solidFill>
                <a:latin typeface="Yu Gothic"/>
                <a:ea typeface="Yu Gothic"/>
                <a:cs typeface="Yu Gothic"/>
              </a:rPr>
              <a:t>時間平滑化</a:t>
            </a:r>
          </a:p>
        </p:txBody>
      </p:sp>
      <p:sp>
        <p:nvSpPr>
          <p:cNvPr id="29" name="正方形/長方形 28">
            <a:extLst>
              <a:ext uri="{FF2B5EF4-FFF2-40B4-BE49-F238E27FC236}">
                <a16:creationId xmlns:a16="http://schemas.microsoft.com/office/drawing/2014/main" id="{275674E9-09F4-4621-B87F-B6A07070A8C6}"/>
              </a:ext>
            </a:extLst>
          </p:cNvPr>
          <p:cNvSpPr>
            <a:spLocks noGrp="1"/>
          </p:cNvSpPr>
          <p:nvPr/>
        </p:nvSpPr>
        <p:spPr>
          <a:xfrm>
            <a:off x="7448550" y="4762500"/>
            <a:ext cx="1447800" cy="323850"/>
          </a:xfrm>
          <a:prstGeom prst="rect">
            <a:avLst/>
          </a:prstGeom>
          <a:noFill/>
          <a:ln w="0">
            <a:noFill/>
            <a:prstDash val="solid"/>
          </a:ln>
        </p:spPr>
        <p:txBody>
          <a:bodyPr/>
          <a:lstStyle/>
          <a:p>
            <a:pPr algn="l">
              <a:defRPr sz="975" b="0">
                <a:solidFill>
                  <a:srgbClr val="CBD5E1"/>
                </a:solidFill>
                <a:latin typeface="Yu Gothic"/>
                <a:ea typeface="Yu Gothic"/>
                <a:cs typeface="Yu Gothic"/>
              </a:defRPr>
            </a:pPr>
            <a:r>
              <a:rPr sz="975" b="0">
                <a:solidFill>
                  <a:srgbClr val="CBD5E1"/>
                </a:solidFill>
                <a:latin typeface="Yu Gothic"/>
                <a:ea typeface="Yu Gothic"/>
                <a:cs typeface="Yu Gothic"/>
              </a:rPr>
              <a:t>フレーム展開時の揺れを抑える</a:t>
            </a:r>
          </a:p>
        </p:txBody>
      </p:sp>
      <p:sp>
        <p:nvSpPr>
          <p:cNvPr id="30" name="角丸四角形 29">
            <a:extLst>
              <a:ext uri="{FF2B5EF4-FFF2-40B4-BE49-F238E27FC236}">
                <a16:creationId xmlns:a16="http://schemas.microsoft.com/office/drawing/2014/main" id="{F3E6C15F-037B-47B6-AE8B-3ACC995BED23}"/>
              </a:ext>
            </a:extLst>
          </p:cNvPr>
          <p:cNvSpPr>
            <a:spLocks noGrp="1"/>
          </p:cNvSpPr>
          <p:nvPr/>
        </p:nvSpPr>
        <p:spPr>
          <a:xfrm>
            <a:off x="9410700" y="3600450"/>
            <a:ext cx="1790700" cy="1428750"/>
          </a:xfrm>
          <a:prstGeom prst="roundRect">
            <a:avLst>
              <a:gd name="adj" fmla="val 10667"/>
            </a:avLst>
          </a:prstGeom>
          <a:solidFill>
            <a:srgbClr val="111827"/>
          </a:solidFill>
          <a:ln w="9525">
            <a:solidFill>
              <a:srgbClr val="334155"/>
            </a:solidFill>
            <a:prstDash val="solid"/>
          </a:ln>
        </p:spPr>
        <p:style>
          <a:lnRef idx="0">
            <a:scrgbClr r="0" g="0" b="0"/>
          </a:lnRef>
          <a:fillRef idx="0">
            <a:scrgbClr r="0" g="0" b="0"/>
          </a:fillRef>
          <a:effectRef idx="4">
            <a:scrgbClr r="0" g="0" b="0"/>
          </a:effectRef>
          <a:fontRef idx="major"/>
        </p:style>
        <p:txBody>
          <a:bodyPr/>
          <a:lstStyle/>
          <a:p>
            <a:endParaRPr lang="ja-JP" altLang="en-US"/>
          </a:p>
        </p:txBody>
      </p:sp>
      <p:sp>
        <p:nvSpPr>
          <p:cNvPr id="31" name="円/楕円 30">
            <a:extLst>
              <a:ext uri="{FF2B5EF4-FFF2-40B4-BE49-F238E27FC236}">
                <a16:creationId xmlns:a16="http://schemas.microsoft.com/office/drawing/2014/main" id="{E4E6DC8A-DD38-4259-AD76-A0705CD79056}"/>
              </a:ext>
            </a:extLst>
          </p:cNvPr>
          <p:cNvSpPr>
            <a:spLocks noGrp="1"/>
          </p:cNvSpPr>
          <p:nvPr/>
        </p:nvSpPr>
        <p:spPr>
          <a:xfrm>
            <a:off x="9582150" y="3810000"/>
            <a:ext cx="342900" cy="342900"/>
          </a:xfrm>
          <a:prstGeom prst="ellipse">
            <a:avLst/>
          </a:prstGeom>
          <a:solidFill>
            <a:srgbClr val="22C55E"/>
          </a:solidFill>
          <a:ln w="0">
            <a:noFill/>
            <a:prstDash val="solid"/>
          </a:ln>
        </p:spPr>
        <p:txBody>
          <a:bodyPr/>
          <a:lstStyle/>
          <a:p>
            <a:endParaRPr lang="ja-JP" altLang="en-US"/>
          </a:p>
        </p:txBody>
      </p:sp>
      <p:sp>
        <p:nvSpPr>
          <p:cNvPr id="32" name="正方形/長方形 31">
            <a:extLst>
              <a:ext uri="{FF2B5EF4-FFF2-40B4-BE49-F238E27FC236}">
                <a16:creationId xmlns:a16="http://schemas.microsoft.com/office/drawing/2014/main" id="{D5BA7648-AC3E-4C33-A270-34FB74BC90F5}"/>
              </a:ext>
            </a:extLst>
          </p:cNvPr>
          <p:cNvSpPr>
            <a:spLocks noGrp="1"/>
          </p:cNvSpPr>
          <p:nvPr/>
        </p:nvSpPr>
        <p:spPr>
          <a:xfrm>
            <a:off x="9582150" y="3857625"/>
            <a:ext cx="342900" cy="228600"/>
          </a:xfrm>
          <a:prstGeom prst="rect">
            <a:avLst/>
          </a:prstGeom>
          <a:noFill/>
          <a:ln w="0">
            <a:noFill/>
            <a:prstDash val="solid"/>
          </a:ln>
        </p:spPr>
        <p:txBody>
          <a:bodyPr/>
          <a:lstStyle/>
          <a:p>
            <a:pPr algn="ctr">
              <a:defRPr sz="1350" b="1">
                <a:solidFill>
                  <a:srgbClr val="0B1220"/>
                </a:solidFill>
                <a:latin typeface="Aptos Display"/>
                <a:ea typeface="Aptos Display"/>
                <a:cs typeface="Aptos Display"/>
              </a:defRPr>
            </a:pPr>
            <a:r>
              <a:rPr sz="1350" b="1">
                <a:solidFill>
                  <a:srgbClr val="0B1220"/>
                </a:solidFill>
                <a:latin typeface="Aptos Display"/>
                <a:ea typeface="Aptos Display"/>
                <a:cs typeface="Aptos Display"/>
              </a:rPr>
              <a:t>5</a:t>
            </a:r>
          </a:p>
        </p:txBody>
      </p:sp>
      <p:sp>
        <p:nvSpPr>
          <p:cNvPr id="33" name="正方形/長方形 32">
            <a:extLst>
              <a:ext uri="{FF2B5EF4-FFF2-40B4-BE49-F238E27FC236}">
                <a16:creationId xmlns:a16="http://schemas.microsoft.com/office/drawing/2014/main" id="{79954A3E-BC26-4613-A986-53DE212F652D}"/>
              </a:ext>
            </a:extLst>
          </p:cNvPr>
          <p:cNvSpPr>
            <a:spLocks noGrp="1"/>
          </p:cNvSpPr>
          <p:nvPr/>
        </p:nvSpPr>
        <p:spPr>
          <a:xfrm>
            <a:off x="9582150" y="4324350"/>
            <a:ext cx="1447800" cy="361950"/>
          </a:xfrm>
          <a:prstGeom prst="rect">
            <a:avLst/>
          </a:prstGeom>
          <a:noFill/>
          <a:ln w="0">
            <a:noFill/>
            <a:prstDash val="solid"/>
          </a:ln>
        </p:spPr>
        <p:txBody>
          <a:bodyPr/>
          <a:lstStyle/>
          <a:p>
            <a:pPr algn="l">
              <a:defRPr sz="1275" b="1">
                <a:solidFill>
                  <a:srgbClr val="FFFFFF"/>
                </a:solidFill>
                <a:latin typeface="Yu Gothic"/>
                <a:ea typeface="Yu Gothic"/>
                <a:cs typeface="Yu Gothic"/>
              </a:defRPr>
            </a:pPr>
            <a:r>
              <a:rPr sz="1275" b="1">
                <a:solidFill>
                  <a:srgbClr val="FFFFFF"/>
                </a:solidFill>
                <a:latin typeface="Yu Gothic"/>
                <a:ea typeface="Yu Gothic"/>
                <a:cs typeface="Yu Gothic"/>
              </a:rPr>
              <a:t>信頼度特徴</a:t>
            </a:r>
          </a:p>
        </p:txBody>
      </p:sp>
      <p:sp>
        <p:nvSpPr>
          <p:cNvPr id="34" name="正方形/長方形 33">
            <a:extLst>
              <a:ext uri="{FF2B5EF4-FFF2-40B4-BE49-F238E27FC236}">
                <a16:creationId xmlns:a16="http://schemas.microsoft.com/office/drawing/2014/main" id="{5954BB89-BCB6-4939-B6B0-71F292EF665C}"/>
              </a:ext>
            </a:extLst>
          </p:cNvPr>
          <p:cNvSpPr>
            <a:spLocks noGrp="1"/>
          </p:cNvSpPr>
          <p:nvPr/>
        </p:nvSpPr>
        <p:spPr>
          <a:xfrm>
            <a:off x="9582150" y="4762500"/>
            <a:ext cx="1447800" cy="323850"/>
          </a:xfrm>
          <a:prstGeom prst="rect">
            <a:avLst/>
          </a:prstGeom>
          <a:noFill/>
          <a:ln w="0">
            <a:noFill/>
            <a:prstDash val="solid"/>
          </a:ln>
        </p:spPr>
        <p:txBody>
          <a:bodyPr/>
          <a:lstStyle/>
          <a:p>
            <a:pPr algn="l">
              <a:defRPr sz="975" b="0">
                <a:solidFill>
                  <a:srgbClr val="CBD5E1"/>
                </a:solidFill>
                <a:latin typeface="Yu Gothic"/>
                <a:ea typeface="Yu Gothic"/>
                <a:cs typeface="Yu Gothic"/>
              </a:defRPr>
            </a:pPr>
            <a:r>
              <a:rPr sz="975" b="0">
                <a:solidFill>
                  <a:srgbClr val="CBD5E1"/>
                </a:solidFill>
                <a:latin typeface="Yu Gothic"/>
                <a:ea typeface="Yu Gothic"/>
                <a:cs typeface="Yu Gothic"/>
              </a:rPr>
              <a:t>関節検出の不確かさを扱う</a:t>
            </a:r>
          </a:p>
        </p:txBody>
      </p:sp>
      <p:sp>
        <p:nvSpPr>
          <p:cNvPr id="35" name="正方形/長方形 34">
            <a:extLst>
              <a:ext uri="{FF2B5EF4-FFF2-40B4-BE49-F238E27FC236}">
                <a16:creationId xmlns:a16="http://schemas.microsoft.com/office/drawing/2014/main" id="{CDA33035-A7A0-4781-825A-6ADA32F45B16}"/>
              </a:ext>
            </a:extLst>
          </p:cNvPr>
          <p:cNvSpPr>
            <a:spLocks noGrp="1"/>
          </p:cNvSpPr>
          <p:nvPr/>
        </p:nvSpPr>
        <p:spPr>
          <a:xfrm>
            <a:off x="952500" y="5791200"/>
            <a:ext cx="10287000" cy="247650"/>
          </a:xfrm>
          <a:prstGeom prst="rect">
            <a:avLst/>
          </a:prstGeom>
          <a:noFill/>
          <a:ln w="0">
            <a:noFill/>
            <a:prstDash val="solid"/>
          </a:ln>
        </p:spPr>
        <p:txBody>
          <a:bodyPr/>
          <a:lstStyle/>
          <a:p>
            <a:pPr algn="ctr">
              <a:defRPr sz="1125" b="0">
                <a:solidFill>
                  <a:srgbClr val="CBD5E1"/>
                </a:solidFill>
                <a:latin typeface="Yu Gothic"/>
                <a:ea typeface="Yu Gothic"/>
                <a:cs typeface="Yu Gothic"/>
              </a:defRPr>
            </a:pPr>
            <a:r>
              <a:rPr sz="1125" b="0">
                <a:solidFill>
                  <a:srgbClr val="CBD5E1"/>
                </a:solidFill>
                <a:latin typeface="Yu Gothic"/>
                <a:ea typeface="Yu Gothic"/>
                <a:cs typeface="Yu Gothic"/>
              </a:rPr>
              <a:t>作成済み成果物: src/activity_model.py / outputs/activity_model.joblib / outputs/loso_metrics.json / outputs/A.csv</a:t>
            </a:r>
          </a:p>
        </p:txBody>
      </p:sp>
    </p:spTree>
    <p:extLst>
      <p:ext uri="{BB962C8B-B14F-4D97-AF65-F5344CB8AC3E}">
        <p14:creationId xmlns:p14="http://schemas.microsoft.com/office/powerpoint/2010/main" val="177541129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905</Words>
  <Application>Microsoft Macintosh PowerPoint</Application>
  <DocSecurity>0</DocSecurity>
  <PresentationFormat>ワイド画面</PresentationFormat>
  <Paragraphs>288</Paragraphs>
  <Slides>10</Slides>
  <Notes>10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10</vt:i4>
      </vt:variant>
    </vt:vector>
  </HeadingPairs>
  <TitlesOfParts>
    <vt:vector size="15" baseType="lpstr">
      <vt:lpstr>Yu Gothic</vt:lpstr>
      <vt:lpstr>Aptos Display</vt:lpstr>
      <vt:lpstr>Arial</vt:lpstr>
      <vt:lpstr>Calibri</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KUROKAWA Seigo</cp:lastModifiedBy>
  <cp:revision>1</cp:revision>
  <dcterms:created xsi:type="dcterms:W3CDTF">2026-06-16T06:04:55Z</dcterms:created>
  <dcterms:modified xsi:type="dcterms:W3CDTF">2026-06-17T02:12:32Z</dcterms:modified>
</cp:coreProperties>
</file>